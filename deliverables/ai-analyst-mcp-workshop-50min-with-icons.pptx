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1b0f9fc808340e7" /><Relationship Type="http://schemas.openxmlformats.org/officeDocument/2006/relationships/extended-properties" Target="/docProps/app.xml" Id="Ra771f87266aa42c0" /><Relationship Type="http://schemas.openxmlformats.org/officeDocument/2006/relationships/officeDocument" Target="/ppt/presentation.xml" Id="R749a7088171b4fd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266062cc717472f"/>
  </p:sldMasterIdLst>
  <p:notesMasterIdLst>
    <p:notesMasterId xmlns:r="http://schemas.openxmlformats.org/officeDocument/2006/relationships" r:id="R693a562afd62450d"/>
  </p:notesMasterIdLst>
  <p:sldIdLst>
    <p:sldId xmlns:r="http://schemas.openxmlformats.org/officeDocument/2006/relationships" id="256" r:id="R259be5f746fa4809"/>
    <p:sldId xmlns:r="http://schemas.openxmlformats.org/officeDocument/2006/relationships" id="257" r:id="R564320c668a541c3"/>
    <p:sldId xmlns:r="http://schemas.openxmlformats.org/officeDocument/2006/relationships" id="258" r:id="Rf857103c5df1480a"/>
    <p:sldId xmlns:r="http://schemas.openxmlformats.org/officeDocument/2006/relationships" id="259" r:id="R0064ae47c1974fc5"/>
    <p:sldId xmlns:r="http://schemas.openxmlformats.org/officeDocument/2006/relationships" id="260" r:id="Raaf41b4b9ff24868"/>
    <p:sldId xmlns:r="http://schemas.openxmlformats.org/officeDocument/2006/relationships" id="261" r:id="R79f3ebdf5b5f4614"/>
    <p:sldId xmlns:r="http://schemas.openxmlformats.org/officeDocument/2006/relationships" id="262" r:id="Re416f013837b4b4c"/>
    <p:sldId xmlns:r="http://schemas.openxmlformats.org/officeDocument/2006/relationships" id="263" r:id="R130f0aaeb54645af"/>
    <p:sldId xmlns:r="http://schemas.openxmlformats.org/officeDocument/2006/relationships" id="264" r:id="Rc1f6ab173fdf48a4"/>
    <p:sldId xmlns:r="http://schemas.openxmlformats.org/officeDocument/2006/relationships" id="265" r:id="R8921402cda1f4224"/>
    <p:sldId xmlns:r="http://schemas.openxmlformats.org/officeDocument/2006/relationships" id="266" r:id="R509545395c374d47"/>
    <p:sldId xmlns:r="http://schemas.openxmlformats.org/officeDocument/2006/relationships" id="267" r:id="Ra16b364e24374c75"/>
    <p:sldId xmlns:r="http://schemas.openxmlformats.org/officeDocument/2006/relationships" id="268" r:id="Rb6cb9709f6824e3f"/>
    <p:sldId xmlns:r="http://schemas.openxmlformats.org/officeDocument/2006/relationships" id="269" r:id="R459757beba3543a4"/>
    <p:sldId xmlns:r="http://schemas.openxmlformats.org/officeDocument/2006/relationships" id="270" r:id="R0dbdb4e35cd243f6"/>
    <p:sldId xmlns:r="http://schemas.openxmlformats.org/officeDocument/2006/relationships" id="271" r:id="Rcc560d09cf7a42fe"/>
    <p:sldId xmlns:r="http://schemas.openxmlformats.org/officeDocument/2006/relationships" id="272" r:id="R6262f491634941cf"/>
    <p:sldId xmlns:r="http://schemas.openxmlformats.org/officeDocument/2006/relationships" id="273" r:id="R4329ad76fa964590"/>
    <p:sldId xmlns:r="http://schemas.openxmlformats.org/officeDocument/2006/relationships" id="274" r:id="R075da425b5b740ff"/>
    <p:sldId xmlns:r="http://schemas.openxmlformats.org/officeDocument/2006/relationships" id="275" r:id="R661657f1899c424f"/>
    <p:sldId xmlns:r="http://schemas.openxmlformats.org/officeDocument/2006/relationships" id="276" r:id="R9144c2f260c7409c"/>
    <p:sldId xmlns:r="http://schemas.openxmlformats.org/officeDocument/2006/relationships" id="277" r:id="Rbf29994d17454bfc"/>
    <p:sldId xmlns:r="http://schemas.openxmlformats.org/officeDocument/2006/relationships" id="278" r:id="Rac6d16c13b7a408a"/>
    <p:sldId xmlns:r="http://schemas.openxmlformats.org/officeDocument/2006/relationships" id="279" r:id="R57f2abf416ce44a3"/>
    <p:sldId xmlns:r="http://schemas.openxmlformats.org/officeDocument/2006/relationships" id="280" r:id="Reac3dfb6b62d4f24"/>
    <p:sldId xmlns:r="http://schemas.openxmlformats.org/officeDocument/2006/relationships" id="281" r:id="R874d4a28d1c34991"/>
    <p:sldId xmlns:r="http://schemas.openxmlformats.org/officeDocument/2006/relationships" id="282" r:id="R6c8936e5b6b945a0"/>
    <p:sldId xmlns:r="http://schemas.openxmlformats.org/officeDocument/2006/relationships" id="283" r:id="R06fa04d1bb564381"/>
    <p:sldId xmlns:r="http://schemas.openxmlformats.org/officeDocument/2006/relationships" id="284" r:id="R6d56f9eeb63a4188"/>
    <p:sldId xmlns:r="http://schemas.openxmlformats.org/officeDocument/2006/relationships" id="285" r:id="Rf165b32665d64f28"/>
    <p:sldId xmlns:r="http://schemas.openxmlformats.org/officeDocument/2006/relationships" id="286" r:id="Rcd566c30e35e48f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1a7dfd8e32a429f" /><Relationship Type="http://schemas.openxmlformats.org/officeDocument/2006/relationships/slideMaster" Target="/ppt/slideMasters/slideMaster1.xml" Id="R5266062cc717472f" /><Relationship Type="http://schemas.openxmlformats.org/officeDocument/2006/relationships/notesMaster" Target="/ppt/notesMasters/notesMaster1.xml" Id="R693a562afd62450d" /><Relationship Type="http://schemas.openxmlformats.org/officeDocument/2006/relationships/presProps" Target="/ppt/presProps.xml" Id="Rab4e8162fbf040c3" /><Relationship Type="http://schemas.openxmlformats.org/officeDocument/2006/relationships/tableStyles" Target="/ppt/tableStyles.xml" Id="Rff1a54cce40a4257" /><Relationship Type="http://schemas.openxmlformats.org/officeDocument/2006/relationships/slide" Target="/ppt/slides/slide1.xml" Id="R259be5f746fa4809" /><Relationship Type="http://schemas.openxmlformats.org/officeDocument/2006/relationships/slide" Target="/ppt/slides/slide2.xml" Id="R564320c668a541c3" /><Relationship Type="http://schemas.openxmlformats.org/officeDocument/2006/relationships/slide" Target="/ppt/slides/slide3.xml" Id="Rf857103c5df1480a" /><Relationship Type="http://schemas.openxmlformats.org/officeDocument/2006/relationships/slide" Target="/ppt/slides/slide4.xml" Id="R0064ae47c1974fc5" /><Relationship Type="http://schemas.openxmlformats.org/officeDocument/2006/relationships/slide" Target="/ppt/slides/slide5.xml" Id="Raaf41b4b9ff24868" /><Relationship Type="http://schemas.openxmlformats.org/officeDocument/2006/relationships/slide" Target="/ppt/slides/slide6.xml" Id="R79f3ebdf5b5f4614" /><Relationship Type="http://schemas.openxmlformats.org/officeDocument/2006/relationships/slide" Target="/ppt/slides/slide7.xml" Id="Re416f013837b4b4c" /><Relationship Type="http://schemas.openxmlformats.org/officeDocument/2006/relationships/slide" Target="/ppt/slides/slide8.xml" Id="R130f0aaeb54645af" /><Relationship Type="http://schemas.openxmlformats.org/officeDocument/2006/relationships/slide" Target="/ppt/slides/slide9.xml" Id="Rc1f6ab173fdf48a4" /><Relationship Type="http://schemas.openxmlformats.org/officeDocument/2006/relationships/slide" Target="/ppt/slides/slide10.xml" Id="R8921402cda1f4224" /><Relationship Type="http://schemas.openxmlformats.org/officeDocument/2006/relationships/slide" Target="/ppt/slides/slide11.xml" Id="R509545395c374d47" /><Relationship Type="http://schemas.openxmlformats.org/officeDocument/2006/relationships/slide" Target="/ppt/slides/slide12.xml" Id="Ra16b364e24374c75" /><Relationship Type="http://schemas.openxmlformats.org/officeDocument/2006/relationships/slide" Target="/ppt/slides/slide13.xml" Id="Rb6cb9709f6824e3f" /><Relationship Type="http://schemas.openxmlformats.org/officeDocument/2006/relationships/slide" Target="/ppt/slides/slide14.xml" Id="R459757beba3543a4" /><Relationship Type="http://schemas.openxmlformats.org/officeDocument/2006/relationships/slide" Target="/ppt/slides/slide15.xml" Id="R0dbdb4e35cd243f6" /><Relationship Type="http://schemas.openxmlformats.org/officeDocument/2006/relationships/slide" Target="/ppt/slides/slide16.xml" Id="Rcc560d09cf7a42fe" /><Relationship Type="http://schemas.openxmlformats.org/officeDocument/2006/relationships/slide" Target="/ppt/slides/slide17.xml" Id="R6262f491634941cf" /><Relationship Type="http://schemas.openxmlformats.org/officeDocument/2006/relationships/slide" Target="/ppt/slides/slide18.xml" Id="R4329ad76fa964590" /><Relationship Type="http://schemas.openxmlformats.org/officeDocument/2006/relationships/slide" Target="/ppt/slides/slide19.xml" Id="R075da425b5b740ff" /><Relationship Type="http://schemas.openxmlformats.org/officeDocument/2006/relationships/slide" Target="/ppt/slides/slide20.xml" Id="R661657f1899c424f" /><Relationship Type="http://schemas.openxmlformats.org/officeDocument/2006/relationships/slide" Target="/ppt/slides/slide21.xml" Id="R9144c2f260c7409c" /><Relationship Type="http://schemas.openxmlformats.org/officeDocument/2006/relationships/slide" Target="/ppt/slides/slide22.xml" Id="Rbf29994d17454bfc" /><Relationship Type="http://schemas.openxmlformats.org/officeDocument/2006/relationships/slide" Target="/ppt/slides/slide23.xml" Id="Rac6d16c13b7a408a" /><Relationship Type="http://schemas.openxmlformats.org/officeDocument/2006/relationships/slide" Target="/ppt/slides/slide24.xml" Id="R57f2abf416ce44a3" /><Relationship Type="http://schemas.openxmlformats.org/officeDocument/2006/relationships/slide" Target="/ppt/slides/slide25.xml" Id="Reac3dfb6b62d4f24" /><Relationship Type="http://schemas.openxmlformats.org/officeDocument/2006/relationships/slide" Target="/ppt/slides/slide26.xml" Id="R874d4a28d1c34991" /><Relationship Type="http://schemas.openxmlformats.org/officeDocument/2006/relationships/slide" Target="/ppt/slides/slide27.xml" Id="R6c8936e5b6b945a0" /><Relationship Type="http://schemas.openxmlformats.org/officeDocument/2006/relationships/slide" Target="/ppt/slides/slide28.xml" Id="R06fa04d1bb564381" /><Relationship Type="http://schemas.openxmlformats.org/officeDocument/2006/relationships/slide" Target="/ppt/slides/slide29.xml" Id="R6d56f9eeb63a4188" /><Relationship Type="http://schemas.openxmlformats.org/officeDocument/2006/relationships/slide" Target="/ppt/slides/slide30.xml" Id="Rf165b32665d64f28" /><Relationship Type="http://schemas.openxmlformats.org/officeDocument/2006/relationships/slide" Target="/ppt/slides/slide31.xml" Id="Rcd566c30e35e48f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a2494a32a4046f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f542e635d464f51" /><Relationship Type="http://schemas.openxmlformats.org/officeDocument/2006/relationships/notesMaster" Target="/ppt/notesMasters/notesMaster1.xml" Id="R9e6dd17b66c84e6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afa1fa182ae4009" /><Relationship Type="http://schemas.openxmlformats.org/officeDocument/2006/relationships/notesMaster" Target="/ppt/notesMasters/notesMaster1.xml" Id="Rf723a74a6a254cc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023c5e1651e4693" /><Relationship Type="http://schemas.openxmlformats.org/officeDocument/2006/relationships/notesMaster" Target="/ppt/notesMasters/notesMaster1.xml" Id="R896767993f3248c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949d9685b6b46c7" /><Relationship Type="http://schemas.openxmlformats.org/officeDocument/2006/relationships/notesMaster" Target="/ppt/notesMasters/notesMaster1.xml" Id="R6f25dc9a65454c7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b23bcd044934d7f" /><Relationship Type="http://schemas.openxmlformats.org/officeDocument/2006/relationships/notesMaster" Target="/ppt/notesMasters/notesMaster1.xml" Id="R478a504c3908467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8bbfabe23b44de7" /><Relationship Type="http://schemas.openxmlformats.org/officeDocument/2006/relationships/notesMaster" Target="/ppt/notesMasters/notesMaster1.xml" Id="R83f3c7e8c6ca4ae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30f6db2012f4bd4" /><Relationship Type="http://schemas.openxmlformats.org/officeDocument/2006/relationships/notesMaster" Target="/ppt/notesMasters/notesMaster1.xml" Id="Rf1ed1abcd7d1482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415e10b0d164a39" /><Relationship Type="http://schemas.openxmlformats.org/officeDocument/2006/relationships/notesMaster" Target="/ppt/notesMasters/notesMaster1.xml" Id="Rf62219a634cf4c9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ded3cec95124e06" /><Relationship Type="http://schemas.openxmlformats.org/officeDocument/2006/relationships/notesMaster" Target="/ppt/notesMasters/notesMaster1.xml" Id="Rc3636eb4aae04b8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598688dc5e94413" /><Relationship Type="http://schemas.openxmlformats.org/officeDocument/2006/relationships/notesMaster" Target="/ppt/notesMasters/notesMaster1.xml" Id="R787ae3a3a6064ed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45a69c240bc4d5b" /><Relationship Type="http://schemas.openxmlformats.org/officeDocument/2006/relationships/notesMaster" Target="/ppt/notesMasters/notesMaster1.xml" Id="Rf3259404f2914f5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1496cb8a8854073" /><Relationship Type="http://schemas.openxmlformats.org/officeDocument/2006/relationships/notesMaster" Target="/ppt/notesMasters/notesMaster1.xml" Id="R8bbdf64ca4b24e5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76b9a7d89da45ab" /><Relationship Type="http://schemas.openxmlformats.org/officeDocument/2006/relationships/notesMaster" Target="/ppt/notesMasters/notesMaster1.xml" Id="R07368122c78b404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04435aa341c413e" /><Relationship Type="http://schemas.openxmlformats.org/officeDocument/2006/relationships/notesMaster" Target="/ppt/notesMasters/notesMaster1.xml" Id="R775ff87414b94ca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98ac578121b4364" /><Relationship Type="http://schemas.openxmlformats.org/officeDocument/2006/relationships/notesMaster" Target="/ppt/notesMasters/notesMaster1.xml" Id="Rb5cadfcac63b4a87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4e24db4059b4373" /><Relationship Type="http://schemas.openxmlformats.org/officeDocument/2006/relationships/notesMaster" Target="/ppt/notesMasters/notesMaster1.xml" Id="R9bf2ea83f17b413a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83bfc001b6fb4990" /><Relationship Type="http://schemas.openxmlformats.org/officeDocument/2006/relationships/notesMaster" Target="/ppt/notesMasters/notesMaster1.xml" Id="Rfe80375b0e7b41c4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4fb080be0dcb4d55" /><Relationship Type="http://schemas.openxmlformats.org/officeDocument/2006/relationships/notesMaster" Target="/ppt/notesMasters/notesMaster1.xml" Id="R63559f04abdd4946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abb65397aebf4f81" /><Relationship Type="http://schemas.openxmlformats.org/officeDocument/2006/relationships/notesMaster" Target="/ppt/notesMasters/notesMaster1.xml" Id="R3c30f0ed30164154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bb671aad864c42e9" /><Relationship Type="http://schemas.openxmlformats.org/officeDocument/2006/relationships/notesMaster" Target="/ppt/notesMasters/notesMaster1.xml" Id="R80429016325e435d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79c83e61fe254bc8" /><Relationship Type="http://schemas.openxmlformats.org/officeDocument/2006/relationships/notesMaster" Target="/ppt/notesMasters/notesMaster1.xml" Id="R8359ddf153114d6b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e946a0a0d3574685" /><Relationship Type="http://schemas.openxmlformats.org/officeDocument/2006/relationships/notesMaster" Target="/ppt/notesMasters/notesMaster1.xml" Id="R36a1a694911f469b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f59d37594fc14ca4" /><Relationship Type="http://schemas.openxmlformats.org/officeDocument/2006/relationships/notesMaster" Target="/ppt/notesMasters/notesMaster1.xml" Id="R247cdb429d0345c3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9c71e77ff76c4f6a" /><Relationship Type="http://schemas.openxmlformats.org/officeDocument/2006/relationships/notesMaster" Target="/ppt/notesMasters/notesMaster1.xml" Id="Rc76c7093f7da41e3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126108bcd2f44b63" /><Relationship Type="http://schemas.openxmlformats.org/officeDocument/2006/relationships/notesMaster" Target="/ppt/notesMasters/notesMaster1.xml" Id="Re223fe20ded54c5f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6fd2fb69dbf2481c" /><Relationship Type="http://schemas.openxmlformats.org/officeDocument/2006/relationships/notesMaster" Target="/ppt/notesMasters/notesMaster1.xml" Id="R997476f34318437e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b1f29d8bd3bc469f" /><Relationship Type="http://schemas.openxmlformats.org/officeDocument/2006/relationships/notesMaster" Target="/ppt/notesMasters/notesMaster1.xml" Id="R1fad55f791c74255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af614de4c5b04ce0" /><Relationship Type="http://schemas.openxmlformats.org/officeDocument/2006/relationships/notesMaster" Target="/ppt/notesMasters/notesMaster1.xml" Id="R2666e4b5d2bd4693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061131c63ae04ca9" /><Relationship Type="http://schemas.openxmlformats.org/officeDocument/2006/relationships/notesMaster" Target="/ppt/notesMasters/notesMaster1.xml" Id="R988ee2efc2274294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437e741e803243da" /><Relationship Type="http://schemas.openxmlformats.org/officeDocument/2006/relationships/notesMaster" Target="/ppt/notesMasters/notesMaster1.xml" Id="R95d2a47adeaf45fb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81019ac8771e4237" /><Relationship Type="http://schemas.openxmlformats.org/officeDocument/2006/relationships/notesMaster" Target="/ppt/notesMasters/notesMaster1.xml" Id="R4e0cf1732a05429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Таймінг: 00:00–00:30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Відкриття:</a:t>
            </a:r>
          </a:p>
          <a:p xmlns:a="http://schemas.openxmlformats.org/drawingml/2006/main">
            <a:r>
              <a:t>«Сьогодні ми не будемо вчити всі слова зі світу розробки. Ми зберемо одну зрозумілу систему від питання людини до відповіді з бази і винесемо її в хмару».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Попросіть підняти руку тих, хто ніколи не запускав Docker або MCP. Це нормальна стартова точка.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Таймінг: 00:30–01:15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Покажіть маршрут і домовтесь: питання можна ставити по ходу, але довгі розбори підуть після основного маршруту.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Ключова обіцянка: наприкінці людина розуміє не лише «які команди вставити», а й навіщо існує кожна частина.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Таймінг: 01:15–02:15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Почніть із конкретного питання. Поясніть, що цифра на слайді ілюстративна: на демо побачимо реальну відповідь із поточного набору даних.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Головна думка: користувач не пише SQL, але система все одно показує, що саме було виконано.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Таймінг: 02:15–03:15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Скажіть одним подихом: «Ми не даємо Claude пароль і свободу робити будь-що. Ми даємо серверу п’ять чітко описаних функцій».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Це рамка для всього воркшопу.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Таймінг: 03:15–04:30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Пройдіть визначення без заглиблення.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Побутова аналогія: модель — мозок, агент — поведінка, інструменти — руки, MCP — розетка стандартного формату, база — склад, деплой — відкрита майстерня в хмарі.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Таймінг: 04:30–06:00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Пояснення для новачка:</a:t>
            </a:r>
          </a:p>
          <a:p xmlns:a="http://schemas.openxmlformats.org/drawingml/2006/main">
            <a:r>
              <a:t>Git працює і без інтернету та пам’ятає версії. GitHub — сайт, де репозиторій лежить онлайн, ним можна ділитись і підключити Railway.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У цьому проєкті є дві гілки: main і workshop-start.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Джерело: https://docs.github.com/en/get-started/learning-to-code/getting-started-with-git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Таймінг: 06:00–07:30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Аналогія: образ — рецепт і запаковані інгредієнти, контейнер — конкретно запущена страва. Один образ можна запускати багато разів.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У docker-compose.yml описано один сервіс db на PostgreSQL 16 Alpine. Порт 5433 зовні навмисно уникає конфлікту зі звичайним 5432.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Джерело: https://docs.docker.com/get-started/docker-overview/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Таймінг: 07:30–09:00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Python — мова, якою написано сервер і ML. PostgreSQL — окрема програма-база. psycopg відкриває з’єднання та передає SQL.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Підкресліть: дані не живуть «у Python-файлі». Сервер лише приходить до бази, читає і повертає результат.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Таймінг: 09:00–10:30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Аналогія: USB-C не є зарядкою або ноутбуком, це стандарт з’єднання. MCP так само не є моделлю чи базою.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У специфікації MCP сервер може давати tools, resources і prompts. У цьому демо головне — tools, функції, якими керує модель.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Джерело: https://modelcontextprotocol.io/specification/draft/server/index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Таймінг: 10:30–12:00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Не називайте весь застосунок «моделлю». Claude як модель обирає крок. Агентний цикл виконує кроки. Python-функції роблять роботу.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У цьому проєкті немає вручну прописаного маршруту list_tables → describe_table → run_sql. Модель складає його під запит.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Таймінг: 12:00–14:00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Пройдіть схему зліва направо. Claude бачить лише контракт інструментів. MCP-сервер тримає DATABASE_URL і сам підключається до PostgreSQL.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ML-модель — локальний файл, який сервер завантажує. save_report пише HTML у reports/.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Важливо: у хмарі публічний MCP без автентифікації підходить лише для синтетичних даних.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Таймінг: 14:00–15:30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Поясніть спостережуваність: ми бачимо, який інструмент викликано, з якими аргументами та що він повернув.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Це не гарантує правильність відповіді, але робить помилку діагностованою.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Таймінг: 15:30–17:00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Швидко поясніть усі п’ять.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save_report не генерує звіт. Claude створює HTML, а інструмент лише безпечно зберігає файл. Це залишає моделі свободу оформлення, але обмежує файлову дію.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Таймінг: 17:00–18:00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Покажіть docstring як частину продукту, а не коментар «для програміста». Якщо опис нечіткий, модель вибиратиме інструмент гірше.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У workshop-start ми дописуємо функції, але докстрінги вже задають очікувану поведінку.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Таймінг: 18:00–19:00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Поясніть «пастку» status: без коментаря модель може порахувати всі заплановані уроки як проведені.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Перевага: визначення знаходиться там, де його бачить і людина, і інструмент. Зміна схеми не вимагає переписувати великий системний промпт.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Таймінг: 19:00–20:30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Підкресліть різницю між зручністю та безпекою. Guard ловить очевидний DELETE і пояснює моделі, що дозволено. Але остаточно захищає роль analyst_ro у PostgreSQL.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Команда для демонстрації: python scripts/prove_readonly.py. Вона обходить сервер і доводить, що сама база відмовляє у записі.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Таймінг: 20:30–22:15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Проведіть екскурсію, не відкриваючи кожен файл.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Мнемоніка: server виконує, db зберігає, ml прогнозує, tests перевіряє, docs пояснює, deploy пакує.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Покажіть, що railway.toml лежить у корені, бо Railway шукає конфіг саме там.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Таймінг: 22:15–23:30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Поясніть зв’язки як речення. Це легше за терміни «foreign key» і «one-to-many».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Після речення додайте: foreign key — це колонка, яка посилається на ідентифікатор у іншій таблиці.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Таймінг: 23:30–24:30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Покажіть, що агент бачить не одну «таблицю уроків», а контекст клієнта. Платежі та тікети стають ознаками churn. audit_log не є бізнес-даними, це слід роботи системи.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Таймінг: 24:30–25:30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Якщо аудиторія зовсім нова, рекомендуйте варіант А для воркшопу. Варіант Б показуйте тим, хто хоче забрати повну локальну копію.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.env — локальний файл із налаштуваннями й секретами. Він не потрапляє в Git.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Таймінг: 25:30–26:30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Не читайте команди по символах. Поясніть їх призначення.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venv створює окреме Python-оточення. pip ставить залежності з pyproject.toml. make setup оркеструє Docker, seed і train. make config друкує конфіг із абсолютними шляхами.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Таймінг: 26:30–33:30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LIVE DEMO 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У терміналі покажіть make doctor. Якщо все green, не затримуйтесь.</a:t>
            </a:r>
          </a:p>
          <a:p xmlns:a="http://schemas.openxmlformats.org/drawingml/2006/main">
            <a:r>
              <a:t>2. Запустіть make config і коротко покажіть, що шляхи абсолютні. Не копіюйте секрети на великий екран.</a:t>
            </a:r>
          </a:p>
          <a:p xmlns:a="http://schemas.openxmlformats.org/drawingml/2006/main">
            <a:r>
              <a:t>3. У Claude Desktop відкрийте новий чат. Поставте «Що є в цій базі?».</a:t>
            </a:r>
          </a:p>
          <a:p xmlns:a="http://schemas.openxmlformats.org/drawingml/2006/main">
            <a:r>
              <a:t>4. Розгорніть виклики інструментів. Назвіть list_tables і describe_table.</a:t>
            </a:r>
          </a:p>
          <a:p xmlns:a="http://schemas.openxmlformats.org/drawingml/2006/main">
            <a:r>
              <a:t>5. Поставте запит про уроки по місяцях. Покажіть SQL.</a:t>
            </a:r>
          </a:p>
          <a:p xmlns:a="http://schemas.openxmlformats.org/drawingml/2006/main">
            <a:r>
              <a:t>6. Попросіть зберегти звіт і відкрийте HTML.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План Б: якщо Claude не підключився, запустіть make run і покажіть помилку дослівно; далі перейдіть до заздалегідь підготовленого чату.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Таймінг: 33:30–35:00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Після демо закріпіть: код не містить цього workflow. Модель може пропустити run_sql, якщо predict_churn уже повернув достатньо пояснень. Це нормально, якщо відповідь обґрунтована.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Таймінг: 35:00–36:00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Поясніть гілку як паралельну версію папки, але без дублювання файлів вручну.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Рятувальний шлях учасника: якщо відстав, git checkout main повертає повне рішення. Повернутися до каркаса можна пізніше.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Таймінг: 36:00–37:00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pytest — інструмент, який запускає короткі сценарії перевірки. На workshop-start червоні тести — це карта того, що ще треба реалізувати. На main вони мають бути зеленими.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Таймінг: 37:00–38:30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Поясніть, що модель навчається окремою командою make train і зберігається в ml/model.pkl. Сервер лише завантажує готовий файл.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14 ознак дивляться тільки в минуле. Ціль — відтік у наступні 30 днів. У поточному файлі моделі ROC AUC = 0.776, дата навчання 2026-09-16.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scikit-learn 1.7.2 та numpy 2.2.6 закріплено точними версіями, бо pickle залежить від оточення.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Таймінг: 38:30–39:15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— звичайна веб-сторінка в одному файлі. Claude генерує вміст, save_report перевіряє, що це справді HTML, і створює безпечне ім’я в reports/.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Таймінг: 39:15–40:45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stdio — текстові потоки між двома процесами на одному комп’ютері. HTTP — мережевий протокол, тому сервер може жити окремо.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У server/main.py це один if за MCP_TRANSPORT. Це головний місток між локальним демо й командним сервісом.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Таймінг: 40:45–42:30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Railway стежить за GitHub, читає railway.toml, будує образ через deploy/Dockerfile і запускає контейнер.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База мусить бути доступна з інтернету, наприклад Neon або PostgreSQL у Railway. Локальний Docker на ноутбуці з хмари недосяжний.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Джерело: https://docs.railway.com/deployments/reference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Таймінг: 42:30–48:30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LIVE DEMO 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Відкрийте готовий проєкт Railway або створіть New Project → Deploy from GitHub repo.</a:t>
            </a:r>
          </a:p>
          <a:p xmlns:a="http://schemas.openxmlformats.org/drawingml/2006/main">
            <a:r>
              <a:t>2. Покажіть, що railway.toml вказує deploy/Dockerfile.</a:t>
            </a:r>
          </a:p>
          <a:p xmlns:a="http://schemas.openxmlformats.org/drawingml/2006/main">
            <a:r>
              <a:t>3. У Variables додайте рівно DATABASE_URL і MCP_TRANSPORT=http. Закрийте значення пароля від аудиторії.</a:t>
            </a:r>
          </a:p>
          <a:p xmlns:a="http://schemas.openxmlformats.org/drawingml/2006/main">
            <a:r>
              <a:t>4. Settings → Networking → Generate Domain. До адреси додайте /mcp.</a:t>
            </a:r>
          </a:p>
          <a:p xmlns:a="http://schemas.openxmlformats.org/drawingml/2006/main">
            <a:r>
              <a:t>5. У Logs знайдіть «База відповідає» і «Стартую MCP-сервер».</a:t>
            </a:r>
          </a:p>
          <a:p xmlns:a="http://schemas.openxmlformats.org/drawingml/2006/main">
            <a:r>
              <a:t>6. Claude → Connectors → Add custom connector. Додайте URL і повторіть «Що є в цій базі?».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Важливе попередження: адреса без auth публічна. Для реальних даних спершу виконайте deploy/AUTH.md.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Якщо відкриття /mcp у браузері дає Missing session ID, це очікувано: браузер не виконав MCP initialize.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Таймінг: 48:30–50:00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Фінал:</a:t>
            </a:r>
          </a:p>
          <a:p xmlns:a="http://schemas.openxmlformats.org/drawingml/2006/main">
            <a:r>
              <a:t>1. MCP дає моделі контрольовані інструменти.</a:t>
            </a:r>
          </a:p>
          <a:p xmlns:a="http://schemas.openxmlformats.org/drawingml/2006/main">
            <a:r>
              <a:t>2. Безпеку тримають права бази, не надія на промпт.</a:t>
            </a:r>
          </a:p>
          <a:p xmlns:a="http://schemas.openxmlformats.org/drawingml/2006/main">
            <a:r>
              <a:t>3. Один і той самий сервер працює локально через stdio та в Railway через HTTP.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Наступні кроки з репозиторію: docs/NEXT-STEPS.md, docs/DEPLOY.md, deploy/AUTH.md.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Запросіть питання. Якщо часу немає, дайте QR або посилання на репозиторій окремо в чаті мітапу.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bdb3ded11bd483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4f11b0a28464113" /><Relationship Type="http://schemas.openxmlformats.org/officeDocument/2006/relationships/slideLayout" Target="/ppt/slideLayouts/slideLayout1.xml" Id="R52faa4d22fbb4a9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2faa4d22fbb4a9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f68f94741945cd" /><Relationship Type="http://schemas.openxmlformats.org/officeDocument/2006/relationships/image" Target="/ppt/media/image.png" Id="R7039266d122d405b" /><Relationship Type="http://schemas.openxmlformats.org/officeDocument/2006/relationships/image" Target="/ppt/media/image2.png" Id="R57aab71fdf544a6a" /><Relationship Type="http://schemas.openxmlformats.org/officeDocument/2006/relationships/notesSlide" Target="/ppt/notesSlides/notesSlide1.xml" Id="Rc2ad6733bb72428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0d46ab862f410b" /><Relationship Type="http://schemas.openxmlformats.org/officeDocument/2006/relationships/notesSlide" Target="/ppt/notesSlides/notesSlide2.xml" Id="R086eb9f74c0a4e7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420ea08c2f4d33" /><Relationship Type="http://schemas.openxmlformats.org/officeDocument/2006/relationships/notesSlide" Target="/ppt/notesSlides/notesSlide3.xml" Id="Reac85ce0a55f4f7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3d7fd909174291" /><Relationship Type="http://schemas.openxmlformats.org/officeDocument/2006/relationships/notesSlide" Target="/ppt/notesSlides/notesSlide4.xml" Id="Raadc0cc942b7420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d3b709dc6e45e3" /><Relationship Type="http://schemas.openxmlformats.org/officeDocument/2006/relationships/notesSlide" Target="/ppt/notesSlides/notesSlide5.xml" Id="R501be421767e45b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82937f3a9a4e58" /><Relationship Type="http://schemas.openxmlformats.org/officeDocument/2006/relationships/image" Target="/ppt/media/image3.png" Id="Rd1973664824f47d4" /><Relationship Type="http://schemas.openxmlformats.org/officeDocument/2006/relationships/image" Target="/ppt/media/image4.png" Id="R30695fec70444160" /><Relationship Type="http://schemas.openxmlformats.org/officeDocument/2006/relationships/notesSlide" Target="/ppt/notesSlides/notesSlide6.xml" Id="Rbb537d09d25b40d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8967419adf4c6d" /><Relationship Type="http://schemas.openxmlformats.org/officeDocument/2006/relationships/image" Target="/ppt/media/image5.png" Id="R3074ee867f554619" /><Relationship Type="http://schemas.openxmlformats.org/officeDocument/2006/relationships/notesSlide" Target="/ppt/notesSlides/notesSlide7.xml" Id="R3b5483014af2417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780eaefe634086" /><Relationship Type="http://schemas.openxmlformats.org/officeDocument/2006/relationships/image" Target="/ppt/media/image6.png" Id="Rc7211535722649a8" /><Relationship Type="http://schemas.openxmlformats.org/officeDocument/2006/relationships/image" Target="/ppt/media/image7.png" Id="R4ee309c3cad64f80" /><Relationship Type="http://schemas.openxmlformats.org/officeDocument/2006/relationships/notesSlide" Target="/ppt/notesSlides/notesSlide8.xml" Id="Rc0ae40b6ab9e432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604978b75a496e" /><Relationship Type="http://schemas.openxmlformats.org/officeDocument/2006/relationships/image" Target="/ppt/media/image8.png" Id="Rd5fff42f7fea4d74" /><Relationship Type="http://schemas.openxmlformats.org/officeDocument/2006/relationships/notesSlide" Target="/ppt/notesSlides/notesSlide9.xml" Id="R8bc5e56ae39a4ab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107824a29747f0" /><Relationship Type="http://schemas.openxmlformats.org/officeDocument/2006/relationships/notesSlide" Target="/ppt/notesSlides/notesSlide10.xml" Id="Rf8ed528a3f57400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9ad1504ea84bf3" /><Relationship Type="http://schemas.openxmlformats.org/officeDocument/2006/relationships/notesSlide" Target="/ppt/notesSlides/notesSlide11.xml" Id="Rf7b407935b11412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554489cc95491a" /><Relationship Type="http://schemas.openxmlformats.org/officeDocument/2006/relationships/notesSlide" Target="/ppt/notesSlides/notesSlide12.xml" Id="R410c1a6553c34f5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a31b7c384a4411" /><Relationship Type="http://schemas.openxmlformats.org/officeDocument/2006/relationships/notesSlide" Target="/ppt/notesSlides/notesSlide13.xml" Id="R0bc5d7a7c9fc4f8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95adfd0ea84bf6" /><Relationship Type="http://schemas.openxmlformats.org/officeDocument/2006/relationships/notesSlide" Target="/ppt/notesSlides/notesSlide14.xml" Id="R680c93b26e4745b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7fb9e9156e4c47" /><Relationship Type="http://schemas.openxmlformats.org/officeDocument/2006/relationships/notesSlide" Target="/ppt/notesSlides/notesSlide15.xml" Id="R28cb787a301b47ae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58193a78204f56" /><Relationship Type="http://schemas.openxmlformats.org/officeDocument/2006/relationships/notesSlide" Target="/ppt/notesSlides/notesSlide16.xml" Id="R9ac3ec7f767c42af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5006ba103f4472" /><Relationship Type="http://schemas.openxmlformats.org/officeDocument/2006/relationships/notesSlide" Target="/ppt/notesSlides/notesSlide17.xml" Id="R74b608b9d7a54ae2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6e9a9776b84720" /><Relationship Type="http://schemas.openxmlformats.org/officeDocument/2006/relationships/notesSlide" Target="/ppt/notesSlides/notesSlide18.xml" Id="R0bfd0d3cc2f64e4f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bf0296f4c6406f" /><Relationship Type="http://schemas.openxmlformats.org/officeDocument/2006/relationships/notesSlide" Target="/ppt/notesSlides/notesSlide19.xml" Id="Rf0efc51d155a45fa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9aaa0a317e4c82" /><Relationship Type="http://schemas.openxmlformats.org/officeDocument/2006/relationships/notesSlide" Target="/ppt/notesSlides/notesSlide20.xml" Id="R177926a0a4c648e1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06d04ea461474d" /><Relationship Type="http://schemas.openxmlformats.org/officeDocument/2006/relationships/notesSlide" Target="/ppt/notesSlides/notesSlide21.xml" Id="R6ddd343bd57842f0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febf7a229645ac" /><Relationship Type="http://schemas.openxmlformats.org/officeDocument/2006/relationships/notesSlide" Target="/ppt/notesSlides/notesSlide22.xml" Id="R96d5625011874a7f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6d3a76f9d348b6" /><Relationship Type="http://schemas.openxmlformats.org/officeDocument/2006/relationships/notesSlide" Target="/ppt/notesSlides/notesSlide23.xml" Id="R79d9cc2144f34444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c6826f7ec94f40" /><Relationship Type="http://schemas.openxmlformats.org/officeDocument/2006/relationships/notesSlide" Target="/ppt/notesSlides/notesSlide24.xml" Id="R3fe91df1b7914ee2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7ace04bd504003" /><Relationship Type="http://schemas.openxmlformats.org/officeDocument/2006/relationships/image" Target="/ppt/media/image9.png" Id="R63e332000f974d6d" /><Relationship Type="http://schemas.openxmlformats.org/officeDocument/2006/relationships/notesSlide" Target="/ppt/notesSlides/notesSlide25.xml" Id="R0711abeadcfa4ae4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53eaea6da045e0" /><Relationship Type="http://schemas.openxmlformats.org/officeDocument/2006/relationships/image" Target="/ppt/media/image10.png" Id="Rbb9cc64b42874cb9" /><Relationship Type="http://schemas.openxmlformats.org/officeDocument/2006/relationships/notesSlide" Target="/ppt/notesSlides/notesSlide26.xml" Id="Rd0a5aa4fd83e4a67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789d454a3141b0" /><Relationship Type="http://schemas.openxmlformats.org/officeDocument/2006/relationships/notesSlide" Target="/ppt/notesSlides/notesSlide27.xml" Id="R77c8fea02d1f4b5d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822cd338124df6" /><Relationship Type="http://schemas.openxmlformats.org/officeDocument/2006/relationships/notesSlide" Target="/ppt/notesSlides/notesSlide28.xml" Id="Re9bb56f86daa4464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ae78fffd7449fb" /><Relationship Type="http://schemas.openxmlformats.org/officeDocument/2006/relationships/image" Target="/ppt/media/image11.png" Id="Rac9cfbe0560f47c8" /><Relationship Type="http://schemas.openxmlformats.org/officeDocument/2006/relationships/image" Target="/ppt/media/image12.png" Id="R19437a08c2cc419f" /><Relationship Type="http://schemas.openxmlformats.org/officeDocument/2006/relationships/image" Target="/ppt/media/image13.png" Id="Rfbb11b76b2e0499e" /><Relationship Type="http://schemas.openxmlformats.org/officeDocument/2006/relationships/image" Target="/ppt/media/image14.png" Id="Rf0531bd03b6149c5" /><Relationship Type="http://schemas.openxmlformats.org/officeDocument/2006/relationships/image" Target="/ppt/media/image15.png" Id="R8dd4154dd3fa44b9" /><Relationship Type="http://schemas.openxmlformats.org/officeDocument/2006/relationships/notesSlide" Target="/ppt/notesSlides/notesSlide29.xml" Id="R87f3849c40c54a35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7845df2fd74efd" /><Relationship Type="http://schemas.openxmlformats.org/officeDocument/2006/relationships/notesSlide" Target="/ppt/notesSlides/notesSlide30.xml" Id="R5da1d65086724d28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9109dd093243ab" /><Relationship Type="http://schemas.openxmlformats.org/officeDocument/2006/relationships/image" Target="/ppt/media/image16.png" Id="Rb100c65cc0fe492b" /><Relationship Type="http://schemas.openxmlformats.org/officeDocument/2006/relationships/notesSlide" Target="/ppt/notesSlides/notesSlide31.xml" Id="R12baa3d2729a4f1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F0F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C722AD-E4C0-4E7B-B3E8-198DCB1D5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0"/>
            <a:ext cx="5124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0FA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B47045-4D7D-47A3-AF02-2CCA9CCEE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742950"/>
            <a:ext cx="3714750" cy="5143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3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39266d122d405b"/>
          <a:stretch xmlns:a="http://schemas.openxmlformats.org/drawingml/2006/main"/>
        </p:blipFill>
        <p:spPr>
          <a:xfrm xmlns:a="http://schemas.openxmlformats.org/drawingml/2006/main">
            <a:off x="685800" y="411097"/>
            <a:ext cx="2857500" cy="625607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D5EE43-777D-40B7-BD3F-3B48E7048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24765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6F13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50-ХВИЛИННИЙ ВОРКШОП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E03B05-1F32-4CB4-A001-CC8FE85CF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619125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AI-аналітик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над базою даних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22FA94-5538-4A98-A83D-746E55961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33800"/>
            <a:ext cx="561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Від локального MCP до Railway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75A905-C38C-43A3-84CD-B9DA4DB1E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14850"/>
            <a:ext cx="5048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16FE27-F1C3-474B-B0F4-7A6596554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62500"/>
            <a:ext cx="571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Простий шлях: зрозуміти → запустити → побачити → задеплоїти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aab71fdf544a6a"/>
          <a:stretch xmlns:a="http://schemas.openxmlformats.org/drawingml/2006/main"/>
        </p:blipFill>
        <p:spPr>
          <a:xfrm xmlns:a="http://schemas.openxmlformats.org/drawingml/2006/main">
            <a:off x="7715250" y="2244429"/>
            <a:ext cx="4000500" cy="355976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905710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F0F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6197E3E-C2A4-4A67-B4D7-F5C0B8735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865A74-C4F1-49BC-A6A8-66C912C00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572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3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3C9721-591D-4DF2-8204-CBB4A8162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3524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4110EF-3A4E-4D9D-B3E8-328335807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436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8C9E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811377-95C1-4D42-8F17-743BC8421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За 50 хвилин ми пройдемо весь шлях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83397B-6629-4FBD-9C41-17941D57A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2476500" cy="29527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1E414F-8D4A-462F-A98F-495050492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859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6676E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676EC"/>
                </a:solidFill>
                <a:latin typeface="Arial"/>
                <a:ea typeface="Arial"/>
                <a:cs typeface="Arial"/>
              </a:rPr>
              <a:t>00–10 ХВ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85DBD3-03EA-46E1-9C0B-5C6601C0C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47900"/>
            <a:ext cx="2095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Мова без жаргону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6E7690-F6F6-45F1-9509-412793EA7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81350"/>
            <a:ext cx="20955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GitHub, Docker, база, MCP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6BC67E-8EBB-4278-B291-CB70DE8AE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1714500"/>
            <a:ext cx="2476500" cy="29527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79F1FA-C8BA-4645-A5EB-54A6ACA27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18859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6676E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676EC"/>
                </a:solidFill>
                <a:latin typeface="Arial"/>
                <a:ea typeface="Arial"/>
                <a:cs typeface="Arial"/>
              </a:rPr>
              <a:t>10–25 ХВ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5DBA27-1247-4A38-8176-6BFC06D59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247900"/>
            <a:ext cx="2095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Як працює агент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4B559E-AB14-4A23-A4BE-9690E82C2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181350"/>
            <a:ext cx="20955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архітектура, інструменти, безпека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1F6AF8-769D-4CD4-A6A6-18B429791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714500"/>
            <a:ext cx="2476500" cy="29527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8CBE66-B465-4F02-89E0-F1B295E20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8859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6676E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676EC"/>
                </a:solidFill>
                <a:latin typeface="Arial"/>
                <a:ea typeface="Arial"/>
                <a:cs typeface="Arial"/>
              </a:rPr>
              <a:t>25–39 ХВ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A9B01C-7CDD-4E68-A785-C0DA7EBBD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247900"/>
            <a:ext cx="2095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Локальний запуск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61A2F4-51B1-4AB2-8E02-4C782FC64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181350"/>
            <a:ext cx="20955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підготовка та живе демо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3F7837D-04DB-4608-A46C-D1147B318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714500"/>
            <a:ext cx="2476500" cy="29527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444BD0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27B406D-4F94-4E52-93F6-30B9F7CA0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18859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39–49 ХВ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5D3CAD8-D0E8-49A2-AA42-3C4A83532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247900"/>
            <a:ext cx="2095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Хмара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D90899C-73EA-43D5-B35C-579A82266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181350"/>
            <a:ext cx="20955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Docker-образ, Railway, підключення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F5BDA77-E69B-441F-B2A4-E3573357B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10810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D6F13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D6F134"/>
                </a:solidFill>
                <a:latin typeface="Arial"/>
                <a:ea typeface="Arial"/>
                <a:cs typeface="Arial"/>
              </a:rPr>
              <a:t>Залишаємо 1 хвилину на перемикання й питання по ходу</a:t>
            </a:r>
          </a:p>
        </p:txBody>
      </p:sp>
    </p:spTree>
    <p:extLst>
      <p:ext uri="{BB962C8B-B14F-4D97-AF65-F5344CB8AC3E}">
        <p14:creationId xmlns:p14="http://schemas.microsoft.com/office/powerpoint/2010/main" val="107307569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F0F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132C43-CA21-44F4-82D9-CA48B6CEA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279D06-E730-4F9C-A9D7-121272201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572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3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5F3C03-5732-46BE-9D08-A59AA9CC4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704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81F794-86F9-4F3C-8782-B4B3AFA8B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436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8C9E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CCA623-0FC6-4657-8121-E05E0872C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Звичайне питання стає перевіреною відповіддю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D8CB3D-874C-461E-9D5C-57F03F2AC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24050"/>
            <a:ext cx="3905250" cy="1619250"/>
          </a:xfrm>
          <a:prstGeom xmlns:a="http://schemas.openxmlformats.org/drawingml/2006/main" prst="roundRect">
            <a:avLst>
              <a:gd name="adj" fmla="val 14118"/>
            </a:avLst>
          </a:prstGeom>
          <a:solidFill xmlns:a="http://schemas.openxmlformats.org/drawingml/2006/main">
            <a:srgbClr val="F5F5FA"/>
          </a:solidFill>
          <a:ln xmlns:a="http://schemas.openxmlformats.org/drawingml/2006/main" w="11430">
            <a:solidFill>
              <a:srgbClr val="C8C9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0138A0-A341-4E48-8CAD-80D8F3238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09800"/>
            <a:ext cx="32956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250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«Скільки уроків ми провели минулого місяця?»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3843DA-C103-47ED-83DD-2D1D9D607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924050"/>
            <a:ext cx="3905250" cy="1619250"/>
          </a:xfrm>
          <a:prstGeom xmlns:a="http://schemas.openxmlformats.org/drawingml/2006/main" prst="roundRect">
            <a:avLst>
              <a:gd name="adj" fmla="val 14118"/>
            </a:avLst>
          </a:prstGeom>
          <a:solidFill xmlns:a="http://schemas.openxmlformats.org/drawingml/2006/main">
            <a:srgbClr val="444BD0"/>
          </a:solidFill>
          <a:ln xmlns:a="http://schemas.openxmlformats.org/drawingml/2006/main" w="11430">
            <a:solidFill>
              <a:srgbClr val="444BD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809CA7-1F09-4051-9E81-FE7E7E46A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209800"/>
            <a:ext cx="333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150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1 284 уроки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D7E366-177A-4BE2-B15D-D407511C6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857500"/>
            <a:ext cx="323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із SQL, поясненням і можливістю зберегти звіт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737ACB-CAE0-4F4A-9442-AFDCE8C15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1924050"/>
            <a:ext cx="1714500" cy="1619250"/>
          </a:xfrm>
          <a:prstGeom xmlns:a="http://schemas.openxmlformats.org/drawingml/2006/main" prst="roundRect">
            <a:avLst>
              <a:gd name="adj" fmla="val 10588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6676E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2F880D-4838-4600-B618-5C8B62652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171700"/>
            <a:ext cx="133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950" b="1">
                <a:solidFill>
                  <a:srgbClr val="D6F134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D6F134"/>
                </a:solidFill>
                <a:latin typeface="Arial"/>
                <a:ea typeface="Arial"/>
                <a:cs typeface="Arial"/>
              </a:rPr>
              <a:t>АГЕНТ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5572F0-C1AF-453D-8C0A-4032D959F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705100"/>
            <a:ext cx="1333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перевіряє схему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4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пише SELECT</a:t>
            </a:r>
          </a:p>
        </p:txBody>
      </p:sp>
      <p:cxnSp>
        <p:nvCxnSpPr>
          <p:cNvPr id="30" name=""/>
          <p:cNvCxnSpPr>
            <a:stCxn xmlns:a="http://schemas.openxmlformats.org/drawingml/2006/main" id="6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4648200" y="2733675"/>
            <a:ext cx="5429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EA7FF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31" name=""/>
          <p:cNvCxnSpPr>
            <a:stCxn xmlns:a="http://schemas.openxmlformats.org/drawingml/2006/main" id="11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6905625" y="2733675"/>
            <a:ext cx="619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EA7FF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A40EFD-720B-4765-855F-62FE10347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333875"/>
            <a:ext cx="9144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Наша мета — зробити цей шлях видимим і контрольованим</a:t>
            </a:r>
          </a:p>
        </p:txBody>
      </p:sp>
    </p:spTree>
    <p:extLst>
      <p:ext uri="{BB962C8B-B14F-4D97-AF65-F5344CB8AC3E}">
        <p14:creationId xmlns:p14="http://schemas.microsoft.com/office/powerpoint/2010/main" val="200442525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F0F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3DF3DC-B44E-45AC-92F2-B29ED1A5E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E7686C-475D-4902-BDA2-F19602CA0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572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3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A09E1B-8EBA-4294-B083-ADEF1BB74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572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D50E47-C19A-45F9-B031-E5A76B995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436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8C9E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6AF8A1-CC5C-4D67-BE99-6D82ACE35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Проєкт у одному реченні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CAED4C-43CF-4E9F-934F-BE97BFB74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428750"/>
            <a:ext cx="10096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Claude отримує безпечні інструменти для аналізу PostgreSQL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7046A1-A740-410F-B712-BD5342CCA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05125"/>
            <a:ext cx="2333625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444BD0"/>
          </a:solidFill>
          <a:ln xmlns:a="http://schemas.openxmlformats.org/drawingml/2006/main" w="11430">
            <a:solidFill>
              <a:srgbClr val="444BD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87E77B-819B-4926-9A8B-0142DB0E7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905125"/>
            <a:ext cx="2333625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6676E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89E4B5-D6BA-4888-8A52-99640E180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905125"/>
            <a:ext cx="2333625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6676E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45A648-2BC9-45BF-B0AD-94F2DF862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333750"/>
            <a:ext cx="1857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Людина + Claude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36A0C6-D396-4407-8B3D-01D15BA40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333750"/>
            <a:ext cx="1857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MCP-сервер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2D50B6-F5F6-4F5A-9D3B-70210F568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333750"/>
            <a:ext cx="1857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PostgreSQL</a:t>
            </a:r>
          </a:p>
        </p:txBody>
      </p:sp>
      <p:cxnSp>
        <p:nvCxnSpPr>
          <p:cNvPr id="28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381375" y="3619500"/>
            <a:ext cx="15240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6F134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29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7239000" y="3619500"/>
            <a:ext cx="15716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6F134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BF137A-EAE2-4BD1-800E-F78022038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048250"/>
            <a:ext cx="647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D6F13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D6F134"/>
                </a:solidFill>
                <a:latin typeface="Arial"/>
                <a:ea typeface="Arial"/>
                <a:cs typeface="Arial"/>
              </a:rPr>
              <a:t>П’ять функцій замість необмеженого доступу</a:t>
            </a:r>
          </a:p>
        </p:txBody>
      </p:sp>
    </p:spTree>
    <p:extLst>
      <p:ext uri="{BB962C8B-B14F-4D97-AF65-F5344CB8AC3E}">
        <p14:creationId xmlns:p14="http://schemas.microsoft.com/office/powerpoint/2010/main" val="24396532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F0F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511C49C-9F47-47BE-A9F0-4F623D0EA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E77B2F-1A0C-4EF5-BDFA-4AE0C420F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572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3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CC5FF5-9F57-4A8E-B904-DBD3E04C9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409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AC1FAD-7D4C-46F6-897A-2CF698BCF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436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8C9E8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706CA1-B9CA-4978-AE17-56441461A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Шість слів, які треба розрізняти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32E46E-08AC-469D-933F-0DBCB6BB0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4192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38CBDC-DC12-4C3B-A84F-A957E3772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428750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137B03-14BC-45B0-91A6-0C1F31D08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381125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Модель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AB4132-B2DD-4FB9-9C58-0D4AF8D56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381125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генерує наступний крок або текст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8305DA-8C8D-439B-A718-D37AA420F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914525"/>
            <a:ext cx="9667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3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354A12-9A0A-4517-8E1E-B1360E770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812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B89A61-2EAD-463D-8209-86ABD0C25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90750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5AC262-7D1F-4B00-A4B4-E8332BAA6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143125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Агент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C9F071-505B-4DB2-961C-2B9CB8B2F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143125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повторює цикл: подумав, викликав, перевірив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13528E-43FD-42B6-8227-3959D9B47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676525"/>
            <a:ext cx="9667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3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D12117-E551-47A5-9A46-BC397BADC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432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A50854-720C-4147-B28D-71189E857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52750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3AA1EF-E4C6-414E-BBEE-39B83F843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905125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Інструмент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0642F33-EB0B-444B-8B03-9B8893990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905125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звичайна функція з чітким входом і виходом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D5FF3EE-5202-4A02-B141-FAAF30638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438525"/>
            <a:ext cx="9667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3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B31178A-36FD-4990-B27D-284AF14B5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052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72BBE59-961A-4D12-BD3D-E91507663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14750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47BCF82-F9ED-4EC1-9771-DD78929D1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667125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D6F13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D6F134"/>
                </a:solidFill>
                <a:latin typeface="Arial"/>
                <a:ea typeface="Arial"/>
                <a:cs typeface="Arial"/>
              </a:rPr>
              <a:t>MCP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ADC6DEC-80B7-42BF-BA3D-B74CE13D3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667125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правила розмови клієнта з інструментами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15F16E3-3E22-44A0-9D05-6BA57014D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200525"/>
            <a:ext cx="9667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3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37137A9-5212-4308-AE70-B2056FFA2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672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0121ADA-9F38-4099-A8E2-19B9427CC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76750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459D6D0-8D27-45E1-8AE3-2DEC0D7D1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429125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База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E68F376-956A-4D72-8D2C-7100600F7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429125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структуровано зберігає дані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E14A16F-E6A8-42C8-A78C-7E13A968F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962525"/>
            <a:ext cx="9667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3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FB0C3AB-DA35-4D6A-A320-DFCC093EA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292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AD82F3B-5238-4BE5-8D5C-E7FEBBB5B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38750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1CCE187-33E3-45C4-8192-AAC752DD6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191125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Деплой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CB241D9-90BE-4AB2-96D4-8C3F9A362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191125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запускає сервіс там, де він доступний іншим</a:t>
            </a:r>
          </a:p>
        </p:txBody>
      </p:sp>
    </p:spTree>
    <p:extLst>
      <p:ext uri="{BB962C8B-B14F-4D97-AF65-F5344CB8AC3E}">
        <p14:creationId xmlns:p14="http://schemas.microsoft.com/office/powerpoint/2010/main" val="50876001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F0F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EB146A-972D-45FB-956E-7C2367EA5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94EE8D-182F-4973-9CE6-47DF7537C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572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3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596DC5-9BBB-4B06-9B76-C1997713F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7621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719870-07CF-4E76-B2B6-EF9C68F65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436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8C9E8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A38FEE-5E08-472A-A4AE-49716914A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Git зберігає історію, GitHub — репозиторій онлайн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3C2C12-1D93-4A6E-9AFC-B8A5134A3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19250"/>
            <a:ext cx="4762500" cy="33337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1690C6-6C5D-47A1-9C67-513FFBC0F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619250"/>
            <a:ext cx="4762500" cy="33337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973664824f47d4"/>
          <a:stretch xmlns:a="http://schemas.openxmlformats.org/drawingml/2006/main"/>
        </p:blipFill>
        <p:spPr>
          <a:xfrm xmlns:a="http://schemas.openxmlformats.org/drawingml/2006/main">
            <a:off x="1238250" y="2047875"/>
            <a:ext cx="1047750" cy="1047750"/>
          </a:xfrm>
          <a:prstGeom xmlns:a="http://schemas.openxmlformats.org/drawingml/2006/main" prst="rect">
            <a:avLst/>
          </a:prstGeom>
        </p:spPr>
      </p:pic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695fec70444160"/>
          <a:stretch xmlns:a="http://schemas.openxmlformats.org/drawingml/2006/main"/>
        </p:blipFill>
        <p:spPr>
          <a:xfrm xmlns:a="http://schemas.openxmlformats.org/drawingml/2006/main">
            <a:off x="7000875" y="2047875"/>
            <a:ext cx="1047750" cy="10477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9362CA-F4B3-4588-B907-A1E76B54D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047875"/>
            <a:ext cx="2571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Git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D2333F-AFAC-4DDD-80CE-44B7E7A37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66700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«машина часу» для файлів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068955-E541-4F43-8C31-DEFF6AC07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429000"/>
            <a:ext cx="3905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commit = збережена версія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branch = окрема лінія роботи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904A01-5DCF-4781-A374-1EA5DDF09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047875"/>
            <a:ext cx="2571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GitHub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F41277-F693-4206-9B7D-BFA72F8EC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66700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хостинг для Git-репозиторію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F0FE19-7968-40D7-9AE3-D44BBD630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429000"/>
            <a:ext cx="3905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clone = завантажити копію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push = відправити зміни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C0B2EE-FB1B-40B2-8C3A-B656CA1BF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381625"/>
            <a:ext cx="571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D6F13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D6F134"/>
                </a:solidFill>
                <a:latin typeface="Arial"/>
                <a:ea typeface="Arial"/>
                <a:cs typeface="Arial"/>
              </a:rPr>
              <a:t>Railway бере код саме з GitHub</a:t>
            </a:r>
          </a:p>
        </p:txBody>
      </p:sp>
    </p:spTree>
    <p:extLst>
      <p:ext uri="{BB962C8B-B14F-4D97-AF65-F5344CB8AC3E}">
        <p14:creationId xmlns:p14="http://schemas.microsoft.com/office/powerpoint/2010/main" val="89221204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5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D8D6C3-6E1A-4AF9-B7C9-A3D66DBE2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5C1513-E6B6-4E42-B5A7-B654D9C87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572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2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A26884-EA96-4017-A692-A81488EDB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2114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E12C8F-FEFD-48D5-9E7E-79FEF751E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436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04B8FB-259A-4710-B354-1997FB3C7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150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Docker дає однакове середовище на кожному комп’ютері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74ee867f554619"/>
          <a:stretch xmlns:a="http://schemas.openxmlformats.org/drawingml/2006/main"/>
        </p:blipFill>
        <p:spPr>
          <a:xfrm xmlns:a="http://schemas.openxmlformats.org/drawingml/2006/main">
            <a:off x="1047750" y="1714500"/>
            <a:ext cx="2476500" cy="24765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E986EC-C951-482D-906B-F57449F77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714500"/>
            <a:ext cx="571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Контейнер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0A0D26-8993-4F7A-823C-51D2DEF54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381250"/>
            <a:ext cx="64293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Ізольований процес із потрібною версією програми та її налаштуваннями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5E50DF-FD18-46E2-814C-AA106D261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619500"/>
            <a:ext cx="2857500" cy="11430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8E9FA"/>
          </a:solidFill>
          <a:ln xmlns:a="http://schemas.openxmlformats.org/drawingml/2006/main" w="11430">
            <a:solidFill>
              <a:srgbClr val="C8C9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F6D043-CE86-4E21-87BB-3C19B06A9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619500"/>
            <a:ext cx="2857500" cy="11430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444BD0"/>
          </a:solidFill>
          <a:ln xmlns:a="http://schemas.openxmlformats.org/drawingml/2006/main" w="11430">
            <a:solidFill>
              <a:srgbClr val="444BD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04EB1A-20B4-4D16-BF50-37F55BA40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810000"/>
            <a:ext cx="228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Образ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8CF3AC-A278-4A52-970F-FE93243AE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2481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рецепт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4700ED-6850-4E99-9419-C73A5B382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810000"/>
            <a:ext cx="228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Контейнер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AD821F-5FF0-40AC-A290-ADD8EA521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2481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запущена страва</a:t>
            </a:r>
          </a:p>
        </p:txBody>
      </p:sp>
      <p:cxnSp>
        <p:nvCxnSpPr>
          <p:cNvPr id="31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7191375" y="4191000"/>
            <a:ext cx="6191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444BD0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7885F9-D1E8-43BF-BF85-AC9AE9199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5219700"/>
            <a:ext cx="647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440FAC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440FAC"/>
                </a:solidFill>
                <a:latin typeface="Arial"/>
                <a:ea typeface="Arial"/>
                <a:cs typeface="Arial"/>
              </a:rPr>
              <a:t>У нас Docker локально запускає PostgreSQL</a:t>
            </a:r>
          </a:p>
        </p:txBody>
      </p:sp>
    </p:spTree>
    <p:extLst>
      <p:ext uri="{BB962C8B-B14F-4D97-AF65-F5344CB8AC3E}">
        <p14:creationId xmlns:p14="http://schemas.microsoft.com/office/powerpoint/2010/main" val="38988888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F0F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FAD710-8C8A-44EF-98C9-A8695727E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D5EAC7-0070-4508-A7E7-30905222B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572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3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B17164-1E88-483A-8353-D6BE7E3BC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2466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39A225-967B-48A9-822B-1E1649C6F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436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8C9E8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7E6BE8-6506-4FA8-910F-426E25E0D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Python виконує логіку, PostgreSQL зберігає дані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C9B123-4831-4B26-9DFE-83202DC9F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4762500" cy="352425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587774-6649-4D21-A812-2926233EB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19250"/>
            <a:ext cx="4762500" cy="352425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211535722649a8"/>
          <a:stretch xmlns:a="http://schemas.openxmlformats.org/drawingml/2006/main"/>
        </p:blipFill>
        <p:spPr>
          <a:xfrm xmlns:a="http://schemas.openxmlformats.org/drawingml/2006/main">
            <a:off x="1238250" y="2047875"/>
            <a:ext cx="1143000" cy="1143000"/>
          </a:xfrm>
          <a:prstGeom xmlns:a="http://schemas.openxmlformats.org/drawingml/2006/main" prst="rect">
            <a:avLst/>
          </a:prstGeom>
        </p:spPr>
      </p:pic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e309c3cad64f80"/>
          <a:stretch xmlns:a="http://schemas.openxmlformats.org/drawingml/2006/main"/>
        </p:blipFill>
        <p:spPr>
          <a:xfrm xmlns:a="http://schemas.openxmlformats.org/drawingml/2006/main">
            <a:off x="6953250" y="2047875"/>
            <a:ext cx="1143000" cy="11430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77F63D-0AE6-48D2-BE99-4094E2A7D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095500"/>
            <a:ext cx="238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Python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BD2A50-83F9-4AFE-B9D3-8530CBDBE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524250"/>
            <a:ext cx="37623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server/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інструменти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ML-модель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C2EE03-A233-4EED-8B41-14AA5EC63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95500"/>
            <a:ext cx="2524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PostgreSQL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CB74D5-6A91-461C-8E1D-44299453C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524250"/>
            <a:ext cx="37623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таблиці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зв’язки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права доступу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5C11EE-4573-44D9-81C7-EFAD56A3E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572125"/>
            <a:ext cx="819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D6F13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D6F134"/>
                </a:solidFill>
                <a:latin typeface="Arial"/>
                <a:ea typeface="Arial"/>
                <a:cs typeface="Arial"/>
              </a:rPr>
              <a:t>psycopg = бібліотека-мостик між Python і PostgreSQL</a:t>
            </a:r>
          </a:p>
        </p:txBody>
      </p:sp>
    </p:spTree>
    <p:extLst>
      <p:ext uri="{BB962C8B-B14F-4D97-AF65-F5344CB8AC3E}">
        <p14:creationId xmlns:p14="http://schemas.microsoft.com/office/powerpoint/2010/main" val="207386488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F0F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D9A2D5-600F-4144-9750-E9BE6AA8B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E4B009-6179-4E7A-8A7F-D840D16B0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572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3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0D2AF4-578B-49CD-8ECB-4225179BA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2819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EF629B-BAFA-4489-9CF5-FB5AF9DC9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436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8C9E8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D00620-1872-40D4-943D-0E06CC452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MCP з’єднує AI-клієнт з інструментами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fff42f7fea4d74"/>
          <a:stretch xmlns:a="http://schemas.openxmlformats.org/drawingml/2006/main"/>
        </p:blipFill>
        <p:spPr>
          <a:xfrm xmlns:a="http://schemas.openxmlformats.org/drawingml/2006/main">
            <a:off x="857250" y="1809750"/>
            <a:ext cx="2000250" cy="20002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E271EB-D449-466E-89ED-F682A9AA8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809750"/>
            <a:ext cx="2857500" cy="18097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444BD0"/>
          </a:solidFill>
          <a:ln xmlns:a="http://schemas.openxmlformats.org/drawingml/2006/main" w="11430">
            <a:solidFill>
              <a:srgbClr val="444BD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2FECA9-A786-4F22-AEA7-EDBEF2ECF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809750"/>
            <a:ext cx="2857500" cy="18097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6676E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81FC4C-5356-49B0-899D-466A9F31A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19075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325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Клієнт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E9B6CA-1143-405C-85D3-E62E505DD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78130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Claude Desktop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893EEA-2B62-4FDE-BA3B-39512974F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19075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Сервер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5DC0C6-6E29-42BE-9B6E-177ADB88B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78130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наші 5 інструментів</a:t>
            </a:r>
          </a:p>
        </p:txBody>
      </p:sp>
      <p:cxnSp>
        <p:nvCxnSpPr>
          <p:cNvPr id="28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6381750" y="2714625"/>
            <a:ext cx="16192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D6F134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0F85B3-49A1-4578-BBA4-6CF931BD8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905250"/>
            <a:ext cx="36195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6F13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СТАНДАРТНИЙ ПРОТОКОЛ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471784-7D50-4943-B6D5-C634CEFB6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762500"/>
            <a:ext cx="8096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Клієнт бачить назву, опис, аргументи та результат кожного інструмента</a:t>
            </a:r>
          </a:p>
        </p:txBody>
      </p:sp>
    </p:spTree>
    <p:extLst>
      <p:ext uri="{BB962C8B-B14F-4D97-AF65-F5344CB8AC3E}">
        <p14:creationId xmlns:p14="http://schemas.microsoft.com/office/powerpoint/2010/main" val="137269721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F0F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BB34BE5-A0D2-4A2A-9327-1E2704019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1B4406-1594-46BB-86C0-EDA078A14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572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3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30CA3E-AB2E-4C13-8288-13CDF894F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31718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14A2AA-6B5F-4C59-B3A3-C014B0374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436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8C9E8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FCA1D3-469B-48E9-A57B-B8278842D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Модель, агент і інструменти мають різні ролі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EF6C67-A2C6-456E-909E-FBE7C574D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52625"/>
            <a:ext cx="2857500" cy="2428875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57BBB1-BA7B-4C83-A7B9-D1E09FA20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907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181BF3-0C25-4D5F-99A8-0EDC264A3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00275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E6EAEE-B4AB-4B85-B416-CD2078E62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62250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Модель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2C6F28-DFFB-47C5-B7B3-4A9759A3D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81375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вирішує, що робити далі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EE1EDB-1ECD-458D-BD90-814A3A954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952625"/>
            <a:ext cx="2857500" cy="2428875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444BD0"/>
          </a:solidFill>
          <a:ln xmlns:a="http://schemas.openxmlformats.org/drawingml/2006/main" w="11430">
            <a:solidFill>
              <a:srgbClr val="444BD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B00081-4854-43CB-9AA4-8402A12B4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21907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3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7B4F9A-08B7-45BC-98B5-FD1C8F87B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2200275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7DFD77-CCBC-4B32-B088-2D67DA4A3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2762250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Агентний цикл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EE22CC-A28C-4385-BB6A-110BEA3B9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3381375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викликає функцію та читає результат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A37964-41C9-49C0-B683-4208AB07D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952625"/>
            <a:ext cx="2857500" cy="2428875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996813-7F0A-4223-B3E6-8F7D023BF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1907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FC9AFD-9EBE-47D9-878F-B15F57458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200275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18231C-2872-4DB0-9DC5-18035BB45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762250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Інструмент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05590AC-96C1-4205-9C6B-26F95EAA4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381375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детерміновано виконує одну дію</a:t>
            </a:r>
          </a:p>
        </p:txBody>
      </p:sp>
      <p:cxnSp>
        <p:nvCxnSpPr>
          <p:cNvPr id="44" name=""/>
          <p:cNvCxnSpPr>
            <a:stCxn xmlns:a="http://schemas.openxmlformats.org/drawingml/2006/main" id="6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3619500" y="3167063"/>
            <a:ext cx="714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6F134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45" name=""/>
          <p:cNvCxnSpPr>
            <a:stCxn xmlns:a="http://schemas.openxmlformats.org/drawingml/2006/main" id="11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7191375" y="3167063"/>
            <a:ext cx="714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6F134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9B2E220-1A88-4B28-82D0-7D1C45D97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095875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1">
                <a:solidFill>
                  <a:srgbClr val="D6F13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D6F134"/>
                </a:solidFill>
                <a:latin typeface="Arial"/>
                <a:ea typeface="Arial"/>
                <a:cs typeface="Arial"/>
              </a:rPr>
              <a:t>У коді ми пишемо інструменти. Послідовність обирає Claude</a:t>
            </a:r>
          </a:p>
        </p:txBody>
      </p:sp>
    </p:spTree>
    <p:extLst>
      <p:ext uri="{BB962C8B-B14F-4D97-AF65-F5344CB8AC3E}">
        <p14:creationId xmlns:p14="http://schemas.microsoft.com/office/powerpoint/2010/main" val="67753651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F0F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E55E5FE-06CB-4C74-87E9-5B5C38E92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5DE7BB-7B49-43FA-AC8C-EECD7D347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572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3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1BF1FF-A710-4974-B9B8-A4A6386A0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3524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E39DAB-48D1-451B-8F32-B22684626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436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8C9E8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CD5680-D5E4-48F0-B533-13345052B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Доступ до даних проходить через MCP-сервер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AD2526-72F0-45CD-BC6C-C680550F9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0250"/>
            <a:ext cx="1952625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444BD0"/>
          </a:solidFill>
          <a:ln xmlns:a="http://schemas.openxmlformats.org/drawingml/2006/main" w="11430">
            <a:solidFill>
              <a:srgbClr val="444BD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A69917-7010-45B0-86C4-A64944F21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714500"/>
            <a:ext cx="2857500" cy="20002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6676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1C553B-FBF1-4D51-8264-5823D04DE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333500"/>
            <a:ext cx="3048000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6676E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064D09-7172-4C55-8DDC-B251C44B7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333750"/>
            <a:ext cx="3048000" cy="11430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F46428-7C7E-4244-9C61-1550CC78E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572000"/>
            <a:ext cx="2857500" cy="1000125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5F5FA"/>
          </a:solidFill>
          <a:ln xmlns:a="http://schemas.openxmlformats.org/drawingml/2006/main" w="11430">
            <a:solidFill>
              <a:srgbClr val="C8C9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A1BDE0-3B19-426A-8903-6D601C4B6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62200"/>
            <a:ext cx="1381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Людина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+ Claude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021F92-8560-4AAD-AE81-8A2A125E1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00025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MCP-сервер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F9E070-A9DB-492E-9F8A-13C901D11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667000"/>
            <a:ext cx="2095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5 інструментів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575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перевірки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575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журнал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057C46-3696-4BC5-B347-0F629CD72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666875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PostgreSQL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5CEE22-DE43-4364-9EFE-8B43CABF3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1717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0">
                <a:solidFill>
                  <a:srgbClr val="D6F13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D6F134"/>
                </a:solidFill>
                <a:latin typeface="Arial"/>
                <a:ea typeface="Arial"/>
                <a:cs typeface="Arial"/>
              </a:rPr>
              <a:t>read-only роль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AF7D08-AF09-4389-A1DF-7573A902B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61950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ML-модель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50AD9E1-D365-4823-ABE8-8641335AD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0576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готовий model.pkl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3B7436-CC59-46AD-8747-AC9AB2C29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85775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HTML-звіт</a:t>
            </a:r>
          </a:p>
        </p:txBody>
      </p:sp>
      <p:cxnSp>
        <p:nvCxnSpPr>
          <p:cNvPr id="42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619375" y="2714625"/>
            <a:ext cx="10953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6F134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43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6572250" y="2047875"/>
            <a:ext cx="1333500" cy="6667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9EA7FF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44" name=""/>
          <p:cNvCxnSpPr>
            <a:stCxn xmlns:a="http://schemas.openxmlformats.org/drawingml/2006/main" id="7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6572250" y="2714625"/>
            <a:ext cx="1333500" cy="11906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9EA7FF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45" name=""/>
          <p:cNvCxnSpPr>
            <a:stCxn xmlns:a="http://schemas.openxmlformats.org/drawingml/2006/main" id="7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5143500" y="3714750"/>
            <a:ext cx="0" cy="8572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9EA7FF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9E4B273-E919-444A-BA28-28AC9E128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095875"/>
            <a:ext cx="447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>
                <a:solidFill>
                  <a:srgbClr val="D6F13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D6F134"/>
                </a:solidFill>
                <a:latin typeface="Arial"/>
                <a:ea typeface="Arial"/>
                <a:cs typeface="Arial"/>
              </a:rPr>
              <a:t>Пароль від бази зберігається на сервері, а не в чаті</a:t>
            </a:r>
          </a:p>
        </p:txBody>
      </p:sp>
    </p:spTree>
    <p:extLst>
      <p:ext uri="{BB962C8B-B14F-4D97-AF65-F5344CB8AC3E}">
        <p14:creationId xmlns:p14="http://schemas.microsoft.com/office/powerpoint/2010/main" val="89372712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F0F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E7459E7-4ECA-45C8-AD99-C4B71F803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9069EB-61B9-416C-B89A-4BC44AB06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572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3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78FC8A-63A6-4A35-8FA6-9C10787F2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38766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CB7841-D659-4A50-A965-D575244FD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436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8C9E8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F939A2-6AD9-41FA-AAFD-4F0E48C72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Один запит проходить шість видимих кроків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0878E9-901D-43FE-A7FC-BEA75857F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286000"/>
            <a:ext cx="1619250" cy="1619250"/>
          </a:xfrm>
          <a:prstGeom xmlns:a="http://schemas.openxmlformats.org/drawingml/2006/main" prst="roundRect">
            <a:avLst>
              <a:gd name="adj" fmla="val 10588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105462-774A-46F8-8842-7837EC28B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4574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FCAC5F-590D-4260-88C0-26038FB31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466975"/>
            <a:ext cx="266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A8A3C4-45B4-4EA3-8F73-B93EF3169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00375"/>
            <a:ext cx="133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Питання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D8FB25-9C6E-47B2-8D29-B9CEF0911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2286000"/>
            <a:ext cx="1619250" cy="1619250"/>
          </a:xfrm>
          <a:prstGeom xmlns:a="http://schemas.openxmlformats.org/drawingml/2006/main" prst="roundRect">
            <a:avLst>
              <a:gd name="adj" fmla="val 10588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A7FE3E-A91A-40A8-9B30-DDF2BD838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4574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A21378-3308-444B-8B64-777D2B0D8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466975"/>
            <a:ext cx="266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D3AC94-76DF-4FA7-9BC2-A58CC96B6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000375"/>
            <a:ext cx="133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Список таблиць</a:t>
            </a:r>
          </a:p>
        </p:txBody>
      </p:sp>
      <p:cxnSp>
        <p:nvCxnSpPr>
          <p:cNvPr id="49" name=""/>
          <p:cNvCxnSpPr>
            <a:stCxn xmlns:a="http://schemas.openxmlformats.org/drawingml/2006/main" id="6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2238375" y="3095625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6F134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565059-344E-4871-8FCD-5D400859E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2286000"/>
            <a:ext cx="1619250" cy="1619250"/>
          </a:xfrm>
          <a:prstGeom xmlns:a="http://schemas.openxmlformats.org/drawingml/2006/main" prst="roundRect">
            <a:avLst>
              <a:gd name="adj" fmla="val 10588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2A9915-5290-490B-A6BB-0C440E1FD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4574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886C5B-C0A9-4170-A1B7-65C9D2688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466975"/>
            <a:ext cx="266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1FF3DC-C100-4B68-811D-BE9066E8C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000375"/>
            <a:ext cx="133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Опис схеми</a:t>
            </a:r>
          </a:p>
        </p:txBody>
      </p:sp>
      <p:cxnSp>
        <p:nvCxnSpPr>
          <p:cNvPr id="54" name=""/>
          <p:cNvCxnSpPr>
            <a:stCxn xmlns:a="http://schemas.openxmlformats.org/drawingml/2006/main" id="10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4162425" y="3095625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6F134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AB74CC-62B5-4C45-8A17-7240D72D5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286000"/>
            <a:ext cx="1619250" cy="1619250"/>
          </a:xfrm>
          <a:prstGeom xmlns:a="http://schemas.openxmlformats.org/drawingml/2006/main" prst="roundRect">
            <a:avLst>
              <a:gd name="adj" fmla="val 10588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9E325E-240E-4FA0-933E-ECA86DCDB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24574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C6035CF-D282-49B8-A4BE-CF4A01082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2466975"/>
            <a:ext cx="266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B07F054-363D-46B4-B185-137B94185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000375"/>
            <a:ext cx="133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SELECT</a:t>
            </a:r>
          </a:p>
        </p:txBody>
      </p:sp>
      <p:cxnSp>
        <p:nvCxnSpPr>
          <p:cNvPr id="59" name=""/>
          <p:cNvCxnSpPr>
            <a:stCxn xmlns:a="http://schemas.openxmlformats.org/drawingml/2006/main" id="15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6086475" y="3095625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6F134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289785E-AE0C-4A11-ABC8-24A83DC6B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2286000"/>
            <a:ext cx="1619250" cy="1619250"/>
          </a:xfrm>
          <a:prstGeom xmlns:a="http://schemas.openxmlformats.org/drawingml/2006/main" prst="roundRect">
            <a:avLst>
              <a:gd name="adj" fmla="val 10588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588CB9A-66F7-46E1-A83A-909786E23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24574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2099786-1F61-4DEB-A906-986B746B1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2466975"/>
            <a:ext cx="266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F3E5A63-0962-424C-826B-EAB146C2B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000375"/>
            <a:ext cx="133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Результат</a:t>
            </a:r>
          </a:p>
        </p:txBody>
      </p:sp>
      <p:cxnSp>
        <p:nvCxnSpPr>
          <p:cNvPr id="64" name=""/>
          <p:cNvCxnSpPr>
            <a:stCxn xmlns:a="http://schemas.openxmlformats.org/drawingml/2006/main" id="20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8010525" y="3095625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6F134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44DAA72-F218-4C68-855F-2CC09B66D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2286000"/>
            <a:ext cx="1619250" cy="1619250"/>
          </a:xfrm>
          <a:prstGeom xmlns:a="http://schemas.openxmlformats.org/drawingml/2006/main" prst="roundRect">
            <a:avLst>
              <a:gd name="adj" fmla="val 10588"/>
            </a:avLst>
          </a:prstGeom>
          <a:solidFill xmlns:a="http://schemas.openxmlformats.org/drawingml/2006/main">
            <a:srgbClr val="444BD0"/>
          </a:solidFill>
          <a:ln xmlns:a="http://schemas.openxmlformats.org/drawingml/2006/main" w="11430">
            <a:solidFill>
              <a:srgbClr val="444BD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F7FAECC-82F4-4367-8C4B-AA1381D94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24574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3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E57B1BE-1B9A-47A4-93F2-5F8BA9941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2466975"/>
            <a:ext cx="266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4DD0B79-98D3-4B2B-AB6E-3E3D70AB3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000375"/>
            <a:ext cx="133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Пояснення</a:t>
            </a:r>
          </a:p>
        </p:txBody>
      </p:sp>
      <p:cxnSp>
        <p:nvCxnSpPr>
          <p:cNvPr id="69" name=""/>
          <p:cNvCxnSpPr>
            <a:stCxn xmlns:a="http://schemas.openxmlformats.org/drawingml/2006/main" id="25" idx="3"/>
            <a:endCxn xmlns:a="http://schemas.openxmlformats.org/drawingml/2006/main" id="30" idx="1"/>
          </p:cNvCxnSpPr>
          <p:nvPr/>
        </p:nvCxnSpPr>
        <p:spPr>
          <a:xfrm xmlns:a="http://schemas.openxmlformats.org/drawingml/2006/main">
            <a:off x="9934575" y="3095625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6F134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BBA7A5B-EB04-4A5B-B625-FF54B63FB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762500"/>
            <a:ext cx="838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950" b="1">
                <a:solidFill>
                  <a:srgbClr val="D6F134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D6F134"/>
                </a:solidFill>
                <a:latin typeface="Arial"/>
                <a:ea typeface="Arial"/>
                <a:cs typeface="Arial"/>
              </a:rPr>
              <a:t>Кожен виклик можна розгорнути й перевірити в інтерфейсі Claude</a:t>
            </a:r>
          </a:p>
        </p:txBody>
      </p:sp>
    </p:spTree>
    <p:extLst>
      <p:ext uri="{BB962C8B-B14F-4D97-AF65-F5344CB8AC3E}">
        <p14:creationId xmlns:p14="http://schemas.microsoft.com/office/powerpoint/2010/main" val="15818141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F0F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BED48D0-2D44-4B2D-885F-D3B9864BE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2BE6E0-9C77-4D0F-8961-AEB222518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572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3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C5E7B5-EADD-4C26-A53B-0C1FEDCA3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4229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7BD1E7-6967-44DC-8791-1A3F18464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436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8C9E8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8584B8-D553-42A9-9EDD-5B3F2017E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П’ять інструментів: від схеми до прогнозу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675110-BEB9-4FBC-9CB3-665D61E65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00"/>
            <a:ext cx="2095500" cy="25717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C27E87-0F7F-49E2-877C-77880FADB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145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80A29C-9415-401D-8B19-F24D07116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24075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CBD09A-B80E-4B5F-A9E9-E69166B61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09875"/>
            <a:ext cx="175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list_tables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8DC261-852A-4775-A9F4-C29F0AA57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71875"/>
            <a:ext cx="175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що 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775A8C-B8D0-4EFB-93ED-A7741F6DD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1905000"/>
            <a:ext cx="2095500" cy="25717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1DD406-649A-4E13-8D58-8154BA0BE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145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CE200D-94D4-4EEF-B441-916036465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24075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586EA6-B5DB-459A-8034-B3516DE94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809875"/>
            <a:ext cx="175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describe_table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4619EB-FDF5-4BA1-9423-EF604804C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571875"/>
            <a:ext cx="175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як влаштовано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E74FE5-4955-4DE8-9441-AC80AFA73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1905000"/>
            <a:ext cx="2095500" cy="25717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444BD0"/>
          </a:solidFill>
          <a:ln xmlns:a="http://schemas.openxmlformats.org/drawingml/2006/main" w="11430">
            <a:solidFill>
              <a:srgbClr val="444BD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ECAFEB-F2BA-4ACB-995B-738163216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1145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3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7C445C2-531D-49B3-AA6B-8985A62B7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124075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2B7DD1E-4401-48FC-A697-3C9856805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809875"/>
            <a:ext cx="175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run_sql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7BE924-71CB-4B3C-8164-FC1A2C6E7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571875"/>
            <a:ext cx="175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прочитати дані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C4628C7-3E92-4516-AEEF-21EFB6390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1905000"/>
            <a:ext cx="2095500" cy="25717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07B5D23-A3C2-42D9-B24C-F4C842E9E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1145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3A47F38-8D45-47C4-A3BF-12D37EBED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124075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BF23EC9-9BF4-4B34-87FC-3812D66A8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809875"/>
            <a:ext cx="175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save_report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C124015-8F66-4794-A59C-D1AA35DB8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571875"/>
            <a:ext cx="175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зберегти HTML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964BB4F-0A18-4098-A6DE-D76B423FE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1905000"/>
            <a:ext cx="2095500" cy="25717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E69A02C-508D-41D2-A5D8-D24FFDA8D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1145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9CDD0C7-4BAC-4C6C-950F-0C5059377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124075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155CDDE-ECA2-44FD-BAB7-6DB5B8D35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809875"/>
            <a:ext cx="175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predict_churn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E268C16-41D4-4F4F-9363-9B6969EE7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3571875"/>
            <a:ext cx="175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оцінити ризик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2C4235A-ADD0-461A-8911-D894BFB5F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095875"/>
            <a:ext cx="914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D6F13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D6F134"/>
                </a:solidFill>
                <a:latin typeface="Arial"/>
                <a:ea typeface="Arial"/>
                <a:cs typeface="Arial"/>
              </a:rPr>
              <a:t>Окремого інструмента «побудувати графік» навмисно немає</a:t>
            </a:r>
          </a:p>
        </p:txBody>
      </p:sp>
    </p:spTree>
    <p:extLst>
      <p:ext uri="{BB962C8B-B14F-4D97-AF65-F5344CB8AC3E}">
        <p14:creationId xmlns:p14="http://schemas.microsoft.com/office/powerpoint/2010/main" val="24739517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F0F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C51114-5B88-4477-835F-E529DBE4F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C64156-B91B-4FE8-A094-019343C7F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572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3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9A7E32-536E-4217-B7E9-B06865DBE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45815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33AE9F-4C8B-4286-9607-0209F71C0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436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8C9E8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2FB424-5D9B-4AED-8267-B1C673093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Docstring пояснює моделі, коли викликати інструмент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2D4B7D-B77E-4280-82EC-777E4BCF5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6572250" cy="361950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131348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FA9011-9FFE-407C-81EE-D8A28A785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752600"/>
            <a:ext cx="857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6F13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PYTHON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384044-B69D-4E5D-9D60-EC7F150D5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33600"/>
            <a:ext cx="61912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def run_sql(query: str, limit: int = 200):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   """Виконує лише SELECT-запит.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   Спершу перевір схему таблиці.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   Повертає колонки, рядки й ознаку truncation.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   """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435A78-DEC3-4C77-A935-AE523E70D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1952625"/>
            <a:ext cx="3143250" cy="26670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444BD0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C31CF0-77DC-4612-B1D5-BC6213764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124075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КЛЮЧОВА ІДЕЯ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A81F5B-AE7E-43D9-A448-972D4225E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486025"/>
            <a:ext cx="276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Опис = інтерфейс для AI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B23172-0133-4D47-8CA8-2DA413B46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114675"/>
            <a:ext cx="2762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Назва функції замала. Модель читає призначення, обмеження та формат результату.</a:t>
            </a:r>
          </a:p>
        </p:txBody>
      </p:sp>
    </p:spTree>
    <p:extLst>
      <p:ext uri="{BB962C8B-B14F-4D97-AF65-F5344CB8AC3E}">
        <p14:creationId xmlns:p14="http://schemas.microsoft.com/office/powerpoint/2010/main" val="164074695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F0F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C1BDBC-0E3F-4829-B18B-B89BFDABF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C429A7-C684-4449-98B2-771B3F0C1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572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3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049286-7274-4EA9-928C-6A61E61D7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4933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B2C6B0-65A8-45AF-8366-D02A22875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436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8C9E8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8C630E-A642-460B-998E-A5F0CC67F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Знання про дані живуть поруч із даними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886DB9-24EA-4FCE-8A18-C787A5023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6096000" cy="2381250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131348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CA449A-B944-4D71-9EAF-94A02FAB4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943100"/>
            <a:ext cx="1238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6F13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POSTGRESQL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55835D-AA92-45A4-8D24-31D8C500D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24100"/>
            <a:ext cx="5715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COMMENT ON COLUMN lessons.status IS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'completed — урок відбувся;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cancelled_by_parent — не рахувати як проведений';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83E0D2-D14B-487D-8AC4-264969519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809750"/>
            <a:ext cx="3143250" cy="23812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5F5FA"/>
          </a:solidFill>
          <a:ln xmlns:a="http://schemas.openxmlformats.org/drawingml/2006/main" w="11430">
            <a:solidFill>
              <a:srgbClr val="C8C9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C81D20-8719-4F88-A4A7-7FB4FF266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143125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75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describe_table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196E74-A08C-4BCB-B18A-CB0F27EE7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857500"/>
            <a:ext cx="2476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25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повертає коментар моделі разом із типами, зв’язками та прикладами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BE9FBB-E889-4E06-9F17-B826EA5CB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905375"/>
            <a:ext cx="723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1">
                <a:solidFill>
                  <a:srgbClr val="D6F13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D6F134"/>
                </a:solidFill>
                <a:latin typeface="Arial"/>
                <a:ea typeface="Arial"/>
                <a:cs typeface="Arial"/>
              </a:rPr>
              <a:t>Менше прихованих правил у промпті</a:t>
            </a:r>
          </a:p>
        </p:txBody>
      </p:sp>
    </p:spTree>
    <p:extLst>
      <p:ext uri="{BB962C8B-B14F-4D97-AF65-F5344CB8AC3E}">
        <p14:creationId xmlns:p14="http://schemas.microsoft.com/office/powerpoint/2010/main" val="107312425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F0F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B5115B-A640-459C-8214-E120DC545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8EEAA1-C795-4E24-8B17-D366B6F54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572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3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886848-4333-41BB-B4EC-16BF164A3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52863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96049D-C590-4F32-891C-32AA1052C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436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8C9E8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F67919-51A0-4ADD-95DE-82CD0A7EC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Три шари не дають агенту зіпсувати базу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3954CC-3E4E-46D0-966D-DE5D421B6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52625"/>
            <a:ext cx="3143250" cy="23812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577457-00F9-432F-B32D-E9A32C248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24075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6676E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676EC"/>
                </a:solidFill>
                <a:latin typeface="Arial"/>
                <a:ea typeface="Arial"/>
                <a:cs typeface="Arial"/>
              </a:rPr>
              <a:t>ШАР 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573F90-3C48-4FB6-8041-E6AC77A81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86025"/>
            <a:ext cx="276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SQL guard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F187B6-F40F-4D55-8BDE-E9DEDE39F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38500"/>
            <a:ext cx="27622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пропускає SELECT і WITH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EAF71F-FD6E-4703-9EF6-45E629A64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952625"/>
            <a:ext cx="3143250" cy="23812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444BD0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3606B0-23FD-4A9C-BE75-47E208DA5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124075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ШАР 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F48FB0-4C0C-46F6-B38E-E2FDCA611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486025"/>
            <a:ext cx="276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read-only роль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7A13DC-8C90-4315-8481-FCEDEE3BC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238500"/>
            <a:ext cx="27622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PostgreSQL відхиляє запис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95F461-8F83-49BC-AB3E-C0A638499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952625"/>
            <a:ext cx="3143250" cy="23812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D6F74A-791B-4605-A38A-33D3CFBA7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124075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6676E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676EC"/>
                </a:solidFill>
                <a:latin typeface="Arial"/>
                <a:ea typeface="Arial"/>
                <a:cs typeface="Arial"/>
              </a:rPr>
              <a:t>ШАР 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14275F-4DEC-4332-83F3-34B6A3831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486025"/>
            <a:ext cx="276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audit_log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448DF2-6794-444B-BBDE-E341F165E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38500"/>
            <a:ext cx="27622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зберігає успіхи й помилки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EF4E1A-6951-4573-ACDB-4B42762FB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048250"/>
            <a:ext cx="9525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D6F13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D6F134"/>
                </a:solidFill>
                <a:latin typeface="Arial"/>
                <a:ea typeface="Arial"/>
                <a:cs typeface="Arial"/>
              </a:rPr>
              <a:t>Справжній бар’єр — права бази, а guard дає зрозумілу помилку раніше</a:t>
            </a:r>
          </a:p>
        </p:txBody>
      </p:sp>
    </p:spTree>
    <p:extLst>
      <p:ext uri="{BB962C8B-B14F-4D97-AF65-F5344CB8AC3E}">
        <p14:creationId xmlns:p14="http://schemas.microsoft.com/office/powerpoint/2010/main" val="9308455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F0F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401321F-C732-447E-A550-12F96D6FE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6681E0-6713-4020-A8F1-3AB9FDA53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572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3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9218D2-5458-4B3C-A777-45B4722EB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5638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5FD128-87B3-48C0-9F9C-825C8444C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436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8C9E8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0F6CF6-A8A2-45DE-9905-82F7EC275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Карта репозиторію: де що лежить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A9C8A6-ED54-411A-AC8D-1DBCEF2C1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6762750" cy="4429125"/>
          </a:xfrm>
          <a:prstGeom xmlns:a="http://schemas.openxmlformats.org/drawingml/2006/main" prst="roundRect">
            <a:avLst>
              <a:gd name="adj" fmla="val 3441"/>
            </a:avLst>
          </a:prstGeom>
          <a:solidFill xmlns:a="http://schemas.openxmlformats.org/drawingml/2006/main">
            <a:srgbClr val="131348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8C4182-26D7-4254-A142-145BBCD29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62100"/>
            <a:ext cx="8382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6F13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ПАПКИ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28F573-B219-4CC3-864F-B57D1AD4E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43100"/>
            <a:ext cx="6381750" cy="3762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data-analyst-agent/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├─ server/        MCP-сервер та інструменти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├─ db/            схема, роль, демо-дані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├─ ml/            навчання й model.pkl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├─ tests/         перевірки поведінки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├─ docs/          setup, deploy, next steps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├─ deploy/        Dockerfile і старт у хмарі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├─ docker-compose.yml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└─ railway.toml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0B0492-DBA1-4FC2-AED2-5C345DC54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19250"/>
            <a:ext cx="3333750" cy="1123950"/>
          </a:xfrm>
          <a:prstGeom xmlns:a="http://schemas.openxmlformats.org/drawingml/2006/main" prst="roundRect">
            <a:avLst>
              <a:gd name="adj" fmla="val 16949"/>
            </a:avLst>
          </a:prstGeom>
          <a:solidFill xmlns:a="http://schemas.openxmlformats.org/drawingml/2006/main">
            <a:srgbClr val="444BD0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6505D6-115A-4796-BD73-D538ABE57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885950"/>
            <a:ext cx="295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server/main.py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CA27F8-F1A1-4D4C-AACE-4778F6A58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66950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реєструє 5 tools, обирає transport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4D7197-450F-457B-BEBF-2BB0A7B65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000375"/>
            <a:ext cx="3333750" cy="1123950"/>
          </a:xfrm>
          <a:prstGeom xmlns:a="http://schemas.openxmlformats.org/drawingml/2006/main" prst="roundRect">
            <a:avLst>
              <a:gd name="adj" fmla="val 16949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EBD479-26A6-4964-B4D6-EEC46CED0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267075"/>
            <a:ext cx="295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server/db.py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6F7AFE-9F75-4E85-9A9E-40FB0A2FF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648075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пул з’єднань, guard, помилки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E5359B-D4CD-454C-B174-6F822BC58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381500"/>
            <a:ext cx="3333750" cy="1123950"/>
          </a:xfrm>
          <a:prstGeom xmlns:a="http://schemas.openxmlformats.org/drawingml/2006/main" prst="roundRect">
            <a:avLst>
              <a:gd name="adj" fmla="val 16949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762D53-C50B-4E6C-B78F-391020BCC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648200"/>
            <a:ext cx="295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server/features.py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21C1B6-DDE3-4BF6-A244-D6F0C5D82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029200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єдине джерело ML-ознак</a:t>
            </a:r>
          </a:p>
        </p:txBody>
      </p:sp>
    </p:spTree>
    <p:extLst>
      <p:ext uri="{BB962C8B-B14F-4D97-AF65-F5344CB8AC3E}">
        <p14:creationId xmlns:p14="http://schemas.microsoft.com/office/powerpoint/2010/main" val="166359798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F0F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19B18E1-BD5F-469D-8BDB-84A09DC79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28F452-2535-4BA0-99C2-B909DC7BA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572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3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6542CE-995A-471A-B398-07A4B0858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59912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BBE737-7E49-42C2-8147-4453D35CF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436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8C9E8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ABD128-4585-41BF-9572-5923DB08B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Чотири таблиці описують навчальний процес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6C8DA7-E840-4303-8928-98C3FCF02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81250"/>
            <a:ext cx="2286000" cy="11430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444BD0"/>
          </a:solidFill>
          <a:ln xmlns:a="http://schemas.openxmlformats.org/drawingml/2006/main" w="11430">
            <a:solidFill>
              <a:srgbClr val="444BD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46EB0F-BA52-4A9C-A86A-3E2C2BB32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381250"/>
            <a:ext cx="2286000" cy="11430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6676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F2B73D-707C-4D58-A8C7-E9746F724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714500"/>
            <a:ext cx="2286000" cy="11430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6676E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E1E940-DB61-4B1F-9DC4-AE74478E1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714500"/>
            <a:ext cx="1905000" cy="11430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148E59-D028-4518-9736-B1778E446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6479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students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84E522-FA27-4F97-943E-A0692542E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051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учень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CE53E2-7A6E-4976-9961-9059D57AE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6479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subscriptions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A1CCA6-542E-409A-9875-65819A566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1051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план занять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55CB9D-B7C5-439B-A9A3-7023F2B6E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9812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lessons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2E81E2-3BA7-4773-B13B-897BAF7C9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4384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уроки й статуси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8B814F-BB5A-418D-8A8F-161C4CCA9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98120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tutors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7759C6-69F6-4517-B867-4667F751D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4384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викладачі</a:t>
            </a:r>
          </a:p>
        </p:txBody>
      </p:sp>
      <p:cxnSp>
        <p:nvCxnSpPr>
          <p:cNvPr id="39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143250" y="2952750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6F134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40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6000750" y="2286000"/>
            <a:ext cx="571500" cy="6667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8575">
            <a:solidFill>
              <a:srgbClr val="9EA7FF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41" name=""/>
          <p:cNvCxnSpPr>
            <a:stCxn xmlns:a="http://schemas.openxmlformats.org/drawingml/2006/main" id="9" idx="1"/>
            <a:endCxn xmlns:a="http://schemas.openxmlformats.org/drawingml/2006/main" id="8" idx="3"/>
          </p:cNvCxnSpPr>
          <p:nvPr/>
        </p:nvCxnSpPr>
        <p:spPr>
          <a:xfrm xmlns:a="http://schemas.openxmlformats.org/drawingml/2006/main" flipH="1">
            <a:off x="8858250" y="2286000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9EA7FF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2C0FDA0-6D62-4169-9C0C-E14BB1510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476750"/>
            <a:ext cx="914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Один учень має підписку, підписка має уроки, урок проводить репетитор</a:t>
            </a:r>
          </a:p>
        </p:txBody>
      </p:sp>
    </p:spTree>
    <p:extLst>
      <p:ext uri="{BB962C8B-B14F-4D97-AF65-F5344CB8AC3E}">
        <p14:creationId xmlns:p14="http://schemas.microsoft.com/office/powerpoint/2010/main" val="463606521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F0F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37CF0D-CCCD-49DF-B7B0-34D127F20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83F94F-492D-4729-B37D-43759346A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572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3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E606F2-517A-43A0-AB09-D3417F276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6343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2E5F13-3229-4B58-A2B5-6FCAD3697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436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8C9E8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A26F36-C44B-46EB-997B-3E9D10556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Платежі, підтримка й аудит доповнюють картину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60B91E-F231-4C77-8482-1A4BB9711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3143250" cy="2857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6FB126-C652-4768-BABA-89564F7E8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8120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6676E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676EC"/>
                </a:solidFill>
                <a:latin typeface="Arial"/>
                <a:ea typeface="Arial"/>
                <a:cs typeface="Arial"/>
              </a:rPr>
              <a:t>ТАБЛИЦЯ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E762D5-BCAB-4142-9930-601FF9774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43150"/>
            <a:ext cx="276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payments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CB06FA-DB6A-4C28-8A07-E6EC47E0C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00375"/>
            <a:ext cx="2762250" cy="1495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успішні й невдалі списання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575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90 днів для churn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FD9554-C714-4732-9FFC-F3BC1D2A9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809750"/>
            <a:ext cx="3143250" cy="2857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D13B99-EAE7-4AA1-B13C-AAAA71368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198120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6676E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676EC"/>
                </a:solidFill>
                <a:latin typeface="Arial"/>
                <a:ea typeface="Arial"/>
                <a:cs typeface="Arial"/>
              </a:rPr>
              <a:t>ТАБЛИЦЯ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3AF606-0924-47F4-8029-1C3CB9840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343150"/>
            <a:ext cx="276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support_tickets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4E0CA5-47C0-4222-BE8E-5CD2C4DFB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000375"/>
            <a:ext cx="2762250" cy="1495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звернення учня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575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сигнал незадоволення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CFC375-F654-4741-B28C-C264E0978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809750"/>
            <a:ext cx="3143250" cy="2857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444BD0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C6D058-FC7D-4799-9EAB-DE9B0CBC4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98120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ТАБЛИЦЯ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FBDCDF-06B2-4999-8EE5-EA9EE4A59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343150"/>
            <a:ext cx="276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audit_log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9F5B55-3A13-4AEC-8228-172E939FE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000375"/>
            <a:ext cx="2762250" cy="1495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всі виклики MCP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575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хто, що, коли, результат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178E48-918E-41B6-BB19-C4F03CBE6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238750"/>
            <a:ext cx="514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D6F134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D6F134"/>
                </a:solidFill>
                <a:latin typeface="Arial"/>
                <a:ea typeface="Arial"/>
                <a:cs typeface="Arial"/>
              </a:rPr>
              <a:t>Разом у демо 7 таблиць</a:t>
            </a:r>
          </a:p>
        </p:txBody>
      </p:sp>
    </p:spTree>
    <p:extLst>
      <p:ext uri="{BB962C8B-B14F-4D97-AF65-F5344CB8AC3E}">
        <p14:creationId xmlns:p14="http://schemas.microsoft.com/office/powerpoint/2010/main" val="1981012252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F0F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06F96B-7BDC-401C-8E11-99C2A2590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03DF27-8797-4450-8757-76285BF3E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572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3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61956F-C39C-4657-90FB-732D79988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66960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D260F1-B5FD-4299-B155-642F9B43A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436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8C9E8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F3A520-F91C-4EBD-AA59-2D00F085F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Локально є два способи отримати базу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E071DA-0912-41E7-BE44-D6AF8EF30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809750"/>
            <a:ext cx="4762500" cy="3048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2EC709-AA0E-463F-9083-2DAC55248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9812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6676E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676EC"/>
                </a:solidFill>
                <a:latin typeface="Arial"/>
                <a:ea typeface="Arial"/>
                <a:cs typeface="Arial"/>
              </a:rPr>
              <a:t>НАЙШВИДШЕ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7EB477-D1FC-4FDA-8B6D-DCA501040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343150"/>
            <a:ext cx="4381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А. База від ведучої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8048F5-B21B-4B2F-9E75-A7A065709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286125"/>
            <a:ext cx="4381500" cy="1400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00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Вставити DATABASE_URL у .env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800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Docker не потрібен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6C57E3-D946-4378-B06E-8C230F2EA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809750"/>
            <a:ext cx="4762500" cy="3048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444BD0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596C30-D6DB-4FC5-855A-070B539A1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9812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БІЛЬШЕ КОНТРОЛЮ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993C0F-C5BC-4617-B86C-A93B11754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343150"/>
            <a:ext cx="4381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Б. Своя база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81AFF1-5368-4B48-A56F-F32F8A3E9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286125"/>
            <a:ext cx="4381500" cy="1400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00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Запустити Docker Desktop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800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Виконати make setup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5E51CC-0BB4-46AB-AB21-7E3C30AA3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5334000"/>
            <a:ext cx="771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D6F13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D6F134"/>
                </a:solidFill>
                <a:latin typeface="Arial"/>
                <a:ea typeface="Arial"/>
                <a:cs typeface="Arial"/>
              </a:rPr>
              <a:t>Обидва варіанти дають серверу однаковий DATABASE_URL</a:t>
            </a:r>
          </a:p>
        </p:txBody>
      </p:sp>
    </p:spTree>
    <p:extLst>
      <p:ext uri="{BB962C8B-B14F-4D97-AF65-F5344CB8AC3E}">
        <p14:creationId xmlns:p14="http://schemas.microsoft.com/office/powerpoint/2010/main" val="1754571529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0F0F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5646968-3252-40C5-BAF9-1C5389A90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F41537-CFB6-4F27-96B6-AE759C92F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572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3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64D24B-706D-43D4-8C5A-688229066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704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554334-7F0E-4083-BC84-DD9B8C07B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436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8C9E8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04A1AE-C17D-4368-B76E-930B82D09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Чотири етапи до першого локального запиту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8F4DAC-E03B-449B-8627-FAEEC7B51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2476500" cy="31432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62F9ED-44F8-42EC-898F-5D0533E99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526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1A01D8-2E9D-4379-85FF-EFFEA0FC4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62150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4042BD-4B2D-4833-8A85-65823DF44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71750"/>
            <a:ext cx="2057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Завантажити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005E3F-93B5-4F74-A5E0-6ED4228CB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29000"/>
            <a:ext cx="20574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425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git clone …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425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cd data-analyst-agent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C878C6-73FA-4A9A-A1BA-35BDAC7DF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714500"/>
            <a:ext cx="2476500" cy="31432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B7C9F1-97A2-4391-9AA2-D1920F96F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9526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E000D5-5997-4F2F-90FD-ADB44D306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962150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414022-C666-4FEA-AFF5-FC7EE12AB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571750"/>
            <a:ext cx="2057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Ізолювати Python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6F93BD-0200-4B75-8410-C2549142B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429000"/>
            <a:ext cx="20574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425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python3 -m venv .venv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425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pip install -e ".[dev]"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0B4484-019A-4E1B-BA5E-E48AD69CF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14500"/>
            <a:ext cx="2476500" cy="31432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B83F35-D5AC-4434-A0BA-3702C052F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9526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125FC9-15FD-494D-BD13-8C43A3426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962150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0EF1A8-7180-4B0E-A0AD-FC6EA5331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571750"/>
            <a:ext cx="2057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Підготувати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6EC5508-D89D-424B-A0D3-66D060D6E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429000"/>
            <a:ext cx="20574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425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make setup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425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make doctor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FC466B3-744B-4E24-8A4A-0C764AA8A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714500"/>
            <a:ext cx="2476500" cy="31432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444BD0"/>
          </a:solidFill>
          <a:ln xmlns:a="http://schemas.openxmlformats.org/drawingml/2006/main" w="11430">
            <a:solidFill>
              <a:srgbClr val="444BD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CA018C7-5B16-4305-9EDE-75C0A9367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9526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3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122D48A-AA74-4A64-91F3-81E2C7B5F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962150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92A4158-8A35-43B7-AD73-B0A7123E7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571750"/>
            <a:ext cx="2057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Підключити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3EA2CA9-65B4-4FEB-9BF2-33A35A0AE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429000"/>
            <a:ext cx="20574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425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make config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425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перезапустити Claude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C739DD4-D0E9-4D60-8CD0-3CDF8D6AD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5334000"/>
            <a:ext cx="600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D6F13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D6F134"/>
                </a:solidFill>
                <a:latin typeface="Arial"/>
                <a:ea typeface="Arial"/>
                <a:cs typeface="Arial"/>
              </a:rPr>
              <a:t>make — короткі назви для довгих команд</a:t>
            </a:r>
          </a:p>
        </p:txBody>
      </p:sp>
    </p:spTree>
    <p:extLst>
      <p:ext uri="{BB962C8B-B14F-4D97-AF65-F5344CB8AC3E}">
        <p14:creationId xmlns:p14="http://schemas.microsoft.com/office/powerpoint/2010/main" val="1549788804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0F0F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DC9FCC-F70D-4A10-BEDF-5CDDDD9BD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C3C3D4-A8D6-4DC7-B283-0AE6C6E4F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572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3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1A0BDF-1C9E-4565-B738-FF2245406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74009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4333D3-C0BA-42A4-B8CA-1F183DDAD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436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8C9E8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193E54-7C36-47C9-9768-F3232C719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809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6F13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LIVE DEMO · 7 ХВ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46BB4B-961C-451C-9071-37F845559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8096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Локальний MCP через stdio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A82B6B-C9D3-449F-A86E-E59A6990E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47875"/>
            <a:ext cx="6667500" cy="3333750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131348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A1E952-613B-4D96-B3C1-5FDC9E0F5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81225"/>
            <a:ext cx="17145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6F13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ПОКАЗАТИ НАЖИВО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9128B1-62AE-4699-AE48-8442C6D1E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62225"/>
            <a:ext cx="62865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make doctor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make config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# після перезапуску Claude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Що є в цій базі?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Побудуй графік уроків по місяцях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Збережи цей звіт файлом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23BF8A-D75E-4802-AC92-84748159E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47875"/>
            <a:ext cx="3238500" cy="33337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444BD0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DCA69A-B9E2-496D-81EF-9A3BDD12E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21932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CHECKLIST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1A63A5-3331-458A-B8F3-A73B07B82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581275"/>
            <a:ext cx="285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Ознаки успіху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987E2E-4EA3-4E95-AD14-E3AA0B471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209925"/>
            <a:ext cx="2857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725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✓ 7 таблиць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725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✓ видно tool calls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725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✓ SQL лише SELECT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725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✓ звіт у reports/</a:t>
            </a:r>
          </a:p>
        </p:txBody>
      </p:sp>
    </p:spTree>
    <p:extLst>
      <p:ext uri="{BB962C8B-B14F-4D97-AF65-F5344CB8AC3E}">
        <p14:creationId xmlns:p14="http://schemas.microsoft.com/office/powerpoint/2010/main" val="2079224221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0F0F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87BAEF9-49B9-4FE7-B288-BEEFA7055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3893C9-C0E7-43A0-B735-1BB696E93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572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3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0F4433-EE4A-4B8F-B1CF-A9DF49AA4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7753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8524A3-289A-4D6C-8C8F-ABAD02D1F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436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8C9E8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835DB4-302F-4C01-913A-D81452CF8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Claude сам складає ланцюжок інструментів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FE017F-DD06-45D5-839E-8694C6925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66875"/>
            <a:ext cx="2762250" cy="16192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5F5FA"/>
          </a:solidFill>
          <a:ln xmlns:a="http://schemas.openxmlformats.org/drawingml/2006/main" w="11430">
            <a:solidFill>
              <a:srgbClr val="C8C9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045A39-0388-4F8B-B4DE-E9F464EC9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952625"/>
            <a:ext cx="2286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«Хто з учнів у зоні ризику і що в них спільного?»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B5D3D1-2FFD-40AA-B8FE-565F82DF7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381125"/>
            <a:ext cx="2476500" cy="704850"/>
          </a:xfrm>
          <a:prstGeom xmlns:a="http://schemas.openxmlformats.org/drawingml/2006/main" prst="roundRect">
            <a:avLst>
              <a:gd name="adj" fmla="val 21622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CCDD11-CB61-4761-9478-7D68D87FE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1552575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list_tables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B49E43-1FF4-41EC-9E66-F65C3FFAE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381250"/>
            <a:ext cx="2476500" cy="704850"/>
          </a:xfrm>
          <a:prstGeom xmlns:a="http://schemas.openxmlformats.org/drawingml/2006/main" prst="roundRect">
            <a:avLst>
              <a:gd name="adj" fmla="val 21622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0A1CBE-E9F9-42FB-8C5D-07CD8875F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5527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describe_table</a:t>
            </a:r>
          </a:p>
        </p:txBody>
      </p:sp>
      <p:cxnSp>
        <p:nvCxnSpPr>
          <p:cNvPr id="36" name=""/>
          <p:cNvCxnSpPr>
            <a:stCxn xmlns:a="http://schemas.openxmlformats.org/drawingml/2006/main" id="8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6191250" y="2085975"/>
            <a:ext cx="0" cy="2952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EA7FF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63484F-AD15-41CD-BF54-40EF94966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381375"/>
            <a:ext cx="2476500" cy="704850"/>
          </a:xfrm>
          <a:prstGeom xmlns:a="http://schemas.openxmlformats.org/drawingml/2006/main" prst="roundRect">
            <a:avLst>
              <a:gd name="adj" fmla="val 21622"/>
            </a:avLst>
          </a:prstGeom>
          <a:solidFill xmlns:a="http://schemas.openxmlformats.org/drawingml/2006/main">
            <a:srgbClr val="444BD0"/>
          </a:solidFill>
          <a:ln xmlns:a="http://schemas.openxmlformats.org/drawingml/2006/main" w="11430">
            <a:solidFill>
              <a:srgbClr val="444BD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02C7B7-F9D9-4CB0-A9F0-E98E4DE51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552825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predict_churn</a:t>
            </a:r>
          </a:p>
        </p:txBody>
      </p:sp>
      <p:cxnSp>
        <p:nvCxnSpPr>
          <p:cNvPr id="39" name=""/>
          <p:cNvCxnSpPr>
            <a:stCxn xmlns:a="http://schemas.openxmlformats.org/drawingml/2006/main" id="10" idx="2"/>
            <a:endCxn xmlns:a="http://schemas.openxmlformats.org/drawingml/2006/main" id="13" idx="0"/>
          </p:cNvCxnSpPr>
          <p:nvPr/>
        </p:nvCxnSpPr>
        <p:spPr>
          <a:xfrm xmlns:a="http://schemas.openxmlformats.org/drawingml/2006/main">
            <a:off x="6191250" y="3086100"/>
            <a:ext cx="0" cy="2952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EA7FF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8E7F17-ED75-479B-89F0-4C6588DA6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381500"/>
            <a:ext cx="2476500" cy="704850"/>
          </a:xfrm>
          <a:prstGeom xmlns:a="http://schemas.openxmlformats.org/drawingml/2006/main" prst="roundRect">
            <a:avLst>
              <a:gd name="adj" fmla="val 21622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E877AC-A20F-494A-9AB9-00E6BC77C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5529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run_sql</a:t>
            </a:r>
          </a:p>
        </p:txBody>
      </p:sp>
      <p:cxnSp>
        <p:nvCxnSpPr>
          <p:cNvPr id="42" name=""/>
          <p:cNvCxnSpPr>
            <a:stCxn xmlns:a="http://schemas.openxmlformats.org/drawingml/2006/main" id="13" idx="2"/>
            <a:endCxn xmlns:a="http://schemas.openxmlformats.org/drawingml/2006/main" id="16" idx="0"/>
          </p:cNvCxnSpPr>
          <p:nvPr/>
        </p:nvCxnSpPr>
        <p:spPr>
          <a:xfrm xmlns:a="http://schemas.openxmlformats.org/drawingml/2006/main">
            <a:off x="6191250" y="4086225"/>
            <a:ext cx="0" cy="2952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EA7FF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3357D65-0A3C-475A-8AC2-C0F104C12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190750"/>
            <a:ext cx="2857500" cy="17145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444BD0"/>
          </a:solidFill>
          <a:ln xmlns:a="http://schemas.openxmlformats.org/drawingml/2006/main" w="11430">
            <a:solidFill>
              <a:srgbClr val="444BD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0E27E9D-2FA7-4718-922B-BFD0805D2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47650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75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Список учнів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D955833-77C8-48F4-9446-056B79254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095625"/>
            <a:ext cx="2190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ймовірність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575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топ-фактори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575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застереження</a:t>
            </a:r>
          </a:p>
        </p:txBody>
      </p:sp>
      <p:cxnSp>
        <p:nvCxnSpPr>
          <p:cNvPr id="46" name=""/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3524250" y="1733550"/>
            <a:ext cx="1428750" cy="7429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6F134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47" name=""/>
          <p:cNvCxnSpPr>
            <a:stCxn xmlns:a="http://schemas.openxmlformats.org/drawingml/2006/main" id="16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 flipV="1">
            <a:off x="7429500" y="3048000"/>
            <a:ext cx="1143000" cy="16859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6F134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7D97413-CE05-4E40-9EE5-EDD0F31F4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5667375"/>
            <a:ext cx="676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D6F13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D6F134"/>
                </a:solidFill>
                <a:latin typeface="Arial"/>
                <a:ea typeface="Arial"/>
                <a:cs typeface="Arial"/>
              </a:rPr>
              <a:t>Послідовність зміниться, якщо зміниться питання</a:t>
            </a:r>
          </a:p>
        </p:txBody>
      </p:sp>
    </p:spTree>
    <p:extLst>
      <p:ext uri="{BB962C8B-B14F-4D97-AF65-F5344CB8AC3E}">
        <p14:creationId xmlns:p14="http://schemas.microsoft.com/office/powerpoint/2010/main" val="1019879478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0F0F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9F5086-E4F8-4FAF-8C7F-9B508FE0B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2492EF-BD71-4B31-9E64-BF5EC24F7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572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3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EBF401-5CD4-42D8-85D6-51F435645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81057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107ACA-78BA-4D1A-B4BB-474DA9EB6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436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8C9E8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F91276-C789-4027-9C4C-6B8F4276C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workshop-start залишає місця для спільного коду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16B34C-061A-4FB7-A26D-4DD2C8AE2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9750"/>
            <a:ext cx="4191000" cy="2857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444BD0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BDADD9-F475-48FD-AC61-3FA0A1D14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9812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РОБОЧИЙ СТАН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1D5343-13EC-4C53-B9B7-0B90A0E12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343150"/>
            <a:ext cx="3810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75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main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F4D848-AEAA-4CCD-9D5D-01B840774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190875"/>
            <a:ext cx="3810000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00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повне рішення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800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усі тести мають проходити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86EE0E-36CC-4A09-96F7-C3A40DB1E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809750"/>
            <a:ext cx="4191000" cy="2857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043568-524F-4078-A73B-BA8C812BC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9812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6676E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676EC"/>
                </a:solidFill>
                <a:latin typeface="Arial"/>
                <a:ea typeface="Arial"/>
                <a:cs typeface="Arial"/>
              </a:rPr>
              <a:t>НАВЧАЛЬНИЙ СТАН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950D8B-F2AD-4CB9-A5B2-F2344F243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343150"/>
            <a:ext cx="3810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workshop-start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EC6D56-61C9-4508-86BF-1CFFA07BD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190875"/>
            <a:ext cx="3810000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каркас із TODO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650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пишемо db.py, schema.py, sql.py, report.py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D5BD51-FDF2-43AC-8C94-CD97CE3F3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095625"/>
            <a:ext cx="1333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F1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D02FDC-944E-4E78-8E7B-D9DC1367D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667000"/>
            <a:ext cx="133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D6F134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D6F134"/>
                </a:solidFill>
                <a:latin typeface="Arial"/>
                <a:ea typeface="Arial"/>
                <a:cs typeface="Arial"/>
              </a:rPr>
              <a:t>git checkout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6E1D9D-8DF2-4A77-AA8D-050BC2CB8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238750"/>
            <a:ext cx="800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D6F13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D6F134"/>
                </a:solidFill>
                <a:latin typeface="Arial"/>
                <a:ea typeface="Arial"/>
                <a:cs typeface="Arial"/>
              </a:rPr>
              <a:t>База й model.pkl не зникають під час перемикання гілки</a:t>
            </a:r>
          </a:p>
        </p:txBody>
      </p:sp>
    </p:spTree>
    <p:extLst>
      <p:ext uri="{BB962C8B-B14F-4D97-AF65-F5344CB8AC3E}">
        <p14:creationId xmlns:p14="http://schemas.microsoft.com/office/powerpoint/2010/main" val="744403414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0F0F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B4B9C07-0C04-446F-908B-FE7E166D9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E0A4FA-9CB8-48C8-A3AA-408F348DF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572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3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E8191D-E131-46D3-9386-EBD4A8D6A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8458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7DE36B-917E-4F2F-9B03-1C93D6941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436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8C9E8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317580-DF88-4C06-969B-4E8B11EA6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Тести — автоматичний чеклист очікувань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e332000f974d6d"/>
          <a:stretch xmlns:a="http://schemas.openxmlformats.org/drawingml/2006/main"/>
        </p:blipFill>
        <p:spPr>
          <a:xfrm xmlns:a="http://schemas.openxmlformats.org/drawingml/2006/main">
            <a:off x="904875" y="1809750"/>
            <a:ext cx="1714500" cy="17145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4D8EB6-3E06-4A8C-9FF6-CFD74927B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7145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351DC7-5BA7-4DBF-9CAB-14864D009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724025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A0E972-BBBC-445D-8034-9867B625D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1657350"/>
            <a:ext cx="323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test_sql_guard.py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F83CE8-C6C4-4427-A930-90120F531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619250"/>
            <a:ext cx="3905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не пропускає DELETE, але дозволяє чесний SELECT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D22BB2-6713-4BD1-BBE5-78C1EBB52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8575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368AEC-1545-478F-B0EE-7E22777C5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867025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1A0304-D093-4DEB-B91E-11895E27A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800350"/>
            <a:ext cx="323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test_tools_smoke.py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ADC98E-CAAF-490F-9F89-64B87F723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762250"/>
            <a:ext cx="3905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перевіряє форму відповіді кожного інструмента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28BDB3-E8F7-4FD2-B28B-1F8673F6A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0005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83CB02-C298-45CA-8423-5DD8D611D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010025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A5FF64-C299-4A88-A009-7B1792D28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943350"/>
            <a:ext cx="323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prove_readonly.py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463714-B7F3-4F60-8E27-E65608B11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905250"/>
            <a:ext cx="3905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доводить обмеження прямо на рівні бази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F09F19-7830-4DF6-B89C-30B1A11BE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238750"/>
            <a:ext cx="4191000" cy="6096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444BD0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7391BCA-11A4-4F70-9E9C-AD947C0B9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4292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make test</a:t>
            </a:r>
          </a:p>
        </p:txBody>
      </p:sp>
    </p:spTree>
    <p:extLst>
      <p:ext uri="{BB962C8B-B14F-4D97-AF65-F5344CB8AC3E}">
        <p14:creationId xmlns:p14="http://schemas.microsoft.com/office/powerpoint/2010/main" val="1918509252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0F0F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5838A03-0FA8-4439-88CD-EA3012DFA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4D12C7-C90B-4408-BD2C-B9F74EDCF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572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3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272673-C4DA-495E-957B-EC9FC90C2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88106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C06FF3-BAC2-4743-BE7D-B4E80ADD7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436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8C9E8"/>
                </a:solidFill>
                <a:latin typeface="Arial"/>
                <a:ea typeface="Arial"/>
                <a:cs typeface="Arial"/>
              </a:rPr>
              <a:t>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6379A4-4E94-461A-99F3-2D6E71396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ML дає сигнал ризику, рішення лишається за людиною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9cc64b42874cb9"/>
          <a:stretch xmlns:a="http://schemas.openxmlformats.org/drawingml/2006/main"/>
        </p:blipFill>
        <p:spPr>
          <a:xfrm xmlns:a="http://schemas.openxmlformats.org/drawingml/2006/main">
            <a:off x="762000" y="1714500"/>
            <a:ext cx="1714500" cy="17145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B54C3C-AE23-4747-B4A4-CAFF1213D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714500"/>
            <a:ext cx="2286000" cy="17145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AC800C-8F2C-45AF-A8E6-215782BB0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14500"/>
            <a:ext cx="2286000" cy="17145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444BD0"/>
          </a:solidFill>
          <a:ln xmlns:a="http://schemas.openxmlformats.org/drawingml/2006/main" w="11430">
            <a:solidFill>
              <a:srgbClr val="444BD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2EB211-AAD8-41A8-8E3A-2A73A97CE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714500"/>
            <a:ext cx="2095500" cy="17145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318FD7-2611-4AD5-8885-D664FD8C6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047875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14 ознак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14D6CB-290A-43EF-A871-25AE0F6AF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647950"/>
            <a:ext cx="1809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уроки, оцінки, платежі, тікети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913C48-99BD-471F-9C85-839E9D69C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047875"/>
            <a:ext cx="1809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950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Gradient Boosting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83876F-E4DC-40CE-A9A5-4FAB5BB3D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85750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ROC AUC 0.776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B87237-7E60-4CBA-80A3-DBCE82167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2047875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Людина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EFF498-6D92-4FF4-97DC-6C67C4D61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2647950"/>
            <a:ext cx="1619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вирішує, кому і як допомогти</a:t>
            </a:r>
          </a:p>
        </p:txBody>
      </p:sp>
      <p:cxnSp>
        <p:nvCxnSpPr>
          <p:cNvPr id="35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5334000" y="2571750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6F134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36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8477250" y="2571750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6F134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C6AA45-AF58-4EF5-8A8B-DB79954D2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4429125"/>
            <a:ext cx="8858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Прогноз: відтік у наступні 30 днів + три фактори для пояснення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73F0755-5D8B-43CE-81B9-540D80E21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381625"/>
            <a:ext cx="38100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6F13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ЦЕ ПІДКАЗКА, НЕ ВИРОК</a:t>
            </a:r>
          </a:p>
        </p:txBody>
      </p:sp>
    </p:spTree>
    <p:extLst>
      <p:ext uri="{BB962C8B-B14F-4D97-AF65-F5344CB8AC3E}">
        <p14:creationId xmlns:p14="http://schemas.microsoft.com/office/powerpoint/2010/main" val="593576954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0F0F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1430A2-A763-4579-90B9-D510BCC34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8B7A26-8B42-49E7-AAD3-E8A051BDB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572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3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FD7D0A-9E55-4AB1-839D-CABB843EA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9163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6C7AEC-ED3C-497C-A8CC-C857F2B4F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436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8C9E8"/>
                </a:solidFill>
                <a:latin typeface="Arial"/>
                <a:ea typeface="Arial"/>
                <a:cs typeface="Arial"/>
              </a:rPr>
              <a:t>27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E290F0-2401-42A3-AAA3-022BE8D85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HTML-звіт легко відкрити й надіслати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3D0351-434F-43C3-BE4A-637778C0A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905000"/>
            <a:ext cx="3143250" cy="24765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5F5FA"/>
          </a:solidFill>
          <a:ln xmlns:a="http://schemas.openxmlformats.org/drawingml/2006/main" w="11430">
            <a:solidFill>
              <a:srgbClr val="C8C9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839269-1C67-4393-A000-47213D0A6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238375"/>
            <a:ext cx="247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325" b="1">
                <a:solidFill>
                  <a:srgbClr val="440FAC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440FAC"/>
                </a:solidFill>
                <a:latin typeface="Arial"/>
                <a:ea typeface="Arial"/>
                <a:cs typeface="Arial"/>
              </a:rPr>
              <a:t>&lt;html&gt;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983941-F561-4BA4-B853-2C4ADDC52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905125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75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текст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875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таблиці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875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графіки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E35632-9ECF-45C9-8998-9CB30624F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286000"/>
            <a:ext cx="2476500" cy="17145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6676E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E945C9-DC31-45DF-85A9-BD6AB4A84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619375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save_report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55C53D-00ED-4212-BEED-A43F5D0F3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238500"/>
            <a:ext cx="190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перевіряє HTML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і безпечну назву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5D84F8-3533-4ADA-94A9-C4C0B1BCC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905000"/>
            <a:ext cx="2857500" cy="24765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444BD0"/>
          </a:solidFill>
          <a:ln xmlns:a="http://schemas.openxmlformats.org/drawingml/2006/main" w="11430">
            <a:solidFill>
              <a:srgbClr val="444BD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43A811-CC98-411F-9BCD-C2220EB28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238375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325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reports/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C5A2FA-62BB-4855-8367-0ED8A42BB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095625"/>
            <a:ext cx="238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уроки-по-місяцях.html</a:t>
            </a:r>
          </a:p>
        </p:txBody>
      </p:sp>
      <p:cxnSp>
        <p:nvCxnSpPr>
          <p:cNvPr id="32" name=""/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4286250" y="3143250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6F134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33" name=""/>
          <p:cNvCxnSpPr>
            <a:stCxn xmlns:a="http://schemas.openxmlformats.org/drawingml/2006/main" id="9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7429500" y="314325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6F134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F55A1C-C6D4-45FC-A791-A902BC874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191125"/>
            <a:ext cx="8191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D6F13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D6F134"/>
                </a:solidFill>
                <a:latin typeface="Arial"/>
                <a:ea typeface="Arial"/>
                <a:cs typeface="Arial"/>
              </a:rPr>
              <a:t>Інструмент зберігає результат, але не вирішує, що малювати</a:t>
            </a:r>
          </a:p>
        </p:txBody>
      </p:sp>
    </p:spTree>
    <p:extLst>
      <p:ext uri="{BB962C8B-B14F-4D97-AF65-F5344CB8AC3E}">
        <p14:creationId xmlns:p14="http://schemas.microsoft.com/office/powerpoint/2010/main" val="926207435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0F0F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221C8E-89AC-4F43-AEFF-98A3CD606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CD4B59-B0A2-4DCC-BAB9-A84991D50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572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3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30B2A6-EAF7-419A-8E24-8CF9197BF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95154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7032FA-42A1-40CD-8766-12F423A45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436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8C9E8"/>
                </a:solidFill>
                <a:latin typeface="Arial"/>
                <a:ea typeface="Arial"/>
                <a:cs typeface="Arial"/>
              </a:rPr>
              <a:t>28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A9218F-AC78-4062-A08C-E6E87ECC0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Локально stdio, у хмарі HTTP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F97A21-0A4D-4881-B4D9-9796AB698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62125"/>
            <a:ext cx="4476750" cy="314325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7E5FD6-97A9-4C4A-ADCF-08C780ED7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933575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6676E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676EC"/>
                </a:solidFill>
                <a:latin typeface="Arial"/>
                <a:ea typeface="Arial"/>
                <a:cs typeface="Arial"/>
              </a:rPr>
              <a:t>ЛОКАЛЬНО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961A0B-5675-40B5-A307-4EDCF9DE0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95525"/>
            <a:ext cx="4095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stdio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0931AC-5272-4D28-A955-77FFAB9C4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43250"/>
            <a:ext cx="4095750" cy="1590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725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Claude Desktop сам запускає Python-процес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725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обмін через stdin / stdout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898D14-8849-47E5-A711-02F9FF0B9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762125"/>
            <a:ext cx="4476750" cy="314325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444BD0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5B95CD-3A83-4F91-B72D-112E72E50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933575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У ХМАРІ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A86413-5392-4DA5-ABAF-605A6C4EA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295525"/>
            <a:ext cx="4095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HTTP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A12703-DD5D-40E9-BF07-38DFD0F82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143250"/>
            <a:ext cx="4095750" cy="1590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725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контейнер працює постійно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725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клієнти приходять за URL /mcp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40E9B9-A686-4CA2-B380-D88C14B0E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5334000"/>
            <a:ext cx="8477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D6F13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D6F134"/>
                </a:solidFill>
                <a:latin typeface="Arial"/>
                <a:ea typeface="Arial"/>
                <a:cs typeface="Arial"/>
              </a:rPr>
              <a:t>MCP_TRANSPORT перемикає режим. Код інструментів не змінюється</a:t>
            </a:r>
          </a:p>
        </p:txBody>
      </p:sp>
    </p:spTree>
    <p:extLst>
      <p:ext uri="{BB962C8B-B14F-4D97-AF65-F5344CB8AC3E}">
        <p14:creationId xmlns:p14="http://schemas.microsoft.com/office/powerpoint/2010/main" val="867123791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0F0F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F512243-D286-4465-931D-F012E9521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54BD40-EF4A-4795-A400-2D81D8C15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572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3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899BD8-3D74-418A-9B67-FD8FB77E2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9867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532BED-B622-4CC0-B026-F27515CE7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436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8C9E8"/>
                </a:solidFill>
                <a:latin typeface="Arial"/>
                <a:ea typeface="Arial"/>
                <a:cs typeface="Arial"/>
              </a:rPr>
              <a:t>29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7624BC-BD43-4095-922D-53D75A7B7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Railway збирає контейнер і дає MCP-адресу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550AE6-989A-4FFA-A8B9-050E2C2B3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09750"/>
            <a:ext cx="2381250" cy="23812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9cfbe0560f47c8"/>
          <a:stretch xmlns:a="http://schemas.openxmlformats.org/drawingml/2006/main"/>
        </p:blipFill>
        <p:spPr>
          <a:xfrm xmlns:a="http://schemas.openxmlformats.org/drawingml/2006/main">
            <a:off x="1362075" y="2076450"/>
            <a:ext cx="895350" cy="8953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9E80F2-1632-4572-B62C-170E94EE6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190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GitHub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57DD0C-BAAA-402B-AF73-BA79C0D04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385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код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1CEB7F-DE03-4F86-995C-1C36C4C46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809750"/>
            <a:ext cx="2381250" cy="23812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437a08c2cc419f"/>
          <a:stretch xmlns:a="http://schemas.openxmlformats.org/drawingml/2006/main"/>
        </p:blipFill>
        <p:spPr>
          <a:xfrm xmlns:a="http://schemas.openxmlformats.org/drawingml/2006/main">
            <a:off x="4219575" y="2076450"/>
            <a:ext cx="895350" cy="89535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68BA4C-CD4C-4914-A736-50B962758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143250"/>
            <a:ext cx="190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Railway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BC52B8-09CA-4518-B9BC-41DDB5133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6385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build + run</a:t>
            </a:r>
          </a:p>
        </p:txBody>
      </p:sp>
      <p:cxnSp>
        <p:nvCxnSpPr>
          <p:cNvPr id="42" name=""/>
          <p:cNvCxnSpPr>
            <a:stCxn xmlns:a="http://schemas.openxmlformats.org/drawingml/2006/main" id="6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3000375" y="300037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6F134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2DB1DC-930B-42DB-AD3F-82143C09C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809750"/>
            <a:ext cx="2381250" cy="23812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b11b76b2e0499e"/>
          <a:stretch xmlns:a="http://schemas.openxmlformats.org/drawingml/2006/main"/>
        </p:blipFill>
        <p:spPr>
          <a:xfrm xmlns:a="http://schemas.openxmlformats.org/drawingml/2006/main">
            <a:off x="7077075" y="2076450"/>
            <a:ext cx="895350" cy="895350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9498AA-BA0D-4550-9DDB-93D769B9B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43250"/>
            <a:ext cx="190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Контейнер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131973D-4023-4396-B815-ACD933774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6385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Python MCP</a:t>
            </a:r>
          </a:p>
        </p:txBody>
      </p:sp>
      <p:cxnSp>
        <p:nvCxnSpPr>
          <p:cNvPr id="47" name=""/>
          <p:cNvCxnSpPr>
            <a:stCxn xmlns:a="http://schemas.openxmlformats.org/drawingml/2006/main" id="10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5857875" y="300037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6F134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2DE9213-3537-4D7D-AE92-2F19B9578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1809750"/>
            <a:ext cx="2381250" cy="23812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444BD0"/>
          </a:solidFill>
          <a:ln xmlns:a="http://schemas.openxmlformats.org/drawingml/2006/main" w="11430">
            <a:solidFill>
              <a:srgbClr val="444BD0"/>
            </a:solidFill>
            <a:prstDash val="solid"/>
          </a:ln>
        </p:spPr>
      </p:sp>
      <p:pic>
        <p:nvPicPr>
          <p:cNvPr id="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531bd03b6149c5"/>
          <a:stretch xmlns:a="http://schemas.openxmlformats.org/drawingml/2006/main"/>
        </p:blipFill>
        <p:spPr>
          <a:xfrm xmlns:a="http://schemas.openxmlformats.org/drawingml/2006/main">
            <a:off x="9934575" y="2076450"/>
            <a:ext cx="895350" cy="895350"/>
          </a:xfrm>
          <a:prstGeom xmlns:a="http://schemas.openxmlformats.org/drawingml/2006/main" prst="rect">
            <a:avLst/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E340C57-318C-43BB-9C6E-4C7C79896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143250"/>
            <a:ext cx="190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/mcp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A09E3FD-75B1-414D-A6CA-EF4B2D3FD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6385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публічний URL</a:t>
            </a:r>
          </a:p>
        </p:txBody>
      </p:sp>
      <p:cxnSp>
        <p:nvCxnSpPr>
          <p:cNvPr id="52" name=""/>
          <p:cNvCxnSpPr>
            <a:stCxn xmlns:a="http://schemas.openxmlformats.org/drawingml/2006/main" id="15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8715375" y="300037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6F134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2ED0F29-7BD9-4C14-BDD1-2CFD3BEAB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810125"/>
            <a:ext cx="3238500" cy="857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31348"/>
          </a:solidFill>
          <a:ln xmlns:a="http://schemas.openxmlformats.org/drawingml/2006/main" w="11430">
            <a:solidFill>
              <a:srgbClr val="6676EC"/>
            </a:solidFill>
            <a:prstDash val="solid"/>
          </a:ln>
        </p:spPr>
      </p:sp>
      <p:pic>
        <p:nvPicPr>
          <p:cNvPr id="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d4154dd3fa44b9"/>
          <a:stretch xmlns:a="http://schemas.openxmlformats.org/drawingml/2006/main"/>
        </p:blipFill>
        <p:spPr>
          <a:xfrm xmlns:a="http://schemas.openxmlformats.org/drawingml/2006/main">
            <a:off x="4714875" y="4953000"/>
            <a:ext cx="571500" cy="571500"/>
          </a:xfrm>
          <a:prstGeom xmlns:a="http://schemas.openxmlformats.org/drawingml/2006/main" prst="rect">
            <a:avLst/>
          </a:prstGeom>
        </p:spPr>
      </p:pic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3A3AECB-4641-44C7-A360-8B0B099C5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50482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База живе окремо в мережі</a:t>
            </a:r>
          </a:p>
        </p:txBody>
      </p:sp>
      <p:cxnSp>
        <p:nvCxnSpPr>
          <p:cNvPr id="56" name=""/>
          <p:cNvCxnSpPr>
            <a:stCxn xmlns:a="http://schemas.openxmlformats.org/drawingml/2006/main" id="15" idx="2"/>
            <a:endCxn xmlns:a="http://schemas.openxmlformats.org/drawingml/2006/main" id="25" idx="0"/>
          </p:cNvCxnSpPr>
          <p:nvPr/>
        </p:nvCxnSpPr>
        <p:spPr>
          <a:xfrm xmlns:a="http://schemas.openxmlformats.org/drawingml/2006/main" flipH="1">
            <a:off x="6096000" y="4191000"/>
            <a:ext cx="1428750" cy="6191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9EA7FF"/>
            </a:solidFill>
            <a:prstDash val="solid"/>
            <a:headEnd type="none" w="med" len="med"/>
            <a:tailEnd type="triangle" w="sm" len="sm"/>
          </a:ln>
        </p:spPr>
      </p:cxnSp>
    </p:spTree>
    <p:extLst>
      <p:ext uri="{BB962C8B-B14F-4D97-AF65-F5344CB8AC3E}">
        <p14:creationId xmlns:p14="http://schemas.microsoft.com/office/powerpoint/2010/main" val="100406530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0F0F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5F11A6C-2448-48F0-9A9E-D6D86AF18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606650-9F4B-4E46-8765-69CF86B1C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572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3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176106-DAC6-4A87-9005-6E5C63FCB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2203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5E7B7E-313F-44B9-857F-645C99483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436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8C9E8"/>
                </a:solidFill>
                <a:latin typeface="Arial"/>
                <a:ea typeface="Arial"/>
                <a:cs typeface="Arial"/>
              </a:rPr>
              <a:t>30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F22D45-C0F8-42C0-8738-13BE551AA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809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6F13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LIVE DEMO · 6 ХВ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2C6D57-7268-41E6-BE57-40F5AA540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8096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Деплой на Railway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550EEB-2A09-44E8-8897-9E39E0823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095500"/>
            <a:ext cx="2047875" cy="2857500"/>
          </a:xfrm>
          <a:prstGeom xmlns:a="http://schemas.openxmlformats.org/drawingml/2006/main" prst="roundRect">
            <a:avLst>
              <a:gd name="adj" fmla="val 8372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C33FCF-1E76-4B82-9367-EA3D2C724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2860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4F674A-5828-4E3A-AA93-B43EAB67A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295525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653125-9D26-48A5-BD3E-21B2D9797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0"/>
            <a:ext cx="1762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Deploy from GitHub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9676E7-8FB0-4F48-9895-9CCD5427C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14750"/>
            <a:ext cx="1762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repo + main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5C6D1E-B2E9-430C-A26B-476496575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095500"/>
            <a:ext cx="2047875" cy="2857500"/>
          </a:xfrm>
          <a:prstGeom xmlns:a="http://schemas.openxmlformats.org/drawingml/2006/main" prst="roundRect">
            <a:avLst>
              <a:gd name="adj" fmla="val 8372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642E0A-5328-41FB-A8B2-D56E74A0B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2860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C3D67F-35FF-453C-9D33-83F3FBEC4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295525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CF49F0-79C4-476E-A2BC-7BB8B7E8D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857500"/>
            <a:ext cx="1762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Variables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801990-4364-46CE-B4F4-917431443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714750"/>
            <a:ext cx="1762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DATABASE_URL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TRANSPORT=http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B74D26-6E21-4A8A-9016-498E87BA2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095500"/>
            <a:ext cx="2047875" cy="2857500"/>
          </a:xfrm>
          <a:prstGeom xmlns:a="http://schemas.openxmlformats.org/drawingml/2006/main" prst="roundRect">
            <a:avLst>
              <a:gd name="adj" fmla="val 8372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CEEBB63-740F-424F-B950-5D74BCC79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22860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F2A3A97-CC62-434C-AC06-C41B50A55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2295525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819DEA-DF1A-4A5E-9F66-46FF22CC2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857500"/>
            <a:ext cx="1762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Generate Domain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292310-7677-499A-AB3D-39DB9A340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714750"/>
            <a:ext cx="1762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додати /mcp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16DE4D7-686F-4D9F-993F-48E473EA2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095500"/>
            <a:ext cx="2047875" cy="2857500"/>
          </a:xfrm>
          <a:prstGeom xmlns:a="http://schemas.openxmlformats.org/drawingml/2006/main" prst="roundRect">
            <a:avLst>
              <a:gd name="adj" fmla="val 8372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ECBB4C5-0DA3-4E3C-BE58-043F93266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2860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ACD6CCF-39CE-42DE-97F0-7EAB1B3DC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295525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5881BD7-A89D-4CF8-8855-B9A58FEC3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857500"/>
            <a:ext cx="1762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Logs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D5D0926-DB31-45C8-A023-80E994B81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714750"/>
            <a:ext cx="1762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база відповідає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сервер стартував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E35BB6D-A495-4103-A25E-51185D714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2095500"/>
            <a:ext cx="2047875" cy="2857500"/>
          </a:xfrm>
          <a:prstGeom xmlns:a="http://schemas.openxmlformats.org/drawingml/2006/main" prst="roundRect">
            <a:avLst>
              <a:gd name="adj" fmla="val 8372"/>
            </a:avLst>
          </a:prstGeom>
          <a:solidFill xmlns:a="http://schemas.openxmlformats.org/drawingml/2006/main">
            <a:srgbClr val="444BD0"/>
          </a:solidFill>
          <a:ln xmlns:a="http://schemas.openxmlformats.org/drawingml/2006/main" w="11430">
            <a:solidFill>
              <a:srgbClr val="444BD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622898C-2272-4E47-B5BF-7B2BF7A0E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22860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3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89D8642-E961-4B4C-919D-DA21B91BC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2295525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48E6CCD-B0EA-4E80-A5B5-247F321B9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857500"/>
            <a:ext cx="1762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Claude Connector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30E77F2-B43A-4515-BE3B-52FF9A12F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714750"/>
            <a:ext cx="1762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назва + URL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633D4C9-5A6E-46A3-8BCA-5974D158B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476875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D6F13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D6F134"/>
                </a:solidFill>
                <a:latin typeface="Arial"/>
                <a:ea typeface="Arial"/>
                <a:cs typeface="Arial"/>
              </a:rPr>
              <a:t>Не показуйте ADMIN_DATABASE_URL і не вмикайте SEED_ON_START без потреби</a:t>
            </a:r>
          </a:p>
        </p:txBody>
      </p:sp>
    </p:spTree>
    <p:extLst>
      <p:ext uri="{BB962C8B-B14F-4D97-AF65-F5344CB8AC3E}">
        <p14:creationId xmlns:p14="http://schemas.microsoft.com/office/powerpoint/2010/main" val="669796643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0F0F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5C25270-824B-43CA-9DE8-90928D2CD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E32F96-1623-4737-8E2E-477133EDF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572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3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F44FC2-3654-48CD-9BD5-FD10908F1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572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E9F32E-132F-4225-8C5C-C085BBC3E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436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8C9E8"/>
                </a:solidFill>
                <a:latin typeface="Arial"/>
                <a:ea typeface="Arial"/>
                <a:cs typeface="Arial"/>
              </a:rPr>
              <a:t>31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00c65cc0fe492b"/>
          <a:stretch xmlns:a="http://schemas.openxmlformats.org/drawingml/2006/main"/>
        </p:blipFill>
        <p:spPr>
          <a:xfrm xmlns:a="http://schemas.openxmlformats.org/drawingml/2006/main">
            <a:off x="9239250" y="313536"/>
            <a:ext cx="2095500" cy="458778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9EBF7B-BD8D-4D6E-9637-188F2AC45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Що робити далі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4ECB6F-AC2E-4265-8C51-297282E18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952625"/>
            <a:ext cx="3333750" cy="24765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C0FB9A-BA03-4839-9752-2A0C602FA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124075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6676E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676EC"/>
                </a:solidFill>
                <a:latin typeface="Arial"/>
                <a:ea typeface="Arial"/>
                <a:cs typeface="Arial"/>
              </a:rPr>
              <a:t>КРОК 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268595-9151-433F-9088-06D1F6261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486025"/>
            <a:ext cx="295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Сьогодні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9F02E8-A9A7-42C6-9C4F-A9A5726FB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171825"/>
            <a:ext cx="29527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підключити свою тестову базу під read-only роллю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B7D466-8E3C-4299-859D-E274743A2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952625"/>
            <a:ext cx="3333750" cy="24765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4364B2-4E69-48AA-8CDA-C9240A7A5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124075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6676E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676EC"/>
                </a:solidFill>
                <a:latin typeface="Arial"/>
                <a:ea typeface="Arial"/>
                <a:cs typeface="Arial"/>
              </a:rPr>
              <a:t>КРОК 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B4683A-0088-43AF-98D8-8C91D9E54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486025"/>
            <a:ext cx="295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Цього тижня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F3533B-708B-4B87-837C-58EBE2F61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171825"/>
            <a:ext cx="29527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додати один інструмент під реальне бізнес-питання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75EAA7-E56D-4C95-8A56-49216AE91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952625"/>
            <a:ext cx="3333750" cy="24765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444BD0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AE66D5-C243-4647-A163-A4AB9CE02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124075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КРОК 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DCBA25-3F4A-4430-8877-074500393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486025"/>
            <a:ext cx="295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Перед продом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EC18AC-0CF5-487C-ACE4-88EB71394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171825"/>
            <a:ext cx="29527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автентифікація, обмеження рядків, моніторинг, CI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0A808BC-FFF4-4D85-B7B8-3394CC580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5000625"/>
            <a:ext cx="904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D6F134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D6F134"/>
                </a:solidFill>
                <a:latin typeface="Arial"/>
                <a:ea typeface="Arial"/>
                <a:cs typeface="Arial"/>
              </a:rPr>
              <a:t>Почніть з одного безпечного питання, яке болить команді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9476095-2311-447E-90F1-9E1B4EF4F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695950"/>
            <a:ext cx="400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Питання?</a:t>
            </a:r>
          </a:p>
        </p:txBody>
      </p:sp>
    </p:spTree>
    <p:extLst>
      <p:ext uri="{BB962C8B-B14F-4D97-AF65-F5344CB8AC3E}">
        <p14:creationId xmlns:p14="http://schemas.microsoft.com/office/powerpoint/2010/main" val="185888399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2026-09-17T07:42:42.5690000Z</dcterms:created>
  <dcterms:modified xsi:type="dcterms:W3CDTF">2026-09-17T07:42:42.5690000Z</dcterms:modified>
</coreProperties>
</file>