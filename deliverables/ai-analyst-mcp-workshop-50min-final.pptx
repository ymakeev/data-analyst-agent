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7972d3d11140ac" /><Relationship Type="http://schemas.openxmlformats.org/officeDocument/2006/relationships/extended-properties" Target="/docProps/app.xml" Id="Rc6d0a464fe2e49c6" /><Relationship Type="http://schemas.openxmlformats.org/officeDocument/2006/relationships/officeDocument" Target="/ppt/presentation.xml" Id="R9f9726b666bc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95f060ec094623"/>
  </p:sldMasterIdLst>
  <p:notesMasterIdLst>
    <p:notesMasterId xmlns:r="http://schemas.openxmlformats.org/officeDocument/2006/relationships" r:id="R027f865344fd4cff"/>
  </p:notesMasterIdLst>
  <p:sldIdLst>
    <p:sldId xmlns:r="http://schemas.openxmlformats.org/officeDocument/2006/relationships" id="256" r:id="R51267af0e4b64e81"/>
    <p:sldId xmlns:r="http://schemas.openxmlformats.org/officeDocument/2006/relationships" id="257" r:id="R50ef8e1855444acb"/>
    <p:sldId xmlns:r="http://schemas.openxmlformats.org/officeDocument/2006/relationships" id="258" r:id="R55c00c1846504145"/>
    <p:sldId xmlns:r="http://schemas.openxmlformats.org/officeDocument/2006/relationships" id="259" r:id="R4ab38273619b450d"/>
    <p:sldId xmlns:r="http://schemas.openxmlformats.org/officeDocument/2006/relationships" id="260" r:id="R76cb741e7ce24fbf"/>
    <p:sldId xmlns:r="http://schemas.openxmlformats.org/officeDocument/2006/relationships" id="261" r:id="Raf2b542b24684be4"/>
    <p:sldId xmlns:r="http://schemas.openxmlformats.org/officeDocument/2006/relationships" id="262" r:id="Re762f6ba77ce47f0"/>
    <p:sldId xmlns:r="http://schemas.openxmlformats.org/officeDocument/2006/relationships" id="263" r:id="R1818ddb6bb064f64"/>
    <p:sldId xmlns:r="http://schemas.openxmlformats.org/officeDocument/2006/relationships" id="264" r:id="R005aa9d4a4454620"/>
    <p:sldId xmlns:r="http://schemas.openxmlformats.org/officeDocument/2006/relationships" id="265" r:id="Rdfc1854a872743aa"/>
    <p:sldId xmlns:r="http://schemas.openxmlformats.org/officeDocument/2006/relationships" id="266" r:id="R5f5946c483ec488f"/>
    <p:sldId xmlns:r="http://schemas.openxmlformats.org/officeDocument/2006/relationships" id="267" r:id="R118011b5427e4bd7"/>
    <p:sldId xmlns:r="http://schemas.openxmlformats.org/officeDocument/2006/relationships" id="268" r:id="R27d68c148a884c97"/>
    <p:sldId xmlns:r="http://schemas.openxmlformats.org/officeDocument/2006/relationships" id="269" r:id="Re846d551ca2d4fa0"/>
    <p:sldId xmlns:r="http://schemas.openxmlformats.org/officeDocument/2006/relationships" id="270" r:id="R2aa5575e34ca4c86"/>
    <p:sldId xmlns:r="http://schemas.openxmlformats.org/officeDocument/2006/relationships" id="271" r:id="Re502a8d81910409b"/>
    <p:sldId xmlns:r="http://schemas.openxmlformats.org/officeDocument/2006/relationships" id="272" r:id="Rabc7ac1a2f0c49f6"/>
    <p:sldId xmlns:r="http://schemas.openxmlformats.org/officeDocument/2006/relationships" id="273" r:id="R380a1958304e4e4e"/>
    <p:sldId xmlns:r="http://schemas.openxmlformats.org/officeDocument/2006/relationships" id="274" r:id="R900fc5761a2449ae"/>
    <p:sldId xmlns:r="http://schemas.openxmlformats.org/officeDocument/2006/relationships" id="275" r:id="R04994268e9db42f7"/>
    <p:sldId xmlns:r="http://schemas.openxmlformats.org/officeDocument/2006/relationships" id="276" r:id="R0ae7eccf417d411e"/>
    <p:sldId xmlns:r="http://schemas.openxmlformats.org/officeDocument/2006/relationships" id="277" r:id="R5e2d1f60f69c4dc2"/>
    <p:sldId xmlns:r="http://schemas.openxmlformats.org/officeDocument/2006/relationships" id="278" r:id="R066cfd07f4144acb"/>
    <p:sldId xmlns:r="http://schemas.openxmlformats.org/officeDocument/2006/relationships" id="279" r:id="R1ea9cb9413884e7d"/>
    <p:sldId xmlns:r="http://schemas.openxmlformats.org/officeDocument/2006/relationships" id="280" r:id="Rae73d81a19ed4ac8"/>
    <p:sldId xmlns:r="http://schemas.openxmlformats.org/officeDocument/2006/relationships" id="281" r:id="Rd110b789aecc4a91"/>
    <p:sldId xmlns:r="http://schemas.openxmlformats.org/officeDocument/2006/relationships" id="282" r:id="R1c68e540430543e8"/>
    <p:sldId xmlns:r="http://schemas.openxmlformats.org/officeDocument/2006/relationships" id="283" r:id="R2a9fcab2bbb14f59"/>
    <p:sldId xmlns:r="http://schemas.openxmlformats.org/officeDocument/2006/relationships" id="284" r:id="R962c1249768a4e9b"/>
    <p:sldId xmlns:r="http://schemas.openxmlformats.org/officeDocument/2006/relationships" id="285" r:id="R04fb172995094775"/>
    <p:sldId xmlns:r="http://schemas.openxmlformats.org/officeDocument/2006/relationships" id="286" r:id="R7b01a055d38b49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e265ac5bb4734" /><Relationship Type="http://schemas.openxmlformats.org/officeDocument/2006/relationships/slideMaster" Target="/ppt/slideMasters/slideMaster1.xml" Id="Rf695f060ec094623" /><Relationship Type="http://schemas.openxmlformats.org/officeDocument/2006/relationships/notesMaster" Target="/ppt/notesMasters/notesMaster1.xml" Id="R027f865344fd4cff" /><Relationship Type="http://schemas.openxmlformats.org/officeDocument/2006/relationships/presProps" Target="/ppt/presProps.xml" Id="R00f536f3089b45b0" /><Relationship Type="http://schemas.openxmlformats.org/officeDocument/2006/relationships/tableStyles" Target="/ppt/tableStyles.xml" Id="Rb337a41b4a584113" /><Relationship Type="http://schemas.openxmlformats.org/officeDocument/2006/relationships/slide" Target="/ppt/slides/slide1.xml" Id="R51267af0e4b64e81" /><Relationship Type="http://schemas.openxmlformats.org/officeDocument/2006/relationships/slide" Target="/ppt/slides/slide2.xml" Id="R50ef8e1855444acb" /><Relationship Type="http://schemas.openxmlformats.org/officeDocument/2006/relationships/slide" Target="/ppt/slides/slide3.xml" Id="R55c00c1846504145" /><Relationship Type="http://schemas.openxmlformats.org/officeDocument/2006/relationships/slide" Target="/ppt/slides/slide4.xml" Id="R4ab38273619b450d" /><Relationship Type="http://schemas.openxmlformats.org/officeDocument/2006/relationships/slide" Target="/ppt/slides/slide5.xml" Id="R76cb741e7ce24fbf" /><Relationship Type="http://schemas.openxmlformats.org/officeDocument/2006/relationships/slide" Target="/ppt/slides/slide6.xml" Id="Raf2b542b24684be4" /><Relationship Type="http://schemas.openxmlformats.org/officeDocument/2006/relationships/slide" Target="/ppt/slides/slide7.xml" Id="Re762f6ba77ce47f0" /><Relationship Type="http://schemas.openxmlformats.org/officeDocument/2006/relationships/slide" Target="/ppt/slides/slide8.xml" Id="R1818ddb6bb064f64" /><Relationship Type="http://schemas.openxmlformats.org/officeDocument/2006/relationships/slide" Target="/ppt/slides/slide9.xml" Id="R005aa9d4a4454620" /><Relationship Type="http://schemas.openxmlformats.org/officeDocument/2006/relationships/slide" Target="/ppt/slides/slide10.xml" Id="Rdfc1854a872743aa" /><Relationship Type="http://schemas.openxmlformats.org/officeDocument/2006/relationships/slide" Target="/ppt/slides/slide11.xml" Id="R5f5946c483ec488f" /><Relationship Type="http://schemas.openxmlformats.org/officeDocument/2006/relationships/slide" Target="/ppt/slides/slide12.xml" Id="R118011b5427e4bd7" /><Relationship Type="http://schemas.openxmlformats.org/officeDocument/2006/relationships/slide" Target="/ppt/slides/slide13.xml" Id="R27d68c148a884c97" /><Relationship Type="http://schemas.openxmlformats.org/officeDocument/2006/relationships/slide" Target="/ppt/slides/slide14.xml" Id="Re846d551ca2d4fa0" /><Relationship Type="http://schemas.openxmlformats.org/officeDocument/2006/relationships/slide" Target="/ppt/slides/slide15.xml" Id="R2aa5575e34ca4c86" /><Relationship Type="http://schemas.openxmlformats.org/officeDocument/2006/relationships/slide" Target="/ppt/slides/slide16.xml" Id="Re502a8d81910409b" /><Relationship Type="http://schemas.openxmlformats.org/officeDocument/2006/relationships/slide" Target="/ppt/slides/slide17.xml" Id="Rabc7ac1a2f0c49f6" /><Relationship Type="http://schemas.openxmlformats.org/officeDocument/2006/relationships/slide" Target="/ppt/slides/slide18.xml" Id="R380a1958304e4e4e" /><Relationship Type="http://schemas.openxmlformats.org/officeDocument/2006/relationships/slide" Target="/ppt/slides/slide19.xml" Id="R900fc5761a2449ae" /><Relationship Type="http://schemas.openxmlformats.org/officeDocument/2006/relationships/slide" Target="/ppt/slides/slide20.xml" Id="R04994268e9db42f7" /><Relationship Type="http://schemas.openxmlformats.org/officeDocument/2006/relationships/slide" Target="/ppt/slides/slide21.xml" Id="R0ae7eccf417d411e" /><Relationship Type="http://schemas.openxmlformats.org/officeDocument/2006/relationships/slide" Target="/ppt/slides/slide22.xml" Id="R5e2d1f60f69c4dc2" /><Relationship Type="http://schemas.openxmlformats.org/officeDocument/2006/relationships/slide" Target="/ppt/slides/slide23.xml" Id="R066cfd07f4144acb" /><Relationship Type="http://schemas.openxmlformats.org/officeDocument/2006/relationships/slide" Target="/ppt/slides/slide24.xml" Id="R1ea9cb9413884e7d" /><Relationship Type="http://schemas.openxmlformats.org/officeDocument/2006/relationships/slide" Target="/ppt/slides/slide25.xml" Id="Rae73d81a19ed4ac8" /><Relationship Type="http://schemas.openxmlformats.org/officeDocument/2006/relationships/slide" Target="/ppt/slides/slide26.xml" Id="Rd110b789aecc4a91" /><Relationship Type="http://schemas.openxmlformats.org/officeDocument/2006/relationships/slide" Target="/ppt/slides/slide27.xml" Id="R1c68e540430543e8" /><Relationship Type="http://schemas.openxmlformats.org/officeDocument/2006/relationships/slide" Target="/ppt/slides/slide28.xml" Id="R2a9fcab2bbb14f59" /><Relationship Type="http://schemas.openxmlformats.org/officeDocument/2006/relationships/slide" Target="/ppt/slides/slide29.xml" Id="R962c1249768a4e9b" /><Relationship Type="http://schemas.openxmlformats.org/officeDocument/2006/relationships/slide" Target="/ppt/slides/slide30.xml" Id="R04fb172995094775" /><Relationship Type="http://schemas.openxmlformats.org/officeDocument/2006/relationships/slide" Target="/ppt/slides/slide31.xml" Id="R7b01a055d38b49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4dfdde81b94f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f13c35292e4b1b" /><Relationship Type="http://schemas.openxmlformats.org/officeDocument/2006/relationships/notesMaster" Target="/ppt/notesMasters/notesMaster1.xml" Id="R75eb2ecdc02e46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813256caea4887" /><Relationship Type="http://schemas.openxmlformats.org/officeDocument/2006/relationships/notesMaster" Target="/ppt/notesMasters/notesMaster1.xml" Id="Re3471b5bab0a41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3ac965f7ee4d1f" /><Relationship Type="http://schemas.openxmlformats.org/officeDocument/2006/relationships/notesMaster" Target="/ppt/notesMasters/notesMaster1.xml" Id="Ra2995304386047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670f4765b246b6" /><Relationship Type="http://schemas.openxmlformats.org/officeDocument/2006/relationships/notesMaster" Target="/ppt/notesMasters/notesMaster1.xml" Id="Rf8896876f8e743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802dac23794fb9" /><Relationship Type="http://schemas.openxmlformats.org/officeDocument/2006/relationships/notesMaster" Target="/ppt/notesMasters/notesMaster1.xml" Id="R401e38108d1e46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efaad0b2c74f30" /><Relationship Type="http://schemas.openxmlformats.org/officeDocument/2006/relationships/notesMaster" Target="/ppt/notesMasters/notesMaster1.xml" Id="Re5ade513e3d4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cf2058191149d3" /><Relationship Type="http://schemas.openxmlformats.org/officeDocument/2006/relationships/notesMaster" Target="/ppt/notesMasters/notesMaster1.xml" Id="Rc8c18c13246a43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8979c4bc884129" /><Relationship Type="http://schemas.openxmlformats.org/officeDocument/2006/relationships/notesMaster" Target="/ppt/notesMasters/notesMaster1.xml" Id="R1a768049a9b046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86a19a13a241e0" /><Relationship Type="http://schemas.openxmlformats.org/officeDocument/2006/relationships/notesMaster" Target="/ppt/notesMasters/notesMaster1.xml" Id="Reee8190a8f694b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2b4f45882c4c7d" /><Relationship Type="http://schemas.openxmlformats.org/officeDocument/2006/relationships/notesMaster" Target="/ppt/notesMasters/notesMaster1.xml" Id="Rd3103c41e36c45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de922af9154c1d" /><Relationship Type="http://schemas.openxmlformats.org/officeDocument/2006/relationships/notesMaster" Target="/ppt/notesMasters/notesMaster1.xml" Id="R98b459c72d0b41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204de5bcb44e8c" /><Relationship Type="http://schemas.openxmlformats.org/officeDocument/2006/relationships/notesMaster" Target="/ppt/notesMasters/notesMaster1.xml" Id="R2e03f23c30ae45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408d864ae094391" /><Relationship Type="http://schemas.openxmlformats.org/officeDocument/2006/relationships/notesMaster" Target="/ppt/notesMasters/notesMaster1.xml" Id="R7eb5cb2769ce47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33b5f0e1794c4a" /><Relationship Type="http://schemas.openxmlformats.org/officeDocument/2006/relationships/notesMaster" Target="/ppt/notesMasters/notesMaster1.xml" Id="Rece9177ea9454f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9ed3cc109c44d7" /><Relationship Type="http://schemas.openxmlformats.org/officeDocument/2006/relationships/notesMaster" Target="/ppt/notesMasters/notesMaster1.xml" Id="R9fe9e11d6dd345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fe0e7364e0c4dd3" /><Relationship Type="http://schemas.openxmlformats.org/officeDocument/2006/relationships/notesMaster" Target="/ppt/notesMasters/notesMaster1.xml" Id="Ra00603ae41ef48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721fec20db416c" /><Relationship Type="http://schemas.openxmlformats.org/officeDocument/2006/relationships/notesMaster" Target="/ppt/notesMasters/notesMaster1.xml" Id="R34c649bd6b0b43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caff627d5c4a27" /><Relationship Type="http://schemas.openxmlformats.org/officeDocument/2006/relationships/notesMaster" Target="/ppt/notesMasters/notesMaster1.xml" Id="Rbbb4540d1368453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10cb3ec9bf4881" /><Relationship Type="http://schemas.openxmlformats.org/officeDocument/2006/relationships/notesMaster" Target="/ppt/notesMasters/notesMaster1.xml" Id="R4ca9d077e10a4f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224f5ea126741c2" /><Relationship Type="http://schemas.openxmlformats.org/officeDocument/2006/relationships/notesMaster" Target="/ppt/notesMasters/notesMaster1.xml" Id="R452ba58c75f04b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e1547af48e435f" /><Relationship Type="http://schemas.openxmlformats.org/officeDocument/2006/relationships/notesMaster" Target="/ppt/notesMasters/notesMaster1.xml" Id="R49abd597e0664b5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089613c8a74f0d" /><Relationship Type="http://schemas.openxmlformats.org/officeDocument/2006/relationships/notesMaster" Target="/ppt/notesMasters/notesMaster1.xml" Id="R933b6acf65d74f8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6704f4fd46b4ada" /><Relationship Type="http://schemas.openxmlformats.org/officeDocument/2006/relationships/notesMaster" Target="/ppt/notesMasters/notesMaster1.xml" Id="R5c8388ebb2c24a9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188033a43d49a9" /><Relationship Type="http://schemas.openxmlformats.org/officeDocument/2006/relationships/notesMaster" Target="/ppt/notesMasters/notesMaster1.xml" Id="R5c3cdd78d0454db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0d7959d875049ef" /><Relationship Type="http://schemas.openxmlformats.org/officeDocument/2006/relationships/notesMaster" Target="/ppt/notesMasters/notesMaster1.xml" Id="R0131fcfa86bc44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1b31084325f46f3" /><Relationship Type="http://schemas.openxmlformats.org/officeDocument/2006/relationships/notesMaster" Target="/ppt/notesMasters/notesMaster1.xml" Id="R26496fa5d41745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d676acd0f4240db" /><Relationship Type="http://schemas.openxmlformats.org/officeDocument/2006/relationships/notesMaster" Target="/ppt/notesMasters/notesMaster1.xml" Id="R7000a92f1fc348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ce69af984804626" /><Relationship Type="http://schemas.openxmlformats.org/officeDocument/2006/relationships/notesMaster" Target="/ppt/notesMasters/notesMaster1.xml" Id="R79b9b0a5bb934ba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02904b780f149ef" /><Relationship Type="http://schemas.openxmlformats.org/officeDocument/2006/relationships/notesMaster" Target="/ppt/notesMasters/notesMaster1.xml" Id="R674309bd347940b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3fbe92cf93845f8" /><Relationship Type="http://schemas.openxmlformats.org/officeDocument/2006/relationships/notesMaster" Target="/ppt/notesMasters/notesMaster1.xml" Id="Ra92c6be4b5e4459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5c3cf51a5f14d93" /><Relationship Type="http://schemas.openxmlformats.org/officeDocument/2006/relationships/notesMaster" Target="/ppt/notesMasters/notesMaster1.xml" Id="Rc232808fa7c04a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00:00–00:30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Відкриття:</a:t>
            </a:r>
          </a:p>
          <a:p xmlns:a="http://schemas.openxmlformats.org/drawingml/2006/main">
            <a:r>
              <a:t>«Сьогодні ми не будемо вчити всі слова зі світу розробки. Ми зберемо одну зрозумілу систему від питання людини до відповіді з бази і винесемо її в хмару».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Попросіть підняти руку тих, хто ніколи не запускав Docker або MCP. Це нормальна стартова точка.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00:30–01:15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маршрут і домовтесь: питання можна ставити по ходу, але довгі розбори підуть після основного маршруту.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Ключова обіцянка: наприкінці людина розуміє не лише «які команди вставити», а й навіщо існує кожна частина.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01:15–02:15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Почніть із конкретного питання. Поясніть, що цифра на слайді ілюстративна: на демо побачимо реальну відповідь із поточного набору даних.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Головна думка: користувач не пише SQL, але система все одно показує, що саме було виконано.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02:15–03:15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Скажіть одним подихом: «Ми не даємо Claude пароль і свободу робити будь-що. Ми даємо серверу п’ять чітко описаних функцій».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рамка для всього воркшопу.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03:15–04:30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визначення без заглиблення.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Побутова аналогія: модель — мозок, агент — поведінка, інструменти — руки, MCP — розетка стандартного формату, база — склад, деплой — відкрита майстерня в хмарі.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04:30–06:00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Пояснення для новачка:</a:t>
            </a:r>
          </a:p>
          <a:p xmlns:a="http://schemas.openxmlformats.org/drawingml/2006/main">
            <a:r>
              <a:t>Git працює і без інтернету та пам’ятає версії. GitHub — сайт, де репозиторій лежить онлайн, ним можна ділитись і підключити Railway.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є дві гілки: main і workshop-start.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https://docs.github.com/en/get-started/learning-to-code/getting-started-with-git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06:00–07:30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образ — рецепт і запаковані інгредієнти, контейнер — конкретно запущена страва. Один образ можна запускати багато разів.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docker-compose.yml описано один сервіс db на PostgreSQL 16 Alpine. Порт 5433 зовні навмисно уникає конфлікту зі звичайним 5432.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https://docs.docker.com/get-started/docker-overview/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07:30–09:00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Python — мова, якою написано сервер і ML. PostgreSQL — окрема програма-база. psycopg відкриває з’єднання та передає 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Підкресліть: дані не живуть «у Python-файлі». Сервер лише приходить до бази, читає і повертає результат.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09:00–10:30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Аналогія: USB-C не є зарядкою або ноутбуком, це стандарт з’єднання. MCP так само не є моделлю чи базою.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специфікації MCP сервер може давати tools, resources і prompts. У цьому демо головне — tools, функції, якими керує модель.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https://modelcontextprotocol.io/specification/draft/server/index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10:30–12:00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називайте весь застосунок «моделлю». Claude як модель обирає крок. Агентний цикл виконує кроки. Python-функції роблять роботу.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цьому проєкті немає вручну прописаного маршруту list_tables → describe_table → run_sql. Модель складає його під запит.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12:00–14:00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Пройдіть схему зліва направо. Claude бачить лише контракт інструментів. MCP-сервер тримає DATABASE_URL і сам підключається до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ML-модель — локальний файл, який сервер завантажує. save_report пише HTML у reports/.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Важливо: у хмарі публічний MCP без автентифікації підходить лише для синтетичних даних.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14:00–15:30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спостережуваність: ми бачимо, який інструмент викликано, з якими аргументами та що він повернув.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 не гарантує правильність відповіді, але робить помилку діагностованою.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15:30–17:00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Швидко поясніть усі п’ять.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save_report не генерує звіт. Claude створює HTML, а інструмент лише безпечно зберігає файл. Це залишає моделі свободу оформлення, але обмежує файлову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17:00–18:00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 docstring як частину продукту, а не коментар «для програміста». Якщо опис нечіткий, модель вибиратиме інструмент гірше.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workshop-start ми дописуємо функції, але докстрінги вже задають очікувану поведінку.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18:00–19:00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«пастку» status: без коментаря модель може порахувати всі заплановані уроки як проведені.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Перевага: визначення знаходиться там, де його бачить і людина, і інструмент. Зміна схеми не вимагає переписувати великий системний промпт.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19:00–20:30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Підкресліть різницю між зручністю та безпекою. Guard ловить очевидний DELETE і пояснює моделі, що дозволено. Але остаточно захищає роль analyst_ro у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Команда для демонстрації: python scripts/prove_readonly.py. Вона обходить сервер і доводить, що сама база відмовляє у записі.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20:30–22:15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Проведіть екскурсію, не відкриваючи кожен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Мнемоніка: server виконує, db зберігає, ml прогнозує, tests перевіряє, docs пояснює, deploy пакує.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railway.toml лежить у корені, бо Railway шукає конфіг саме 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22:15–23:30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зв’язки як речення. Це легше за терміни «foreign key» і «one-to-many».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речення додайте: foreign key — це колонка, яка посилається на ідентифікатор у іншій таблиці.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23:30–24:30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Покажіть, що агент бачить не одну «таблицю уроків», а контекст клієнта. Платежі та тікети стають ознаками churn. audit_log не є бізнес-даними, це слід роботи системи.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24:30–25:30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аудиторія зовсім нова, рекомендуйте варіант А для воркшопу. Варіант Б показуйте тим, хто хоче забрати повну локальну копію.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.env — локальний файл із налаштуваннями й секретами. Він не потрапляє в Git.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25:30–26:30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Не читайте команди по символах. Поясніть їх призначення.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venv створює окреме Python-оточення. pip ставить залежності з pyproject.toml. make setup оркеструє Docker, seed і train. make config друкує конфіг із абсолютними шляхами.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26:30–33:30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У терміналі покажіть make doctor. Якщо все green, не затримуйтесь.</a:t>
            </a:r>
          </a:p>
          <a:p xmlns:a="http://schemas.openxmlformats.org/drawingml/2006/main">
            <a:r>
              <a:t>2. Запустіть make config і коротко покажіть, що шляхи абсолютні. Не копіюйте секрети на великий екран.</a:t>
            </a:r>
          </a:p>
          <a:p xmlns:a="http://schemas.openxmlformats.org/drawingml/2006/main">
            <a:r>
              <a:t>3. У Claude Desktop відкрийте новий чат. Поставте «Що є в цій базі?».</a:t>
            </a:r>
          </a:p>
          <a:p xmlns:a="http://schemas.openxmlformats.org/drawingml/2006/main">
            <a:r>
              <a:t>4. Розгорніть виклики інструментів. Назвіть list_tables і describe_table.</a:t>
            </a:r>
          </a:p>
          <a:p xmlns:a="http://schemas.openxmlformats.org/drawingml/2006/main">
            <a:r>
              <a:t>5. Поставте запит про уроки по місяцях. Покажіть SQL.</a:t>
            </a:r>
          </a:p>
          <a:p xmlns:a="http://schemas.openxmlformats.org/drawingml/2006/main">
            <a:r>
              <a:t>6. Попросіть зберегти звіт і відкрийте 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План Б: якщо Claude не підключився, запустіть make run і покажіть помилку дослівно; далі перейдіть до заздалегідь підготовленого чату.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33:30–35:00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Після демо закріпіть: код не містить цього workflow. Модель може пропустити run_sql, якщо predict_churn уже повернув достатньо пояснень. Це нормально, якщо відповідь обґрунтована.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35:00–36:00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 гілку як паралельну версію папки, але без дублювання файлів вручну.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Рятувальний шлях учасника: якщо відстав, git checkout main повертає повне рішення. Повернутися до каркаса можна пізніше.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36:00–37:00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pytest — інструмент, який запускає короткі сценарії перевірки. На workshop-start червоні тести — це карта того, що ще треба реалізувати. На main вони мають бути зеленими.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37:00–38:30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Поясніть, що модель навчається окремою командою make train і зберігається в ml/model.pkl. Сервер лише завантажує готовий файл.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ознак дивляться тільки в минуле. Ціль — відтік у наступні 30 днів. У поточному файлі моделі ROC AUC = 0.776, дата навчання 2026-09-16.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scikit-learn 1.7.2 та numpy 2.2.6 закріплено точними версіями, бо pickle залежить від оточення.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38:30–39:15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— звичайна веб-сторінка в одному файлі. Claude генерує вміст, save_report перевіряє, що це справді HTML, і створює безпечне ім’я в reports/.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39:15–40:45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stdio — текстові потоки між двома процесами на одному комп’ютері. HTTP — мережевий протокол, тому сервер може жити окремо.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server/main.py це один if за MCP_TRANSPORT. Це головний місток між локальним демо й командним сервісом.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40:45–42:30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Railway стежить за GitHub, читає railway.toml, будує образ через deploy/Dockerfile і запускає контейнер.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База мусить бути доступна з інтернету, наприклад Neon або PostgreSQL у Railway. Локальний Docker на ноутбуці з хмари недосяжний.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Джерело: https://docs.railway.com/deployments/reference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42:30–48:30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LIVE DEMO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Відкрийте готовий проєкт Railway або створіть New Project → Deploy from GitHub repo.</a:t>
            </a:r>
          </a:p>
          <a:p xmlns:a="http://schemas.openxmlformats.org/drawingml/2006/main">
            <a:r>
              <a:t>2. Покажіть, що railway.toml вказує deploy/Dockerfile.</a:t>
            </a:r>
          </a:p>
          <a:p xmlns:a="http://schemas.openxmlformats.org/drawingml/2006/main">
            <a:r>
              <a:t>3. У Variables додайте рівно DATABASE_URL і MCP_TRANSPORT=http. Закрийте значення пароля від аудиторії.</a:t>
            </a:r>
          </a:p>
          <a:p xmlns:a="http://schemas.openxmlformats.org/drawingml/2006/main">
            <a:r>
              <a:t>4. Settings → Networking → Generate Domain. До адреси додайте /mcp.</a:t>
            </a:r>
          </a:p>
          <a:p xmlns:a="http://schemas.openxmlformats.org/drawingml/2006/main">
            <a:r>
              <a:t>5. У Logs знайдіть «База відповідає» і «Стартую MCP-сервер».</a:t>
            </a:r>
          </a:p>
          <a:p xmlns:a="http://schemas.openxmlformats.org/drawingml/2006/main">
            <a:r>
              <a:t>6. Claude → Connectors → Add custom connector. Додайте URL і повторіть «Що є в цій базі?».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Важливе попередження: адреса без auth публічна. Для реальних даних спершу виконайте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Якщо відкриття /mcp у браузері дає Missing session ID, це очікувано: браузер не виконав MCP initialize.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Таймінг: 48:30–50:00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Фінал:</a:t>
            </a:r>
          </a:p>
          <a:p xmlns:a="http://schemas.openxmlformats.org/drawingml/2006/main">
            <a:r>
              <a:t>1. MCP дає моделі контрольовані інструменти.</a:t>
            </a:r>
          </a:p>
          <a:p xmlns:a="http://schemas.openxmlformats.org/drawingml/2006/main">
            <a:r>
              <a:t>2. Безпеку тримають права бази, не надія на промпт.</a:t>
            </a:r>
          </a:p>
          <a:p xmlns:a="http://schemas.openxmlformats.org/drawingml/2006/main">
            <a:r>
              <a:t>3. Один і той самий сервер працює локально через stdio та в Railway через HTTP.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Наступні кроки з репозиторію: docs/NEXT-STEPS.md, docs/DEPLOY.md, deploy/AUTH.md.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Запросіть питання. Якщо часу немає, дайте QR або посилання на репозиторій окремо в чаті мітапу.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ecb739810246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8971e999474081" /><Relationship Type="http://schemas.openxmlformats.org/officeDocument/2006/relationships/slideLayout" Target="/ppt/slideLayouts/slideLayout1.xml" Id="Rfe79bb7850884b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9bb7850884b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ad3dda5ff4c58" /><Relationship Type="http://schemas.openxmlformats.org/officeDocument/2006/relationships/image" Target="/ppt/media/image.png" Id="R3ed87ece4ae3421e" /><Relationship Type="http://schemas.openxmlformats.org/officeDocument/2006/relationships/image" Target="/ppt/media/image2.png" Id="Rf616266659884814" /><Relationship Type="http://schemas.openxmlformats.org/officeDocument/2006/relationships/notesSlide" Target="/ppt/notesSlides/notesSlide1.xml" Id="R50990bb7847c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30e74836e4b27" /><Relationship Type="http://schemas.openxmlformats.org/officeDocument/2006/relationships/notesSlide" Target="/ppt/notesSlides/notesSlide2.xml" Id="R400acd60c8ad4a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304f2331641fc" /><Relationship Type="http://schemas.openxmlformats.org/officeDocument/2006/relationships/notesSlide" Target="/ppt/notesSlides/notesSlide3.xml" Id="Rcd7db335ae2c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c796cea634b92" /><Relationship Type="http://schemas.openxmlformats.org/officeDocument/2006/relationships/notesSlide" Target="/ppt/notesSlides/notesSlide4.xml" Id="Rd5c3fddb5fec47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986d93f314f0e" /><Relationship Type="http://schemas.openxmlformats.org/officeDocument/2006/relationships/notesSlide" Target="/ppt/notesSlides/notesSlide5.xml" Id="Re18204e923aa42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ff81b1d2f4324" /><Relationship Type="http://schemas.openxmlformats.org/officeDocument/2006/relationships/image" Target="/ppt/media/image3.png" Id="Rb79bf9edf7a140bc" /><Relationship Type="http://schemas.openxmlformats.org/officeDocument/2006/relationships/image" Target="/ppt/media/image.svg" Id="R90a8313dd9634164" /><Relationship Type="http://schemas.openxmlformats.org/officeDocument/2006/relationships/image" Target="/ppt/media/image4.png" Id="Rbe4fd52472834a36" /><Relationship Type="http://schemas.openxmlformats.org/officeDocument/2006/relationships/image" Target="/ppt/media/image2.svg" Id="R6653395c56434390" /><Relationship Type="http://schemas.openxmlformats.org/officeDocument/2006/relationships/notesSlide" Target="/ppt/notesSlides/notesSlide6.xml" Id="R3f4f48dccdb345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a88d832db4234" /><Relationship Type="http://schemas.openxmlformats.org/officeDocument/2006/relationships/image" Target="/ppt/media/image5.png" Id="R03d6e87971304a8f" /><Relationship Type="http://schemas.openxmlformats.org/officeDocument/2006/relationships/image" Target="/ppt/media/image3.svg" Id="R2b445e691b2f4c58" /><Relationship Type="http://schemas.openxmlformats.org/officeDocument/2006/relationships/notesSlide" Target="/ppt/notesSlides/notesSlide7.xml" Id="R2e15dde0c1834a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46fa9d3be4cb5" /><Relationship Type="http://schemas.openxmlformats.org/officeDocument/2006/relationships/image" Target="/ppt/media/image6.png" Id="R43d2bb55f31d4abb" /><Relationship Type="http://schemas.openxmlformats.org/officeDocument/2006/relationships/image" Target="/ppt/media/image4.svg" Id="R3467ea2ef5dd4565" /><Relationship Type="http://schemas.openxmlformats.org/officeDocument/2006/relationships/image" Target="/ppt/media/image7.png" Id="Rb4f897f17ad944cb" /><Relationship Type="http://schemas.openxmlformats.org/officeDocument/2006/relationships/image" Target="/ppt/media/image5.svg" Id="R7b11bfd734924e34" /><Relationship Type="http://schemas.openxmlformats.org/officeDocument/2006/relationships/notesSlide" Target="/ppt/notesSlides/notesSlide8.xml" Id="Rc227aa9e5ff848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e984756acc4c78" /><Relationship Type="http://schemas.openxmlformats.org/officeDocument/2006/relationships/image" Target="/ppt/media/image8.png" Id="Rbb318f6f4a73416d" /><Relationship Type="http://schemas.openxmlformats.org/officeDocument/2006/relationships/image" Target="/ppt/media/image6.svg" Id="Rd8bd57269fb14842" /><Relationship Type="http://schemas.openxmlformats.org/officeDocument/2006/relationships/notesSlide" Target="/ppt/notesSlides/notesSlide9.xml" Id="Rdad3713dd48d41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721d56105b4152" /><Relationship Type="http://schemas.openxmlformats.org/officeDocument/2006/relationships/notesSlide" Target="/ppt/notesSlides/notesSlide10.xml" Id="R2b802e71b0c64d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43dcf22ad4d03" /><Relationship Type="http://schemas.openxmlformats.org/officeDocument/2006/relationships/notesSlide" Target="/ppt/notesSlides/notesSlide11.xml" Id="R0a7821184baa42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74d328cc7b440f" /><Relationship Type="http://schemas.openxmlformats.org/officeDocument/2006/relationships/notesSlide" Target="/ppt/notesSlides/notesSlide12.xml" Id="R0ca6c79da5324c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75a22da8b45ed" /><Relationship Type="http://schemas.openxmlformats.org/officeDocument/2006/relationships/notesSlide" Target="/ppt/notesSlides/notesSlide13.xml" Id="R4d27900fe8f34a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1eba190d4e7d" /><Relationship Type="http://schemas.openxmlformats.org/officeDocument/2006/relationships/notesSlide" Target="/ppt/notesSlides/notesSlide14.xml" Id="R39d1bf0a09b54d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45090a49f4593" /><Relationship Type="http://schemas.openxmlformats.org/officeDocument/2006/relationships/notesSlide" Target="/ppt/notesSlides/notesSlide15.xml" Id="Rd86a36f159684fd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11bd828b54e12" /><Relationship Type="http://schemas.openxmlformats.org/officeDocument/2006/relationships/notesSlide" Target="/ppt/notesSlides/notesSlide16.xml" Id="Rd7fab3ff051849d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c5c277aaf4420" /><Relationship Type="http://schemas.openxmlformats.org/officeDocument/2006/relationships/notesSlide" Target="/ppt/notesSlides/notesSlide17.xml" Id="R310cf8974b0643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30af5da034ccf" /><Relationship Type="http://schemas.openxmlformats.org/officeDocument/2006/relationships/notesSlide" Target="/ppt/notesSlides/notesSlide18.xml" Id="R9e8fb125d55642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59b1dd61049bd" /><Relationship Type="http://schemas.openxmlformats.org/officeDocument/2006/relationships/notesSlide" Target="/ppt/notesSlides/notesSlide19.xml" Id="R09bb15c2d5d2486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0566fd463484d" /><Relationship Type="http://schemas.openxmlformats.org/officeDocument/2006/relationships/notesSlide" Target="/ppt/notesSlides/notesSlide20.xml" Id="Re4a36447ae674e1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7c929bbea402c" /><Relationship Type="http://schemas.openxmlformats.org/officeDocument/2006/relationships/notesSlide" Target="/ppt/notesSlides/notesSlide21.xml" Id="R193e2d1f634b4e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dde6db9fb4320" /><Relationship Type="http://schemas.openxmlformats.org/officeDocument/2006/relationships/notesSlide" Target="/ppt/notesSlides/notesSlide22.xml" Id="R14681762a27b4a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0fad7389394964" /><Relationship Type="http://schemas.openxmlformats.org/officeDocument/2006/relationships/notesSlide" Target="/ppt/notesSlides/notesSlide23.xml" Id="Rfdd4e221cfd5431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a254d95144e6" /><Relationship Type="http://schemas.openxmlformats.org/officeDocument/2006/relationships/notesSlide" Target="/ppt/notesSlides/notesSlide24.xml" Id="R243670ddabd74c0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bdd5a213f4c61" /><Relationship Type="http://schemas.openxmlformats.org/officeDocument/2006/relationships/image" Target="/ppt/media/image9.png" Id="R27d21653f69848e7" /><Relationship Type="http://schemas.openxmlformats.org/officeDocument/2006/relationships/image" Target="/ppt/media/image7.svg" Id="R19dac33f9511476d" /><Relationship Type="http://schemas.openxmlformats.org/officeDocument/2006/relationships/notesSlide" Target="/ppt/notesSlides/notesSlide25.xml" Id="R7a72ff90bc4a47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eaf70d2064c68" /><Relationship Type="http://schemas.openxmlformats.org/officeDocument/2006/relationships/image" Target="/ppt/media/image10.png" Id="R19cdd6d8a7464433" /><Relationship Type="http://schemas.openxmlformats.org/officeDocument/2006/relationships/image" Target="/ppt/media/image8.svg" Id="Rd7b3cca75027487b" /><Relationship Type="http://schemas.openxmlformats.org/officeDocument/2006/relationships/notesSlide" Target="/ppt/notesSlides/notesSlide26.xml" Id="R6b18232b061b42b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9f3797eab4a12" /><Relationship Type="http://schemas.openxmlformats.org/officeDocument/2006/relationships/notesSlide" Target="/ppt/notesSlides/notesSlide27.xml" Id="R4e72c58f1a94457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37e2d1b145446e" /><Relationship Type="http://schemas.openxmlformats.org/officeDocument/2006/relationships/notesSlide" Target="/ppt/notesSlides/notesSlide28.xml" Id="R00709d0e68ef4b2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36d692efe4878" /><Relationship Type="http://schemas.openxmlformats.org/officeDocument/2006/relationships/image" Target="/ppt/media/image11.png" Id="R0749fa211a6742d6" /><Relationship Type="http://schemas.openxmlformats.org/officeDocument/2006/relationships/image" Target="/ppt/media/image9.svg" Id="Rfb5a2c2068a04fce" /><Relationship Type="http://schemas.openxmlformats.org/officeDocument/2006/relationships/image" Target="/ppt/media/image12.png" Id="R245c13617ee54562" /><Relationship Type="http://schemas.openxmlformats.org/officeDocument/2006/relationships/image" Target="/ppt/media/image10.svg" Id="Rc91007aff6ed4207" /><Relationship Type="http://schemas.openxmlformats.org/officeDocument/2006/relationships/image" Target="/ppt/media/image13.png" Id="Rb50259af723d45f6" /><Relationship Type="http://schemas.openxmlformats.org/officeDocument/2006/relationships/image" Target="/ppt/media/image11.svg" Id="R851e82dd9b4c42d6" /><Relationship Type="http://schemas.openxmlformats.org/officeDocument/2006/relationships/image" Target="/ppt/media/image14.png" Id="R89a10ea940f04d2a" /><Relationship Type="http://schemas.openxmlformats.org/officeDocument/2006/relationships/image" Target="/ppt/media/image12.svg" Id="R38c227a570ba4f45" /><Relationship Type="http://schemas.openxmlformats.org/officeDocument/2006/relationships/image" Target="/ppt/media/image15.png" Id="R0c59ec461bdc4070" /><Relationship Type="http://schemas.openxmlformats.org/officeDocument/2006/relationships/image" Target="/ppt/media/image13.svg" Id="R4a76d243ed744507" /><Relationship Type="http://schemas.openxmlformats.org/officeDocument/2006/relationships/notesSlide" Target="/ppt/notesSlides/notesSlide29.xml" Id="Ra0feef27f4b040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28936d5c84ab8" /><Relationship Type="http://schemas.openxmlformats.org/officeDocument/2006/relationships/notesSlide" Target="/ppt/notesSlides/notesSlide30.xml" Id="Rf09973f1763f4e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59fedbe834ae0" /><Relationship Type="http://schemas.openxmlformats.org/officeDocument/2006/relationships/image" Target="/ppt/media/image16.png" Id="R20321f5f76f34449" /><Relationship Type="http://schemas.openxmlformats.org/officeDocument/2006/relationships/notesSlide" Target="/ppt/notesSlides/notesSlide31.xml" Id="Rbc9d6be679644d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23D46-37A9-4E65-AE5A-985E5144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0"/>
            <a:ext cx="5124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F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A3D38-7A34-47ED-A293-0A67B9DC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42950"/>
            <a:ext cx="3714750" cy="514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3CC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87ece4ae3421e"/>
          <a:stretch xmlns:a="http://schemas.openxmlformats.org/drawingml/2006/main"/>
        </p:blipFill>
        <p:spPr>
          <a:xfrm xmlns:a="http://schemas.openxmlformats.org/drawingml/2006/main">
            <a:off x="685800" y="411097"/>
            <a:ext cx="2857500" cy="62560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4239A-433C-4E1C-B801-341612EF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50-ХВИЛИННИЙ ВОРКШОП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0F20B-50ED-43CC-91AB-D98B870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191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AI-аналітик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над базою даних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3A880-6F9D-42FF-A0E3-0519AC7F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Від локального MCP до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C0F83-1452-426B-926D-3662C1A6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504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6B734C-19C2-43CD-9570-BE53B876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Простий шлях: зрозуміти → запустити → побачити → задеплоїти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6266659884814"/>
          <a:stretch xmlns:a="http://schemas.openxmlformats.org/drawingml/2006/main"/>
        </p:blipFill>
        <p:spPr>
          <a:xfrm xmlns:a="http://schemas.openxmlformats.org/drawingml/2006/main">
            <a:off x="7715250" y="2244429"/>
            <a:ext cx="4000500" cy="35597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649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32488-3E39-474E-9911-F2321A8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D6B81-7ABD-4949-BCE3-25B457EF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96CF5-EFBD-420A-8D78-5AE08CFB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46C9AE-95EB-4090-9C7F-44FE353B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B109D5-4F51-4C44-8EEE-643FF859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 50 хвилин ми пройдемо весь шлях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8F598-83A0-48B4-AB4C-A7807D3E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CE8D5-8CAD-4FE8-AB03-6321071A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00–10 ХВ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43297-C8A3-46BE-9359-BDBEE51D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Мова без жаргону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F127A-D0BE-49D0-BF93-A7B9E2E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GitHub, Docker, база,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F94B0-D197-4CE4-B959-7852782C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62BB3-EFCE-4903-9D4A-A0BB78C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10–25 ХВ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0C7AD1-CE04-4AE7-93BD-10FAA23E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Як працює 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05113-3A92-4A58-BFA5-3EF60148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архітектура, інструменти, безпека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B7D18-83F3-4725-BF6B-B8C6E181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449EB-DBAA-4658-B0CF-28A4A38F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25–39 ХВ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D703A9-3142-4D85-82E8-33029734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запуск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06BF7-EDA7-49AF-B8C1-500D4E32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підготовка та живе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D1C45-FCF7-472F-996D-34DCC60C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714500"/>
            <a:ext cx="2476500" cy="2952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4DF5D3-F1BA-47BD-9975-8903E700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39–49 ХВ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22C9A9-B3D2-45D1-96E2-89F370B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479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Хмара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520BE-E02F-4F18-A151-21282569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813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Docker-образ, Railway, підключення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5D9EE-E013-4444-9200-C82B0A9C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Залишаємо 1 хвилину на перемикання й питання по ходу</a:t>
            </a:r>
          </a:p>
        </p:txBody>
      </p:sp>
    </p:spTree>
    <p:extLst>
      <p:ext uri="{BB962C8B-B14F-4D97-AF65-F5344CB8AC3E}">
        <p14:creationId xmlns:p14="http://schemas.microsoft.com/office/powerpoint/2010/main" val="815127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36E748-B4BF-4F97-A004-95FB3694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CD127-1A82-4974-B85B-A43ABB30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9AA3E-884F-4C50-9049-06DA80C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E44A8-7545-4833-B4CF-F4650AC4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68ED0-527B-4B1C-93D7-37D0F39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Звичайне питання стає перевіреною відповіддю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52C52-1ED6-4FFC-A948-B538055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F4007-B691-482E-AE75-8D55AB7F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3295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«Скільки уроків ми провели минулого місяця?»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E44A8-B440-4E3F-8A9C-382EC97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39052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5E0C4A-6D9E-47DE-80D9-B2949C1F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098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1 284 уроки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79E17-596D-43F3-940D-DD5AE9B3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575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 SQL, поясненням і можливістю зберегти звіт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32C82-B87B-4D3F-9C78-295ED144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7145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BB2CB0-A809-41C1-AB40-F080C625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5615A-C6FD-4CBC-8705-16B9B66A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33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перевіряє схему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пише SELECT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48200" y="273367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05625" y="27336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587A7-4C01-46FD-AE69-C9735DE3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33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Наша мета — зробити цей шлях видимим і контрольованим</a:t>
            </a:r>
          </a:p>
        </p:txBody>
      </p:sp>
    </p:spTree>
    <p:extLst>
      <p:ext uri="{BB962C8B-B14F-4D97-AF65-F5344CB8AC3E}">
        <p14:creationId xmlns:p14="http://schemas.microsoft.com/office/powerpoint/2010/main" val="1944492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8F0D6E-CE3C-4115-81AF-4DD54623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B2B30-C93E-4CF9-91F2-E2B49D2B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5B78B-8C6E-40D5-BF29-52EA0BEC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6BF18-6808-4486-86C4-3C89BA23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34147-4A67-40A3-B0A4-C081FBB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Проєкт у одному реченні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C4243-DBBE-4442-A225-F60368B8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отримує безпечні інструменти для аналізу PostgreSQL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896B7-7AF4-4032-8BBC-3722FA62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8E673-8E88-4B51-934E-E4E71BA2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E4722B-9EC5-480E-A02B-C1A0614A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333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87D4E-B4B4-44BD-85D8-AB566A4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 + Claude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21CAEF-865C-46F0-A625-D1589076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C66256-3939-4223-B934-AE982A14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85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8137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239000" y="36195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9A95D-8168-4047-ADC6-BD2BF264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4825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П’ять функцій замість необмеженого доступу</a:t>
            </a:r>
          </a:p>
        </p:txBody>
      </p:sp>
    </p:spTree>
    <p:extLst>
      <p:ext uri="{BB962C8B-B14F-4D97-AF65-F5344CB8AC3E}">
        <p14:creationId xmlns:p14="http://schemas.microsoft.com/office/powerpoint/2010/main" val="2542538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B36FDB-48C0-4E10-83A4-5BBB159E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6F8E0-76E8-435C-9D31-E1F72BF3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45068-A4E7-4058-911E-2B63D247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C8120-F9B1-4B5D-B9E9-7C9E216D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19ED0-F4B8-4D20-A960-5E7C3A34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Шість слів, які треба розрізняти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569A4-BB9C-4C47-AE99-6EE4DA97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1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84D7E-8EEA-4B68-B3CB-59C220AD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B0567-BBF1-4BE4-B5E3-2A7128FC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C75D6-64DA-45E3-A85D-DC33BEDB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38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генерує наступний крок або 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0DC6D-A1A5-4AEC-8A53-4248C42B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14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28A6B-4CA8-46B5-BCC4-AD74CDB5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DEC5F-EE29-477C-9A4A-C57ECF47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85947-523F-4829-A6D3-FBA92911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3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Агент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FD9CB5-5B6F-492A-B269-7CB5A710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повторює цикл: подумав, викликав, перевірив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A12619-1BB6-46E8-87BF-5D63A92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AAEEEB-42C9-470E-AD80-6612CEDD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43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2148E-F083-46CC-A038-28D12A3B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3D55C-0FBA-4909-BA38-5C9B1AAA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05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8858BF-1CB8-4F97-9A5C-C714371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звичайна функція з чітким входом і виходом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73836-1567-4169-A5F2-F5B2206C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587C8-ECE0-488C-9092-7788E873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A86F7-60C6-4425-960B-51F99FE1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46233-367A-4E19-B9F0-20DF067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67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F84EF-5E3C-4D0E-AAC5-0F6518FC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67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правила розмови клієнта з інструментами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412B50-EEF1-4813-8C05-E0E5B1A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00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CF45E1-7A68-41F0-A3C8-F64A8313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67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A6D6E2-EB1E-438F-BA75-AB66EBE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09B4A-51C9-429A-9056-3C37D7E1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9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75397-E1F9-4400-812F-71013A4C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29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структуровано зберігає дані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83377D-AE4A-4C3F-AE8F-2FE28039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62525"/>
            <a:ext cx="966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712C5C-C4E4-42E6-911E-361AC77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292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716AFB-ACAB-4149-BBD1-A95B65D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35621-3166-4465-B78D-52000797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911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F07219-8416-45AF-AC10-BEFDD471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запускає сервіс там, де він доступний іншим</a:t>
            </a:r>
          </a:p>
        </p:txBody>
      </p:sp>
    </p:spTree>
    <p:extLst>
      <p:ext uri="{BB962C8B-B14F-4D97-AF65-F5344CB8AC3E}">
        <p14:creationId xmlns:p14="http://schemas.microsoft.com/office/powerpoint/2010/main" val="945349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ADCC2-5DAA-4A3B-9D09-4E29E223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1D988-A1A0-4150-A37D-B209E74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CD60B-F96A-42C2-9842-7BFCD8E5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EDAAA-C61E-419D-B2CB-D7266E40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A99E2-0C6E-4711-8436-469019F6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 зберігає історію, GitHub — репозиторій онлайн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EAFAA-2C4A-418F-8A0A-017EF9B6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B3BB2A-C293-41DC-97A9-08A69586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7625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bf9edf7a140bc">
            <a:extLst>
              <a:ext uri="{96DAC541-7B7A-43D3-8B79-37D633B846F1}">
                <asvg:svgBlip xmlns:asvg="http://schemas.microsoft.com/office/drawing/2016/SVG/main" r:embed="R90a8313dd963416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047750" cy="1047750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fd52472834a36">
            <a:extLst>
              <a:ext uri="{96DAC541-7B7A-43D3-8B79-37D633B846F1}">
                <asvg:svgBlip xmlns:asvg="http://schemas.microsoft.com/office/drawing/2016/SVG/main" r:embed="R6653395c564343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00875" y="2047875"/>
            <a:ext cx="1047750" cy="1047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479AB-671A-4B05-A784-E7BB9764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63ED5-D2B0-4173-8F9B-9082EF74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«машина часу» для файлів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EB6916-9D5B-4465-B83E-57E120C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commit = збережена версія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branch = окрема лінія роботи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A94FE-76B8-4F03-B0CD-84F6A6FB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7E991-A776-4DA1-8547-20C16ED9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хостинг для Git-репозиторію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44806-8019-4501-A76A-2B0FB903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290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clone = завантажити копію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= відправити зміни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B5629C-13F3-4860-87A3-A8AB3D7A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816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Railway бере код саме з GitHub</a:t>
            </a:r>
          </a:p>
        </p:txBody>
      </p:sp>
    </p:spTree>
    <p:extLst>
      <p:ext uri="{BB962C8B-B14F-4D97-AF65-F5344CB8AC3E}">
        <p14:creationId xmlns:p14="http://schemas.microsoft.com/office/powerpoint/2010/main" val="21191566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41CB4-F14F-4FA8-81C1-3ABABBC8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5403C-96AD-4046-98B6-15265EC3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7494D-FC82-41C9-B9FF-B067BC8E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114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AB5B4-A4FB-4719-A45D-60432476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BED0D-28BD-4A9F-8727-E3C418DC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Docker дає однакове середовище на кожному комп’ютері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6e87971304a8f">
            <a:extLst>
              <a:ext uri="{96DAC541-7B7A-43D3-8B79-37D633B846F1}">
                <asvg:svgBlip xmlns:asvg="http://schemas.microsoft.com/office/drawing/2016/SVG/main" r:embed="R2b445e691b2f4c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1714500"/>
            <a:ext cx="2857500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F27F1-0F6C-48B0-8E4C-9ACEB875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7FE3B-77E4-4D00-BDB3-D7F9385F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642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Ізольований процес із потрібною версією програми та її налаштуваннями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F4385-B308-4660-826B-39BB6F8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9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293C0-0841-49FD-9729-DE528250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28575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FE40F-9DD6-4F48-B146-9AEFD0A6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Образ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4C32B-9295-4389-8FFE-F4BAC6D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рецепт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A7A94-D86C-4F63-A81B-1E965BD4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93EC8-B906-4653-AB1B-E292776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запущена страва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91375" y="41910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44BD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3ED3E-1BDE-4C7E-B5D7-29886AB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197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У нас Docker локально запускає PostgreSQL</a:t>
            </a:r>
          </a:p>
        </p:txBody>
      </p:sp>
    </p:spTree>
    <p:extLst>
      <p:ext uri="{BB962C8B-B14F-4D97-AF65-F5344CB8AC3E}">
        <p14:creationId xmlns:p14="http://schemas.microsoft.com/office/powerpoint/2010/main" val="1619313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F37C6-ABFF-44AA-938C-ADEEAC8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9D5BA-F6F1-4757-A0FD-F0268207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D6DB1-0549-4D69-8937-5B9805C2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466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F10D5-7CFB-4302-947E-40785D7D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AEA1A-00D8-4794-9991-DF1CA547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 виконує логіку, PostgreSQL зберігає дані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80FE0-1A2A-4EC1-8F80-28FF5EB49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4E756-0C50-4576-ABF4-5DB8C5B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762500" cy="35242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2bb55f31d4abb">
            <a:extLst>
              <a:ext uri="{96DAC541-7B7A-43D3-8B79-37D633B846F1}">
                <asvg:svgBlip xmlns:asvg="http://schemas.microsoft.com/office/drawing/2016/SVG/main" r:embed="R3467ea2ef5dd45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38250" y="2047875"/>
            <a:ext cx="1143000" cy="1143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897f17ad944cb">
            <a:extLst>
              <a:ext uri="{96DAC541-7B7A-43D3-8B79-37D633B846F1}">
                <asvg:svgBlip xmlns:asvg="http://schemas.microsoft.com/office/drawing/2016/SVG/main" r:embed="R7b11bfd734924e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204787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71D30A-3327-45AE-A3DB-499AC39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9DBA0-B42F-42CA-B50A-BBC950B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0E9F8-2F3F-41FA-8E14-72D65E02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52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5641A-1A26-4C38-9890-EBF7C9FA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762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зв’язки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права доступу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430AB-27D3-44C7-AB83-7F843037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psycopg = бібліотека-мостик між Python і PostgreSQL</a:t>
            </a:r>
          </a:p>
        </p:txBody>
      </p:sp>
    </p:spTree>
    <p:extLst>
      <p:ext uri="{BB962C8B-B14F-4D97-AF65-F5344CB8AC3E}">
        <p14:creationId xmlns:p14="http://schemas.microsoft.com/office/powerpoint/2010/main" val="1264492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B44A58-1ED3-4A3F-97DC-3A28B91D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1A9091-B2CC-4EEA-A1B9-BDECA470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74FFB-71F8-4D92-9391-1AA3A92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2819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E4F6B-7972-4A72-8FC7-E4798B2F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35C23-8D3C-4460-BB65-21813211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 з’єднує AI-клієнт з інструментами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18f6f4a73416d">
            <a:extLst>
              <a:ext uri="{96DAC541-7B7A-43D3-8B79-37D633B846F1}">
                <asvg:svgBlip xmlns:asvg="http://schemas.microsoft.com/office/drawing/2016/SVG/main" r:embed="Rd8bd57269fb148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" y="1809750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50FBA-4651-4BE7-92F4-BBDE8446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C4B92-4DEF-486C-BB55-24BB7FCA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18097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E368C5-024C-4B46-9351-F3EBA461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C30AD-F82D-4CC7-A9BF-E593C27C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Desktop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F2F8EF-F1DD-470E-BF15-18E8E7E3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Сервер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5B0A5C-6A75-4192-8E0E-E31CA5EF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наші 5 інструментів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381750" y="27146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038FB-EB10-4D8F-9913-1F88501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619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СТАНДАРТНИЙ ПРОТОКОЛ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332A3-8CB5-4A76-B074-1B969F1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Клієнт бачить назву, опис, аргументи та результат кожного інструмента</a:t>
            </a:r>
          </a:p>
        </p:txBody>
      </p:sp>
    </p:spTree>
    <p:extLst>
      <p:ext uri="{BB962C8B-B14F-4D97-AF65-F5344CB8AC3E}">
        <p14:creationId xmlns:p14="http://schemas.microsoft.com/office/powerpoint/2010/main" val="1472219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F5DBE-904C-457D-80FF-A0386A4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6F12E-B827-4449-8992-787E9B88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96195-C0B7-4C59-A706-DEECE57A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1718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EE05C-4BE9-4DDD-9A30-6A6C2134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269B54-AFE8-464F-B259-C7D0226C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Модель, агент і інструменти мають різні ролі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E5E09-2D09-4E5D-8F59-2520E802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27E26-6698-4E4A-92F8-83ABB0E2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C3EC5-2990-495A-B039-9B1BFAF8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A370E-2B34-492F-8466-D838DE95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38469-CDDE-4AE7-ACB0-254D76D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що робити далі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36EE8-4B70-4028-8591-FBA59AF2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EFD0D-D547-42B1-8247-481E4B4D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4AB132-1B35-479E-B1CC-764217ED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13261-93D9-491C-BEFB-97CE40A3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Агентний цикл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9A709F-1D3B-49E5-B07A-B7EA3D8D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викликає функцію та читає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D1659-00CD-46F3-B185-43FED06B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857500" cy="2428875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7BCF3-B880-443B-AF52-10932209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F6596-F1E8-4E98-B730-5242BC95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02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7697F-F47D-4002-B48C-504C64D7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62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4ACC5-D642-47BE-B537-D3AD0227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3813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детерміновано виконує одну дію</a:t>
            </a:r>
          </a:p>
        </p:txBody>
      </p: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619500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191375" y="3167063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EDFCE-FE26-428C-BD1F-41F76E92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У коді ми пишемо інструменти. Послідовність обирає Claude</a:t>
            </a:r>
          </a:p>
        </p:txBody>
      </p:sp>
    </p:spTree>
    <p:extLst>
      <p:ext uri="{BB962C8B-B14F-4D97-AF65-F5344CB8AC3E}">
        <p14:creationId xmlns:p14="http://schemas.microsoft.com/office/powerpoint/2010/main" val="1404740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56A50-E595-48BD-80E2-01D9CA00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CFDE2-059A-45CC-8B67-20B955F9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C497E-74FF-495A-BCC7-9B826A9F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52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982391-7D5D-420E-ACE4-FCDBA3F0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21D16-43C0-4598-BC12-00217311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Доступ до даних проходить через MCP-сервер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EAFC5-1DE1-4D7D-B463-AE0F2966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952625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68C38-26BB-4260-A5FC-1FE8B617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857500" cy="2000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566C1-F77E-4FFF-86D6-8CDA3276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33500"/>
            <a:ext cx="3048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C102D-317A-4F0D-AF83-836581A7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048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E9553-1D99-493D-B196-6D47B9E2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57500" cy="10001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366F7-EDF4-46B1-8C1B-8925F428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381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Людина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+ 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836CE-9E74-4DE7-B5CF-3465A717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MCP-сервер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F3D52-7BCF-49C5-A18B-00826B2C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6700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5 інструментів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перевірки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журнал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D7942-721D-4168-B2B5-77465A0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89D28D-7456-488E-B151-E774C31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6F134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AA259-28A8-40CF-853A-C07FE24B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ML-модель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CBCD9-896E-43F2-932E-8D612344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готовий model.pkl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16E5F-057E-4B25-9612-0172C435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HTML-звіт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19375" y="27146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572250" y="2047875"/>
            <a:ext cx="133350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572250" y="2714625"/>
            <a:ext cx="133350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5143500" y="371475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87E87-BCC0-437C-A3D7-6ECCA8E3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Пароль від бази зберігається на сервері, а не в чаті</a:t>
            </a:r>
          </a:p>
        </p:txBody>
      </p:sp>
    </p:spTree>
    <p:extLst>
      <p:ext uri="{BB962C8B-B14F-4D97-AF65-F5344CB8AC3E}">
        <p14:creationId xmlns:p14="http://schemas.microsoft.com/office/powerpoint/2010/main" val="13024838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FFB73A9-F386-490A-808D-04935FA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50258-8EA8-4335-BD7E-BB5401E5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5221A-3186-443D-93CA-9BD87E49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3876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0D77F-DEAF-4B7B-A645-0C2DD00E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FFC0B9-5BE7-4D8E-ADB8-0A0802D2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запит проходить шість видимих кроків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49546-57AD-49E7-B5C1-95A74CA9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03635-E99C-44A8-9E75-286D7426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7E350-2395-413F-B9C5-C10D4BC4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41B45-D54B-498E-B808-488A3417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934D8-89DE-47F5-ABFA-00A9F71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C799D-7886-4183-A824-88E8024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92EA3D-3B53-4EFC-A396-80061D5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1B7D2-8E17-462F-8F64-4F4B5FE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Список таблиць</a:t>
            </a:r>
          </a:p>
        </p:txBody>
      </p: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383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F5CB3-7E04-42CE-9CAA-D516D231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D6AE5-D169-474E-861E-546DF381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D6B1D-7A4B-479C-ACCD-4789D444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45B39-C3AE-46EC-B389-AE4F45EB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Опис схеми</a:t>
            </a:r>
          </a:p>
        </p:txBody>
      </p: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1624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ED098-0F4E-4466-8AC9-932F1999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F783A2-79CA-4468-89DE-6956B6E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A00E1-6970-4129-A6A0-72E5391B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C132C-2B5B-4255-BCCA-C518EC69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cxnSp>
        <p:nvCxnSpPr>
          <p:cNvPr id="59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864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C29FB-4EEE-4F85-9121-74A60FE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28212-8519-4D23-A317-27F6E3C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FFEC5-0CEF-44CD-B1C7-1269BDC5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47B173-4A0F-4A65-B9F7-EFF6F2B6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cxnSp>
        <p:nvCxnSpPr>
          <p:cNvPr id="64" name=""/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01052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5C82F3-DE12-4AC6-9DC1-FEDF564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86000"/>
            <a:ext cx="161925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F74C8-A06A-458D-A9A8-979C00C4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57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380066-AF97-48F5-A38B-8C5832F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4669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168297-2EE3-4734-87C6-E362E405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003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Пояснення</a:t>
            </a:r>
          </a:p>
        </p:txBody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934575" y="309562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8592B7-FD6A-4E4F-B364-32AD736E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Кожен виклик можна розгорнути й перевірити в інтерфейсі Claude</a:t>
            </a:r>
          </a:p>
        </p:txBody>
      </p:sp>
    </p:spTree>
    <p:extLst>
      <p:ext uri="{BB962C8B-B14F-4D97-AF65-F5344CB8AC3E}">
        <p14:creationId xmlns:p14="http://schemas.microsoft.com/office/powerpoint/2010/main" val="14487023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9402E2-A0A3-40DE-AECB-578CDE36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9E903-280F-4B3C-A1FA-EA2F7344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16CAE-B71A-446C-B98F-F6B082E1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22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C0525-5564-4122-89FE-A7C621FE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70554-0C5D-4085-BBE7-4BB017E3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П’ять інструментів: від схеми до прогнозу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6F897-9F50-4E94-B1A2-13C01C4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25443-C6C7-4AC0-BB24-0436D99F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0999A2-4F00-41A9-8021-88779BF3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6F8D5-F0F0-43A6-AEAA-652EF323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C0BAC-66BB-4458-BE28-96CCF2D8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що 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132F4-96DC-4D46-A75F-340B5EE4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66C94-2F1D-4E85-9868-8F808E7C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47FA1-BC36-47AA-B9DD-37E378CA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74929-6428-4CBA-B545-F6F32DC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8645A-FCE0-461D-87F0-81FB43F4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як влаштовано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3A167-92E6-4F0D-9557-6D6A2025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F3A88B-3397-46A4-BF49-A20A9300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DCD11-B004-44A5-9AD8-951B2F00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1F66B-CDBF-422C-BAE7-F211BA8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B455F-9826-4635-836B-421AC8B5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прочитати дані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0ACA0E-FCD3-43AC-A99E-E020323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5C205-D7A2-4450-9D08-4034BE29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35C5A7-E77A-4950-BA18-DB27F7E1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B462D2-6247-4665-9FAA-C3465784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0066EF-80ED-4BE9-AC6B-CD116F41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зберегти HTML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CAEBC-7052-455C-A08D-57904243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05000"/>
            <a:ext cx="2095500" cy="2571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31DC6-3D62-4F03-B507-286637E8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145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BB6015-7B83-410E-A621-2C79503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24075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6593AA-C00A-4FAA-8320-6E43D8CB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9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FF5838-FB24-4A55-B1A3-538FCE82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57187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оцінити ризик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07950B-0F04-499A-BE78-34CD56F8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95875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Окремого інструмента «побудувати графік» навмисно немає</a:t>
            </a:r>
          </a:p>
        </p:txBody>
      </p:sp>
    </p:spTree>
    <p:extLst>
      <p:ext uri="{BB962C8B-B14F-4D97-AF65-F5344CB8AC3E}">
        <p14:creationId xmlns:p14="http://schemas.microsoft.com/office/powerpoint/2010/main" val="10412234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EF07F-0B6A-4704-802A-7DE58B26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4E902-AC8E-4285-BCDE-BF6DE3DC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0740F7-00E5-406E-9C44-AEDD0C19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5815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421CD-7EBF-4326-A6E7-17A592D3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2A481-2CEB-468C-A941-77BA0D24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Docstring пояснює моделі, коли викликати інструмент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738C5-BE14-4584-A95E-B083F6A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657225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026C0-38AD-478B-8C28-AD1AE8DB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526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679CF-3388-47B3-8939-6E33EB10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33600"/>
            <a:ext cx="6191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def run_sql(query: str, limit: int = 200):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"""Виконує лише SELECT-запит.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Спершу перевір схему таблиці.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Повертає колонки, рядки й ознаку truncation.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  """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9B3B2-F0F2-430A-B28F-2A3BF490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14325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9C43C-CF20-4156-A174-4586BBF3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КЛЮЧОВА ІДЕЯ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E2EE2-3921-4982-AEEE-9F768BC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Опис = інтерфейс для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E0017-395D-4F8D-AD92-E38385D1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1467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функції замала. Модель читає призначення, обмеження та формат результату.</a:t>
            </a:r>
          </a:p>
        </p:txBody>
      </p:sp>
    </p:spTree>
    <p:extLst>
      <p:ext uri="{BB962C8B-B14F-4D97-AF65-F5344CB8AC3E}">
        <p14:creationId xmlns:p14="http://schemas.microsoft.com/office/powerpoint/2010/main" val="13316195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D380E-E2F7-4558-94CB-CA8984A7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729CE-D54E-4217-A203-38E8B0C2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57837-CFDF-4C3D-8C52-C5BDE49F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493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04AF-FA2A-47B3-93A2-07318093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04E80-48F2-4D8C-886F-3BBF0627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Знання про дані живуть поруч із даними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93FA1-C555-4209-92FB-DD631949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6096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3B1D8-31C0-4EB3-AAC4-A0EBB6A1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43100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9D97A3-0EF5-4ECD-B858-06DD8FA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COMMENT ON COLUMN lessons.status IS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'completed — урок відбувся;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cancelled_by_parent — не рахувати як проведений';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AC7F1-49F4-4E85-A156-80F59A99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C7CEA-E3BD-4C2B-8AB2-DE6C255B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5804C-FF64-45BF-AED5-59341566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57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повертає коментар моделі разом із типами, зв’язками та прикладами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8D464-9FA7-4323-9C07-2BFBA677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05375"/>
            <a:ext cx="723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Менше прихованих правил у промпті</a:t>
            </a:r>
          </a:p>
        </p:txBody>
      </p:sp>
    </p:spTree>
    <p:extLst>
      <p:ext uri="{BB962C8B-B14F-4D97-AF65-F5344CB8AC3E}">
        <p14:creationId xmlns:p14="http://schemas.microsoft.com/office/powerpoint/2010/main" val="15048449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EFDF8-D302-4AE6-9827-D41E77A3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BFC0A-2350-4244-A013-31E59152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FAFFC0-FBE1-44C9-95AB-67BE262A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28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18E2F-27A4-4228-BFD1-55030952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935B6-CC82-4BB0-B3FA-89274376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Три шари не дають агенту зіпсувати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D35A6-C53A-4A8F-9242-045D9EA9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9C7254-0D97-4BB2-8393-EFD9B7B1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02BCC-6C5F-43A8-AB1C-AD23EBD0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95AD3-1962-465A-9315-3ED81BFA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пропускає SELECT і WITH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D3157-E27E-483B-B03D-42DC905C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7640A-1843-42D1-8B68-765FADB3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ШАР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A3DA35-F6DE-4650-98B5-F8DAB077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read-only роль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19E47-6001-40BD-A72D-59DA2FB9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PostgreSQL відхиляє запис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C67D8-2787-4CE2-93D8-EFAD8B2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52625"/>
            <a:ext cx="3143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F1F0D-0D56-4236-8419-DB6F6439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240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ШАР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53A83A-1EBF-4089-8489-B383DD6A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8602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B1C1C-B5D9-4783-B2BF-0435984A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38500"/>
            <a:ext cx="276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зберігає успіхи й помилки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38165-E991-472C-846A-F76B9C4F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Справжній бар’єр — права бази, а guard дає зрозумілу помилку раніше</a:t>
            </a:r>
          </a:p>
        </p:txBody>
      </p:sp>
    </p:spTree>
    <p:extLst>
      <p:ext uri="{BB962C8B-B14F-4D97-AF65-F5344CB8AC3E}">
        <p14:creationId xmlns:p14="http://schemas.microsoft.com/office/powerpoint/2010/main" val="16833773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5FE0DE-03C6-4260-B980-643254A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C142D-E7D7-4CF1-86CA-829E0C74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87340-4FE2-48BA-983E-392BD350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638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2E6AC-90E4-4E87-8428-C8E69534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7BA50-A83F-42AB-BA8C-90982690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Карта репозиторію: де що лежить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9C55E-2D26-4BC8-8B48-E6126EFA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762750" cy="4429125"/>
          </a:xfrm>
          <a:prstGeom xmlns:a="http://schemas.openxmlformats.org/drawingml/2006/main" prst="roundRect">
            <a:avLst>
              <a:gd name="adj" fmla="val 344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0DE2F-9219-48A7-A04C-3B73192C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838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ПАПКИ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D5CCD-77C7-455C-B7BC-9352F1B3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data-analyst-agent/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server/        MCP-сервер та інструменти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db/            схема, роль, демо-дані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ml/            навчання й model.pkl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tests/         перевірки поведінки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docs/          setup, deploy, next steps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deploy/        Dockerfile і старт у хмарі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├─ docker-compose.yml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└─ railway.toml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30B42-ADDB-48C8-A45A-7692753F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DFCEC7-D9FE-4CB4-9C51-18253562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server/main.py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27034-8740-450F-ABF7-77FC2A81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реєструє 5 tools, обирає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E272C7-7FBD-46DF-A67A-23C9E98C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3BCAE6-2753-4F34-BACE-39EC4FA3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670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server/db.py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4A972E-B52F-4D2B-8A7A-5E2DFE41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пул з’єднань, guard, помилки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E02FD-37DF-4F95-989F-F349220E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81500"/>
            <a:ext cx="3333750" cy="1123950"/>
          </a:xfrm>
          <a:prstGeom xmlns:a="http://schemas.openxmlformats.org/drawingml/2006/main" prst="roundRect">
            <a:avLst>
              <a:gd name="adj" fmla="val 16949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52FA3-8856-4244-94BB-3F05E20E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server/features.py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39B2E-F07C-4BA4-A468-5C511A1A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292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єдине джерело ML-ознак</a:t>
            </a:r>
          </a:p>
        </p:txBody>
      </p:sp>
    </p:spTree>
    <p:extLst>
      <p:ext uri="{BB962C8B-B14F-4D97-AF65-F5344CB8AC3E}">
        <p14:creationId xmlns:p14="http://schemas.microsoft.com/office/powerpoint/2010/main" val="6604082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0D661-353C-4DF6-A534-6115C829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39657-727F-4D4B-B1FE-C8597C06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937DB-2527-4CFD-84E3-446B992A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991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FFE602-AB01-4BB1-9F24-EE6732A2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8D0A5-93E0-4558-A77D-30BD7F1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таблиці описують навчальний процес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15C19-9232-4EFE-A4F4-152B6693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276C8-B77B-4756-8B95-53CA81E2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F494E-25ED-4000-8418-FD7B8283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14500"/>
            <a:ext cx="2286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255F7-ABA8-4297-A89C-463C03AD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14500"/>
            <a:ext cx="1905000" cy="1143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5415A-18E0-436C-86FA-7FB3CDE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86340-BF3A-40C4-B98C-2734537F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учень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6E6D29-A42F-402D-A895-1EB349AE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subscriptions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AB505-D511-42B1-8736-63EFB2ED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план занять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6928A5-B7EC-4506-9C31-A8C05A6F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lessons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D404D-9EDF-4D3D-921C-704EF7CF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 й статуси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DFA8A-EE69-44B3-B2AF-94084987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812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1C6BF6-DB02-444B-BB21-E8681B2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384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викладачі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29527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6000750" y="2286000"/>
            <a:ext cx="571500" cy="666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858250" y="22860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455CB3-9B26-44A4-B894-5C14E4CF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Один учень має підписку, підписка має уроки, урок проводить репетитор</a:t>
            </a:r>
          </a:p>
        </p:txBody>
      </p:sp>
    </p:spTree>
    <p:extLst>
      <p:ext uri="{BB962C8B-B14F-4D97-AF65-F5344CB8AC3E}">
        <p14:creationId xmlns:p14="http://schemas.microsoft.com/office/powerpoint/2010/main" val="2743976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CC06E-BD2F-4F64-BB80-1F285DF6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4B44F-A14C-4AE8-8404-1801BF7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39F4D-EEE7-4B7A-A5DE-61E281BF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343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0CF5B-4835-461E-9143-08A789C1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E2A9C-65AF-4D58-A93A-560997FE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Платежі, підтримка й аудит доповнюють картину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0C59E-F4DF-4634-8F2A-5574F8D7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F8BBA-9240-4AA5-A060-D3785C39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169B4-F8FE-452F-A73A-73700136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F84B0-D478-423A-B5DB-BF8D6A4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успішні й невдалі списання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90 днів для churn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E6FA6C-D110-48E7-8E3C-6FFD066E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2F3A0-E63B-4614-9DA1-BE4E9CBF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28D2E-B4F8-4C49-9E48-FE976579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support_tickets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283DF-B6C8-4203-AA72-7C518AD4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звернення учня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сигнал незадоволення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F3204-4A57-4E7F-BE24-4508F654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D6BB8-BBF1-42E3-BD8F-15E1259C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812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DD59F-4C82-4568-B651-081BCEB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audit_log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7D8C6-88BA-42A1-9D43-616C3D6E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всі виклики MCP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хто, що, коли, 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5D10F-0FA6-493A-A624-43FF3FC6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Разом у демо 7 таблиць</a:t>
            </a:r>
          </a:p>
        </p:txBody>
      </p:sp>
    </p:spTree>
    <p:extLst>
      <p:ext uri="{BB962C8B-B14F-4D97-AF65-F5344CB8AC3E}">
        <p14:creationId xmlns:p14="http://schemas.microsoft.com/office/powerpoint/2010/main" val="16798511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27C26-5497-4336-BC5D-C4A3D9D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1DCA4-6CAD-4994-9453-FAF40E11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44D26-95D2-4E36-AF04-C5AE6072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6696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F2715-0917-48FE-8B0A-FE591F33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E07B58-00E4-446D-88AA-4813F07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є два способи отримати базу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A74B1-58BE-4E4E-96B6-AF5FE9F3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88668-E225-4C2B-8C09-4B4A8453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НАЙШВИДШЕ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6409A-3298-4D5C-B8DF-DF9CB65C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А. База від ведучої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5BEB7-E177-46B7-A16A-7E3D3848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Вставити DATABASE_URL у .env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Docker не потрібен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2AF54-F3E5-4496-AEDA-E7ED3AEB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09750"/>
            <a:ext cx="4762500" cy="3048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01F55-C634-41DD-8C8F-A6A0CC1E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812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БІЛЬШЕ КОНТРОЛЮ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C8D6-B233-48B8-AE27-6ED40A53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38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Б. Своя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27714-DDCE-4CDC-9500-85A15061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43815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Запустити Docker Desktop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Виконати make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58B9A0-C6D1-4894-BFE4-9F17ED41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34000"/>
            <a:ext cx="771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Обидва варіанти дають серверу однаковий DATABASE_URL</a:t>
            </a:r>
          </a:p>
        </p:txBody>
      </p:sp>
    </p:spTree>
    <p:extLst>
      <p:ext uri="{BB962C8B-B14F-4D97-AF65-F5344CB8AC3E}">
        <p14:creationId xmlns:p14="http://schemas.microsoft.com/office/powerpoint/2010/main" val="87273971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66F261-B56E-47D3-A3D0-F41D0D4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44DB7-736F-4A4D-BE31-273EBA62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9C78B-1E1E-4958-9971-8AB05454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04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7E8F8-53A6-4784-A8EC-37FB356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5E4A57-6EBF-48E6-8FC0-2BB79AA8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Чотири етапи до першого локального запиту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FA8E9-1E8B-467B-9A87-ED20AE19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D4CCB-B331-4D52-B77A-70443F5E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8C54B-1A1C-40A4-A68F-9446168D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7E84D-80CB-494E-B64C-B9AB1A40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Завантажити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C6EAA-BEFB-457E-86E4-325AD964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git clone …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cd data-analyst-agent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DA6F7E-6712-44E7-A6E8-B27BA125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DD24E-6DE6-4A14-9A93-EF8DDC3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BA34B-5104-4581-9CF3-5800E3CA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D00FD-C160-4696-ABEA-BF5CF0C7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Ізолювати Python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15CEF-CFBF-4DA5-AF90-ABA69046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python3 -m venv .venv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pip install -e ".[dev]"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42A7F-BDB6-43D4-9C02-6645D0C7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F116C-E49E-431F-8874-123A65FB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360BD-FFE2-4E6E-8D96-6267F4E6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142E4-697A-4EC6-A8D2-3A33B8DA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Підготувати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C78827-A63F-42E3-A5EE-02F7FFFA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setup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make doctor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426C44-7C11-42FF-B136-72C76B75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14500"/>
            <a:ext cx="2476500" cy="31432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D74C9-AE17-4E5F-9794-5D5A7EF7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526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9C75BE-FB14-4BE7-B68B-5100CCB2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6215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4B34E-A1D1-41DA-9ADD-5BE3EA36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2057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Підключити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51F91B-9669-4817-8CF1-D52B6E1E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2057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4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перезапустити Claude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78DD56-AA61-40E8-A3BF-16793C1D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3340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make — короткі назви для довгих команд</a:t>
            </a:r>
          </a:p>
        </p:txBody>
      </p:sp>
    </p:spTree>
    <p:extLst>
      <p:ext uri="{BB962C8B-B14F-4D97-AF65-F5344CB8AC3E}">
        <p14:creationId xmlns:p14="http://schemas.microsoft.com/office/powerpoint/2010/main" val="386827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26E8E7-E9D6-4B9E-8A50-394F054A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5BBFE-096A-4B2F-A3A6-FBD7459A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42379-AE8D-4B48-93AE-9CB15B62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4009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FD1B09-3EDC-4FBF-8181-26DBF3E3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8ADC6-AEA2-4638-8654-142A4A90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7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21423-2AB7-4925-8433-F3A62127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Локальний MCP через stdio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D026F-1737-4CAB-92A2-F290CC9C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666750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0E602-1555-4EFA-B3B4-9D4D501F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1714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ПОКАЗАТИ НАЖИВО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631CD-8020-4E1B-A960-2CCCBD8A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6286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doctor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make config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# після перезапуску Claude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є в цій базі?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Побудуй графік уроків по місяцях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Збережи цей звіт файлом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8C436D-959B-40AA-B6FE-1D596B3A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47875"/>
            <a:ext cx="3238500" cy="33337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34D1CC-6181-47D8-8EB9-AA8DF650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193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CHECKLIST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D7294-FACD-45FA-B684-EFC1A785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812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Ознаки успіху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94E245-673D-4B31-9331-E4FEC943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09925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7 таблиць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видно tool calls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SQL лише SELECT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✓ звіт у reports/</a:t>
            </a:r>
          </a:p>
        </p:txBody>
      </p:sp>
    </p:spTree>
    <p:extLst>
      <p:ext uri="{BB962C8B-B14F-4D97-AF65-F5344CB8AC3E}">
        <p14:creationId xmlns:p14="http://schemas.microsoft.com/office/powerpoint/2010/main" val="4960858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BCE140-D574-429C-8F08-797CC248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5FBF7-3000-4A73-9866-421EC0FD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9E6AF-9A31-41A3-A180-0ED6D7DE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7753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16970-B219-4266-B6AA-57AADE8B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89003-D294-44A1-96DA-3AEB95E1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Claude сам складає ланцюжок інструментів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931C2-C49D-41FF-B4B8-95631B43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762250" cy="1619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F83A3-A462-4282-8430-A84374B7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«Хто з учнів у зоні ризику і що в них спільного?»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3596E-FBCF-47E2-9098-53919159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3129D-840B-416A-BFD6-97F6F74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525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list_tables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BDA3F-AE39-46FB-A36A-0EFB776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89F615-4BCD-459D-91A9-A5EB703F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describe_table</a:t>
            </a:r>
          </a:p>
        </p:txBody>
      </p:sp>
      <p:cxnSp>
        <p:nvCxnSpPr>
          <p:cNvPr id="36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191250" y="2085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B1821-AB54-42C9-A988-B57B7C9F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81375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CCCF0-8ED9-4225-8EC5-EC128B7F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528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predict_churn</a:t>
            </a:r>
          </a:p>
        </p:txBody>
      </p:sp>
      <p:cxnSp>
        <p:nvCxnSpPr>
          <p:cNvPr id="39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191250" y="30861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241801-F20C-4C9E-BFCF-353A757D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2476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19E62-A978-4040-9940-FE857AB1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52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run_sql</a:t>
            </a:r>
          </a:p>
        </p:txBody>
      </p:sp>
      <p:cxnSp>
        <p:nvCxnSpPr>
          <p:cNvPr id="42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191250" y="408622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C9D02-FF91-40B3-B2B0-5A0B51DA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2857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9EED0-291A-4EDA-9DF1-BA4F202F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76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Список учнів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4BC15-4BF2-4F41-9C2D-A766350E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95625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ймовірність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топ-фактори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застереження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3524250" y="1733550"/>
            <a:ext cx="14287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429500" y="3048000"/>
            <a:ext cx="1143000" cy="16859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24770-27BE-4682-97F1-4B8FA03D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66737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Послідовність зміниться, якщо зміниться питання</a:t>
            </a:r>
          </a:p>
        </p:txBody>
      </p:sp>
    </p:spTree>
    <p:extLst>
      <p:ext uri="{BB962C8B-B14F-4D97-AF65-F5344CB8AC3E}">
        <p14:creationId xmlns:p14="http://schemas.microsoft.com/office/powerpoint/2010/main" val="101276499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220DE-F482-405E-83CC-4EC15764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6335B-618B-4CAF-B751-C8BA28D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E12EC-3D59-4EA5-BDF1-2A8A20A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1057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60A0D-9E04-4921-84DF-AD6C3ED9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57D2D-1FEE-477F-879B-110FC0D0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 залишає місця для спільного коду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037C9-7D34-44CF-9C6F-1718EEAC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E44A0-9AE6-4CF6-A0ED-8302D12A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РОБОЧИЙ СТАН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E3EA0-2C50-49CC-8862-2C1B6FA2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55D88-2B79-4DDF-A85B-AAFD11E5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повне рішення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усі тести мають проходити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33A03-3D97-4B22-8754-433F09E9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191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8BE7FB-B9FC-44BE-AC72-F8A3622F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81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НАВЧАЛЬНИЙ СТАН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55427-D827-42E9-BA19-9D723AE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workshop-start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6FAAE-5746-4FAE-9871-167D6FE5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90875"/>
            <a:ext cx="3810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каркас із TODO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пишемо db.py, schema.py, sql.py, report.py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8234C-8366-4532-B6F7-46231E4C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95625"/>
            <a:ext cx="1333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59F1C-A147-4CDE-AB5B-F4045AE3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git checkout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0B5940-B01C-4FA9-ADE1-93D5C5F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База й model.pkl не зникають під час перемикання гілки</a:t>
            </a:r>
          </a:p>
        </p:txBody>
      </p:sp>
    </p:spTree>
    <p:extLst>
      <p:ext uri="{BB962C8B-B14F-4D97-AF65-F5344CB8AC3E}">
        <p14:creationId xmlns:p14="http://schemas.microsoft.com/office/powerpoint/2010/main" val="20498556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48E9AF-33EC-466C-9283-50801AED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C86C6-EA09-4A70-A256-6035F12D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1842C-C0F1-4986-93F4-2DEA7375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458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2CDEA7-3B61-4866-8B81-2E541CE5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FA883-C463-4107-80CC-F50989AF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Тести — автоматичний чеклист очікувань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21653f69848e7">
            <a:extLst>
              <a:ext uri="{96DAC541-7B7A-43D3-8B79-37D633B846F1}">
                <asvg:svgBlip xmlns:asvg="http://schemas.microsoft.com/office/drawing/2016/SVG/main" r:embed="R19dac33f9511476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4875" y="180975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4918E-1E05-49E8-ABF8-97F44FB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168013-9538-4EAA-991D-DC9DF58F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24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DF597-3FE6-47B8-B7D8-A57C96F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657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test_sql_guard.py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07EB-A6C1-4CDF-A90C-FF0B4371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не пропускає DELETE, але дозволяє чесний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013B6-4327-4A08-88C0-DDFB8DC9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57F8D-87DB-4E5C-9F7F-2B9F610A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67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1E87A-70CF-42D4-B854-E93ABED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00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test_tools_smoke.py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E300A0-322E-4C8B-BA4F-3C1F17B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форму відповіді кожного інструмента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F1425-0DB3-4527-90D7-3A9AB838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E9BB25-6653-4302-BA77-5A146082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100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C75F9-2435-4EB8-8785-DFF69523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33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prove_readonly.py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08268-F264-479B-941F-A8F0B93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доводить обмеження прямо на рівні бази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A2458-B7DF-4F0C-BE06-19B78FD8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38750"/>
            <a:ext cx="4191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74745-0371-4252-A6B2-28E30C62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make test</a:t>
            </a:r>
          </a:p>
        </p:txBody>
      </p:sp>
    </p:spTree>
    <p:extLst>
      <p:ext uri="{BB962C8B-B14F-4D97-AF65-F5344CB8AC3E}">
        <p14:creationId xmlns:p14="http://schemas.microsoft.com/office/powerpoint/2010/main" val="14897854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BA069D-AF97-4438-A974-DBCB2346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AE1E44-7E49-421F-9879-FDE20C26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1F4FA-F695-4252-B7F2-87053CD0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8810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FA722-CA56-4F77-954F-763D9699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2E6BA-A3F1-4AA6-846A-03E3543D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ML дає сигнал ризику, рішення лишається за людиною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dd6d8a7464433">
            <a:extLst>
              <a:ext uri="{96DAC541-7B7A-43D3-8B79-37D633B846F1}">
                <asvg:svgBlip xmlns:asvg="http://schemas.microsoft.com/office/drawing/2016/SVG/main" r:embed="Rd7b3cca7502748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62000" y="1714500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646C0-7948-4BBD-9BA8-79CD693A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EDD21-08D9-4083-B284-8BB22D31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DB75B-0338-4FDA-85CC-751AD631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095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ED8E7-97EC-43D2-959C-E31B2E94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047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 ознак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BDC5A-2828-4A96-8BE3-DA407379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уроки, оцінки, платежі, тікети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E68DA3-972B-4D31-A1EA-2981CC39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47875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09698-88CE-43A2-928A-3A3E4D84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ROC AUC 0.776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4A940-3C90-40DF-A3C5-59F9E469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47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Людина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47A212-2CFF-4E29-8EAB-12917C6E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47950"/>
            <a:ext cx="161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вирішує, кому і як допомогти</a:t>
            </a:r>
          </a:p>
        </p:txBody>
      </p:sp>
      <p:cxnSp>
        <p:nvCxnSpPr>
          <p:cNvPr id="3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477250" y="2571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4FFFA-8EE6-41C8-B8CF-B3552EA1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429125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Прогноз: відтік у наступні 30 днів + три фактори для пояснення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D0F908-D1A7-4F7E-851E-759808C2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3810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ЦЕ ПІДКАЗКА, НЕ ВИРОК</a:t>
            </a:r>
          </a:p>
        </p:txBody>
      </p:sp>
    </p:spTree>
    <p:extLst>
      <p:ext uri="{BB962C8B-B14F-4D97-AF65-F5344CB8AC3E}">
        <p14:creationId xmlns:p14="http://schemas.microsoft.com/office/powerpoint/2010/main" val="36093348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BEA807-AD59-49DB-AAB9-75E961FD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07181-BB22-402C-ACBB-6CB5FD7C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3261C-89C5-4ADA-BCDE-61A583FF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16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87F13-41D9-4EC5-BA12-5ADBAD78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88ADD-A163-4924-A84C-D4336859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HTML-звіт легко відкрити й надіслати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49A38-0DAA-445A-9252-283B35C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31432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5FA"/>
          </a:solidFill>
          <a:ln xmlns:a="http://schemas.openxmlformats.org/drawingml/2006/main" w="11430">
            <a:solidFill>
              <a:srgbClr val="C8C9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D9263-C090-4ED7-928F-7FE0FCB79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3837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440FA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440FAC"/>
                </a:solidFill>
                <a:latin typeface="Arial"/>
                <a:ea typeface="Arial"/>
                <a:cs typeface="Arial"/>
              </a:rPr>
              <a:t>&lt;html&gt;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0B2C43-1EF0-45B1-8B1F-D04A89CE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текст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таблиці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87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графіки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0BAA0-DA3E-40DE-83CE-3635A716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4765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1D1A1-79D2-4749-BB6F-E5D172DA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save_report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C3D29-47D6-4D1C-A3C1-521D8A98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385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перевіряє HTML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і безпечну назву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4B613-5D49-4D8C-BC91-B997DAC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05000"/>
            <a:ext cx="285750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6ACEE-A578-4608-9AEB-6D90FD2A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38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reports/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34172-A51C-42CE-B8EF-E8B0BB3F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095625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уроки-по-місяцях.html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286250" y="31432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2950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B45D1-E3A6-43DD-A685-3177AE67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Інструмент зберігає результат, але не вирішує, що малювати</a:t>
            </a:r>
          </a:p>
        </p:txBody>
      </p:sp>
    </p:spTree>
    <p:extLst>
      <p:ext uri="{BB962C8B-B14F-4D97-AF65-F5344CB8AC3E}">
        <p14:creationId xmlns:p14="http://schemas.microsoft.com/office/powerpoint/2010/main" val="76645344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4619D-6BBA-4DA5-B92D-41A0D82D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81CF77-0F59-4C4C-BBFB-45D31669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B034B-F5A4-47CE-AD0F-3EC64296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515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B89AFA-47BA-46EB-92DE-310C2FF5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B115C-FDBC-4EAF-B8CC-474648F8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Локально stdio, у хмарі HTTP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DB2E7C-3155-4B40-B433-910F34A7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E4D02-84F7-4E2A-9237-8E5E46F7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ЛОКАЛЬНО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CF057-043B-4FC3-97AA-B3B88525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177EC-1D06-47E5-B920-A577B904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Claude Desktop сам запускає Python-процес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обмін через stdin / stdout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821C9-EE32-43AA-9CDA-0EB0F391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447675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DCD56-701A-4A5E-8AA1-E05EEBE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У ХМАРІ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C96B4-D29B-4C3E-A408-9F6F57ED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955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19E78-D883-40E9-A037-913392E0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43250"/>
            <a:ext cx="4095750" cy="1590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контейнер працює постійно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клієнти приходять за URL /mcp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95549-D2E7-48B5-A6D4-A67D3FA9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334000"/>
            <a:ext cx="847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MCP_TRANSPORT перемикає режим. Код інструментів не змінюється</a:t>
            </a:r>
          </a:p>
        </p:txBody>
      </p:sp>
    </p:spTree>
    <p:extLst>
      <p:ext uri="{BB962C8B-B14F-4D97-AF65-F5344CB8AC3E}">
        <p14:creationId xmlns:p14="http://schemas.microsoft.com/office/powerpoint/2010/main" val="4861694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DA172-9DF8-4A14-91EC-C56510B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DA667-4C9D-4F84-9E53-008DEE7F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F0E04-7784-4999-9AF8-E7C1F573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86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27813-88BB-4370-A09D-DDF47E7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B42E8-2BB8-4055-80BB-A2E9BC68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 збирає контейнер і дає MCP-адресу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EFF08-1BB2-4B8F-A5C7-AC1D8BD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9fa211a6742d6">
            <a:extLst>
              <a:ext uri="{96DAC541-7B7A-43D3-8B79-37D633B846F1}">
                <asvg:svgBlip xmlns:asvg="http://schemas.microsoft.com/office/drawing/2016/SVG/main" r:embed="Rfb5a2c2068a04f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62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EBB40-8772-43FC-BAD3-91F28C9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65EE2-B708-4293-8A3D-C1BF5146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код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36E64-EF98-47EA-B4D9-82DED96D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5c13617ee54562">
            <a:extLst>
              <a:ext uri="{96DAC541-7B7A-43D3-8B79-37D633B846F1}">
                <asvg:svgBlip xmlns:asvg="http://schemas.microsoft.com/office/drawing/2016/SVG/main" r:embed="Rc91007aff6ed42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19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DE436-AA2A-45D8-B709-0A8E1406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Railway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50A19-70EF-4295-B088-3F9BD1A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build + run</a:t>
            </a:r>
          </a:p>
        </p:txBody>
      </p: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000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6EEB6-4B89-4191-866B-17209F3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259af723d45f6">
            <a:extLst>
              <a:ext uri="{96DAC541-7B7A-43D3-8B79-37D633B846F1}">
                <asvg:svgBlip xmlns:asvg="http://schemas.microsoft.com/office/drawing/2016/SVG/main" r:embed="R851e82dd9b4c42d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770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7F081-AB9E-4343-9A1D-51C24368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Контейнер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FBC01D-9F56-4F09-9D9D-6FA28356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Python MCP</a:t>
            </a:r>
          </a:p>
        </p:txBody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8578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723FE-A54A-4A85-BA8D-94AC9BFF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381250" cy="23812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10ea940f04d2a">
            <a:extLst>
              <a:ext uri="{96DAC541-7B7A-43D3-8B79-37D633B846F1}">
                <asvg:svgBlip xmlns:asvg="http://schemas.microsoft.com/office/drawing/2016/SVG/main" r:embed="R38c227a570ba4f4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34575" y="2076450"/>
            <a:ext cx="895350" cy="8953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C07F5-ECCA-4726-82E3-5A1B80E2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/mcp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E512D-5D05-4EFF-8545-CD78DC7E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публічний URL</a:t>
            </a:r>
          </a:p>
        </p:txBody>
      </p:sp>
      <p:cxnSp>
        <p:nvCxnSpPr>
          <p:cNvPr id="52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15375" y="3000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6F13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F804C7-39CB-4D56-8081-028FFB1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0125"/>
            <a:ext cx="3238500" cy="857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31348"/>
          </a:solidFill>
          <a:ln xmlns:a="http://schemas.openxmlformats.org/drawingml/2006/main" w="11430">
            <a:solidFill>
              <a:srgbClr val="6676EC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9ec461bdc4070">
            <a:extLst>
              <a:ext uri="{96DAC541-7B7A-43D3-8B79-37D633B846F1}">
                <asvg:svgBlip xmlns:asvg="http://schemas.microsoft.com/office/drawing/2016/SVG/main" r:embed="R4a76d243ed7445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14875" y="495300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91059A-6CAE-40A4-89AA-A035A68A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48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 живе окремо в мережі</a:t>
            </a:r>
          </a:p>
        </p:txBody>
      </p:sp>
      <p:cxnSp>
        <p:nvCxnSpPr>
          <p:cNvPr id="56" name=""/>
          <p:cNvCxnSpPr>
            <a:stCxn xmlns:a="http://schemas.openxmlformats.org/drawingml/2006/main" id="15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6096000" y="4191000"/>
            <a:ext cx="1428750" cy="619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A7FF"/>
            </a:solidFill>
            <a:prstDash val="solid"/>
            <a:headEnd type="none" w="med" len="me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31781964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7FF92-1087-4C2E-9B55-41ECA503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124FF-F846-460D-A704-75D8DB01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07836-7092-4460-8AA4-6DF4693D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2203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CF749-5A59-416C-BF77-3C5EFA23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740E2-9C79-4D5D-8ACD-F85BA816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13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LIVE DEMO · 6 ХВ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33EC1-617E-4DB3-805A-7EAD34A9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Деплой на Railway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0C860-1EFC-4E0E-BB7A-498B86F2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CB8B7-6DE6-450E-B784-FD57E1F2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06CEB-40C5-4231-B095-585FE34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3C9A5-DA95-455F-910F-0AD4FE73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Deploy from GitHub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2DC8E-AB69-4779-9FA1-7A6440E9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repo + main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5DE829-8105-4459-8D7F-1BD9AD5A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D9DDE0-FB8D-4A17-91D0-3D5C6F2A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BD705-39B3-4F3A-9A39-2DDD44B5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EE143-2FF5-482E-821B-B2FAAEC3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9EAF26-63A1-4A6C-A210-49DA4F8C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DATABASE_URL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TRANSPORT=http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9B62D6-7638-49E4-B86B-8B8F7D40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F625C-F41D-4BD5-B452-EA2357A7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2F0AF-6CFB-4512-BDFB-4AEAF8A1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7A21A-0963-4129-8421-48996969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Domain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3A23F4-CFF6-4556-A357-2C808967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/mcp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17A8B-A5E8-448D-A59F-A3C267C0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3C077-9520-4BD4-A611-40A64D68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EC806D-A741-4557-81FD-225A1060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9357B9-7146-4EE8-8357-BF79B16D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8DA37F-2F31-4E88-A1C7-F5D81800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база відповідає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сервер стартував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5193F3-D022-43D0-AF33-5089DFA7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95500"/>
            <a:ext cx="2047875" cy="2857500"/>
          </a:xfrm>
          <a:prstGeom xmlns:a="http://schemas.openxmlformats.org/drawingml/2006/main" prst="roundRect">
            <a:avLst>
              <a:gd name="adj" fmla="val 837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444B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51E0C1-E5D5-44DE-A722-9FE97B97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6C7183-DB6B-4387-9509-7AC7BA7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2955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7B15FF-0DEE-4C41-9DF7-C7E54DE2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Claude Connector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62B6CA-AD57-42EA-B495-0486EC55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назва + URL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F423B-AB48-4522-9EB9-814254B9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Не показуйте ADMIN_DATABASE_URL і не вмикайте SEED_ON_START без потреби</a:t>
            </a:r>
          </a:p>
        </p:txBody>
      </p:sp>
    </p:spTree>
    <p:extLst>
      <p:ext uri="{BB962C8B-B14F-4D97-AF65-F5344CB8AC3E}">
        <p14:creationId xmlns:p14="http://schemas.microsoft.com/office/powerpoint/2010/main" val="39848026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F0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470D0-656C-4CDF-A549-932EB4FD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B902C-55F3-48AF-8365-49AFE6F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3D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865FE-A979-4E21-971E-368036A0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57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B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C3074-1423-4A54-8EE7-DDA26567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343650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8C9E8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21f5f76f34449"/>
          <a:stretch xmlns:a="http://schemas.openxmlformats.org/drawingml/2006/main"/>
        </p:blipFill>
        <p:spPr>
          <a:xfrm xmlns:a="http://schemas.openxmlformats.org/drawingml/2006/main">
            <a:off x="9239250" y="313536"/>
            <a:ext cx="2095500" cy="45877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95D55-3445-470F-9F16-586246A4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Що робити далі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0CE6E-DCBF-4E61-9FCC-5D3FE94F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364CD-CFCE-48D5-A592-4ABD13C9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C99F1-9E64-4350-8228-1CCD5418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Сьогодні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90F47-7FE8-4281-8E91-CB005D4D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підключити свою тестову базу під read-only роллю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C35CF-0AA5-433E-B9E7-65EEE206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E125E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AF1328-E43C-4D76-9119-AF0E780C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6676E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6EC"/>
                </a:solidFill>
                <a:latin typeface="Arial"/>
                <a:ea typeface="Arial"/>
                <a:cs typeface="Arial"/>
              </a:rPr>
              <a:t>КРОК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CED63-131A-46A0-A7F9-C0B1370C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Цього тижня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B9400-1EED-4CE8-B610-B8CD8F72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C8C9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C9E8"/>
                </a:solidFill>
                <a:latin typeface="Arial"/>
                <a:ea typeface="Arial"/>
                <a:cs typeface="Arial"/>
              </a:rPr>
              <a:t>додати один інструмент під реальне бізнес-питання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473EE-E4C4-40E4-B3B6-C3368771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3333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444BD0"/>
          </a:solidFill>
          <a:ln xmlns:a="http://schemas.openxmlformats.org/drawingml/2006/main" w="11430">
            <a:solidFill>
              <a:srgbClr val="3E3D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F35BBA-5548-4C67-ABE6-33C413E5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124075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КРОК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15A77A-6863-4DC0-B081-AC3332F5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486025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340"/>
                </a:solidFill>
                <a:latin typeface="Arial"/>
                <a:ea typeface="Arial"/>
                <a:cs typeface="Arial"/>
              </a:rPr>
              <a:t>Перед продом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CEDC5A-2452-45F7-BA8C-265DC09D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952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1013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340"/>
                </a:solidFill>
                <a:latin typeface="Arial"/>
                <a:ea typeface="Arial"/>
                <a:cs typeface="Arial"/>
              </a:rPr>
              <a:t>автентифікація, обмеження рядків, моніторинг,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3A8E1-1785-49C0-9672-A425E25D7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D6F1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6F134"/>
                </a:solidFill>
                <a:latin typeface="Arial"/>
                <a:ea typeface="Arial"/>
                <a:cs typeface="Arial"/>
              </a:rPr>
              <a:t>Почніть з одного безпечного питання, яке болить команді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F9F66-9A07-4379-8817-71879057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9595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Питання?</a:t>
            </a:r>
          </a:p>
        </p:txBody>
      </p:sp>
    </p:spTree>
    <p:extLst>
      <p:ext uri="{BB962C8B-B14F-4D97-AF65-F5344CB8AC3E}">
        <p14:creationId xmlns:p14="http://schemas.microsoft.com/office/powerpoint/2010/main" val="1804822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2026-09-17T06:37:26.4900000Z</dcterms:created>
  <dcterms:modified xsi:type="dcterms:W3CDTF">2026-09-17T06:37:26.4900000Z</dcterms:modified>
</coreProperties>
</file>