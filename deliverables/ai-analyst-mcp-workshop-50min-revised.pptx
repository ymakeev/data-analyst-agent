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b9a3ad85404e5d" /><Relationship Type="http://schemas.openxmlformats.org/officeDocument/2006/relationships/extended-properties" Target="/docProps/app.xml" Id="R01f121566ca14785" /><Relationship Type="http://schemas.openxmlformats.org/officeDocument/2006/relationships/officeDocument" Target="/ppt/presentation.xml" Id="Rdf1705696d5e4b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a0474de04c4948"/>
  </p:sldMasterIdLst>
  <p:notesMasterIdLst>
    <p:notesMasterId xmlns:r="http://schemas.openxmlformats.org/officeDocument/2006/relationships" r:id="Re76976f612a04ef3"/>
  </p:notesMasterIdLst>
  <p:sldIdLst>
    <p:sldId xmlns:r="http://schemas.openxmlformats.org/officeDocument/2006/relationships" id="256" r:id="R8e57f1cb4a8245ce"/>
    <p:sldId xmlns:r="http://schemas.openxmlformats.org/officeDocument/2006/relationships" id="257" r:id="Ref150fea0b6b4cae"/>
    <p:sldId xmlns:r="http://schemas.openxmlformats.org/officeDocument/2006/relationships" id="258" r:id="Re08555c244384a8f"/>
    <p:sldId xmlns:r="http://schemas.openxmlformats.org/officeDocument/2006/relationships" id="259" r:id="Rda4f063f33fd4c8e"/>
    <p:sldId xmlns:r="http://schemas.openxmlformats.org/officeDocument/2006/relationships" id="260" r:id="R974fd65436fb4bf7"/>
    <p:sldId xmlns:r="http://schemas.openxmlformats.org/officeDocument/2006/relationships" id="261" r:id="R23d9b431dbcd4444"/>
    <p:sldId xmlns:r="http://schemas.openxmlformats.org/officeDocument/2006/relationships" id="262" r:id="Rf328571920734619"/>
    <p:sldId xmlns:r="http://schemas.openxmlformats.org/officeDocument/2006/relationships" id="263" r:id="R48a0213697b44961"/>
    <p:sldId xmlns:r="http://schemas.openxmlformats.org/officeDocument/2006/relationships" id="264" r:id="R042e8e1483d742c4"/>
    <p:sldId xmlns:r="http://schemas.openxmlformats.org/officeDocument/2006/relationships" id="265" r:id="R740f4c87e81f48b8"/>
    <p:sldId xmlns:r="http://schemas.openxmlformats.org/officeDocument/2006/relationships" id="266" r:id="R4559b51341a54e2c"/>
    <p:sldId xmlns:r="http://schemas.openxmlformats.org/officeDocument/2006/relationships" id="267" r:id="R081a54e8e331430c"/>
    <p:sldId xmlns:r="http://schemas.openxmlformats.org/officeDocument/2006/relationships" id="268" r:id="Rd07d60cd7c6f4d6b"/>
    <p:sldId xmlns:r="http://schemas.openxmlformats.org/officeDocument/2006/relationships" id="269" r:id="Re14d6772a0364fee"/>
    <p:sldId xmlns:r="http://schemas.openxmlformats.org/officeDocument/2006/relationships" id="270" r:id="Rbe41c0f8aadf49c6"/>
    <p:sldId xmlns:r="http://schemas.openxmlformats.org/officeDocument/2006/relationships" id="271" r:id="Rd8b844fe3d814bcd"/>
    <p:sldId xmlns:r="http://schemas.openxmlformats.org/officeDocument/2006/relationships" id="272" r:id="R64afdf5905fb4d71"/>
    <p:sldId xmlns:r="http://schemas.openxmlformats.org/officeDocument/2006/relationships" id="273" r:id="R8a923c8780a9493a"/>
    <p:sldId xmlns:r="http://schemas.openxmlformats.org/officeDocument/2006/relationships" id="274" r:id="R65951994e5ae4959"/>
    <p:sldId xmlns:r="http://schemas.openxmlformats.org/officeDocument/2006/relationships" id="275" r:id="Rffdb9148146a4989"/>
    <p:sldId xmlns:r="http://schemas.openxmlformats.org/officeDocument/2006/relationships" id="276" r:id="Rb7c627fed5a14f0d"/>
    <p:sldId xmlns:r="http://schemas.openxmlformats.org/officeDocument/2006/relationships" id="277" r:id="Ra2f3cc546a52450e"/>
    <p:sldId xmlns:r="http://schemas.openxmlformats.org/officeDocument/2006/relationships" id="278" r:id="Ra8975d959538431b"/>
    <p:sldId xmlns:r="http://schemas.openxmlformats.org/officeDocument/2006/relationships" id="279" r:id="Re6e0f118981241db"/>
    <p:sldId xmlns:r="http://schemas.openxmlformats.org/officeDocument/2006/relationships" id="280" r:id="R5d01866f2a0441b9"/>
    <p:sldId xmlns:r="http://schemas.openxmlformats.org/officeDocument/2006/relationships" id="281" r:id="R5bf6d4fc1ade481b"/>
    <p:sldId xmlns:r="http://schemas.openxmlformats.org/officeDocument/2006/relationships" id="282" r:id="R41e72a629c5f4da8"/>
    <p:sldId xmlns:r="http://schemas.openxmlformats.org/officeDocument/2006/relationships" id="283" r:id="R5c22e890184942d7"/>
    <p:sldId xmlns:r="http://schemas.openxmlformats.org/officeDocument/2006/relationships" id="284" r:id="R78e804211d83494d"/>
    <p:sldId xmlns:r="http://schemas.openxmlformats.org/officeDocument/2006/relationships" id="285" r:id="R1b7bacc1ce804234"/>
    <p:sldId xmlns:r="http://schemas.openxmlformats.org/officeDocument/2006/relationships" id="286" r:id="Rbdca84b896314a16"/>
    <p:sldId xmlns:r="http://schemas.openxmlformats.org/officeDocument/2006/relationships" id="287" r:id="R0b6a82d27b2a4ecd"/>
    <p:sldId xmlns:r="http://schemas.openxmlformats.org/officeDocument/2006/relationships" id="288" r:id="Rf57fb22b5c8d42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1f1aff37984ccb" /><Relationship Type="http://schemas.openxmlformats.org/officeDocument/2006/relationships/slideMaster" Target="/ppt/slideMasters/slideMaster1.xml" Id="R2fa0474de04c4948" /><Relationship Type="http://schemas.openxmlformats.org/officeDocument/2006/relationships/notesMaster" Target="/ppt/notesMasters/notesMaster1.xml" Id="Re76976f612a04ef3" /><Relationship Type="http://schemas.openxmlformats.org/officeDocument/2006/relationships/presProps" Target="/ppt/presProps.xml" Id="R83e7fd5811d6488e" /><Relationship Type="http://schemas.openxmlformats.org/officeDocument/2006/relationships/tableStyles" Target="/ppt/tableStyles.xml" Id="R96080fbaaeb249b8" /><Relationship Type="http://schemas.openxmlformats.org/officeDocument/2006/relationships/slide" Target="/ppt/slides/slide1.xml" Id="R8e57f1cb4a8245ce" /><Relationship Type="http://schemas.openxmlformats.org/officeDocument/2006/relationships/slide" Target="/ppt/slides/slide2.xml" Id="Ref150fea0b6b4cae" /><Relationship Type="http://schemas.openxmlformats.org/officeDocument/2006/relationships/slide" Target="/ppt/slides/slide3.xml" Id="Re08555c244384a8f" /><Relationship Type="http://schemas.openxmlformats.org/officeDocument/2006/relationships/slide" Target="/ppt/slides/slide4.xml" Id="Rda4f063f33fd4c8e" /><Relationship Type="http://schemas.openxmlformats.org/officeDocument/2006/relationships/slide" Target="/ppt/slides/slide5.xml" Id="R974fd65436fb4bf7" /><Relationship Type="http://schemas.openxmlformats.org/officeDocument/2006/relationships/slide" Target="/ppt/slides/slide6.xml" Id="R23d9b431dbcd4444" /><Relationship Type="http://schemas.openxmlformats.org/officeDocument/2006/relationships/slide" Target="/ppt/slides/slide7.xml" Id="Rf328571920734619" /><Relationship Type="http://schemas.openxmlformats.org/officeDocument/2006/relationships/slide" Target="/ppt/slides/slide8.xml" Id="R48a0213697b44961" /><Relationship Type="http://schemas.openxmlformats.org/officeDocument/2006/relationships/slide" Target="/ppt/slides/slide9.xml" Id="R042e8e1483d742c4" /><Relationship Type="http://schemas.openxmlformats.org/officeDocument/2006/relationships/slide" Target="/ppt/slides/slide10.xml" Id="R740f4c87e81f48b8" /><Relationship Type="http://schemas.openxmlformats.org/officeDocument/2006/relationships/slide" Target="/ppt/slides/slide11.xml" Id="R4559b51341a54e2c" /><Relationship Type="http://schemas.openxmlformats.org/officeDocument/2006/relationships/slide" Target="/ppt/slides/slide12.xml" Id="R081a54e8e331430c" /><Relationship Type="http://schemas.openxmlformats.org/officeDocument/2006/relationships/slide" Target="/ppt/slides/slide13.xml" Id="Rd07d60cd7c6f4d6b" /><Relationship Type="http://schemas.openxmlformats.org/officeDocument/2006/relationships/slide" Target="/ppt/slides/slide14.xml" Id="Re14d6772a0364fee" /><Relationship Type="http://schemas.openxmlformats.org/officeDocument/2006/relationships/slide" Target="/ppt/slides/slide15.xml" Id="Rbe41c0f8aadf49c6" /><Relationship Type="http://schemas.openxmlformats.org/officeDocument/2006/relationships/slide" Target="/ppt/slides/slide16.xml" Id="Rd8b844fe3d814bcd" /><Relationship Type="http://schemas.openxmlformats.org/officeDocument/2006/relationships/slide" Target="/ppt/slides/slide17.xml" Id="R64afdf5905fb4d71" /><Relationship Type="http://schemas.openxmlformats.org/officeDocument/2006/relationships/slide" Target="/ppt/slides/slide18.xml" Id="R8a923c8780a9493a" /><Relationship Type="http://schemas.openxmlformats.org/officeDocument/2006/relationships/slide" Target="/ppt/slides/slide19.xml" Id="R65951994e5ae4959" /><Relationship Type="http://schemas.openxmlformats.org/officeDocument/2006/relationships/slide" Target="/ppt/slides/slide20.xml" Id="Rffdb9148146a4989" /><Relationship Type="http://schemas.openxmlformats.org/officeDocument/2006/relationships/slide" Target="/ppt/slides/slide21.xml" Id="Rb7c627fed5a14f0d" /><Relationship Type="http://schemas.openxmlformats.org/officeDocument/2006/relationships/slide" Target="/ppt/slides/slide22.xml" Id="Ra2f3cc546a52450e" /><Relationship Type="http://schemas.openxmlformats.org/officeDocument/2006/relationships/slide" Target="/ppt/slides/slide23.xml" Id="Ra8975d959538431b" /><Relationship Type="http://schemas.openxmlformats.org/officeDocument/2006/relationships/slide" Target="/ppt/slides/slide24.xml" Id="Re6e0f118981241db" /><Relationship Type="http://schemas.openxmlformats.org/officeDocument/2006/relationships/slide" Target="/ppt/slides/slide25.xml" Id="R5d01866f2a0441b9" /><Relationship Type="http://schemas.openxmlformats.org/officeDocument/2006/relationships/slide" Target="/ppt/slides/slide26.xml" Id="R5bf6d4fc1ade481b" /><Relationship Type="http://schemas.openxmlformats.org/officeDocument/2006/relationships/slide" Target="/ppt/slides/slide27.xml" Id="R41e72a629c5f4da8" /><Relationship Type="http://schemas.openxmlformats.org/officeDocument/2006/relationships/slide" Target="/ppt/slides/slide28.xml" Id="R5c22e890184942d7" /><Relationship Type="http://schemas.openxmlformats.org/officeDocument/2006/relationships/slide" Target="/ppt/slides/slide29.xml" Id="R78e804211d83494d" /><Relationship Type="http://schemas.openxmlformats.org/officeDocument/2006/relationships/slide" Target="/ppt/slides/slide30.xml" Id="R1b7bacc1ce804234" /><Relationship Type="http://schemas.openxmlformats.org/officeDocument/2006/relationships/slide" Target="/ppt/slides/slide31.xml" Id="Rbdca84b896314a16" /><Relationship Type="http://schemas.openxmlformats.org/officeDocument/2006/relationships/slide" Target="/ppt/slides/slide32.xml" Id="R0b6a82d27b2a4ecd" /><Relationship Type="http://schemas.openxmlformats.org/officeDocument/2006/relationships/slide" Target="/ppt/slides/slide33.xml" Id="Rf57fb22b5c8d42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0b18f2d69448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2dfcb23994a6d" /><Relationship Type="http://schemas.openxmlformats.org/officeDocument/2006/relationships/notesMaster" Target="/ppt/notesMasters/notesMaster1.xml" Id="R6b12975892894a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2caa117a2a4526" /><Relationship Type="http://schemas.openxmlformats.org/officeDocument/2006/relationships/notesMaster" Target="/ppt/notesMasters/notesMaster1.xml" Id="Rc23e298b57d245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23f7c08ab04845" /><Relationship Type="http://schemas.openxmlformats.org/officeDocument/2006/relationships/notesMaster" Target="/ppt/notesMasters/notesMaster1.xml" Id="R23236c0d3a7a40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d5113a55724aa8" /><Relationship Type="http://schemas.openxmlformats.org/officeDocument/2006/relationships/notesMaster" Target="/ppt/notesMasters/notesMaster1.xml" Id="R7f7caca070554a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9537eaff374d54" /><Relationship Type="http://schemas.openxmlformats.org/officeDocument/2006/relationships/notesMaster" Target="/ppt/notesMasters/notesMaster1.xml" Id="Rd393e31ad01a4c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d83436157c4544" /><Relationship Type="http://schemas.openxmlformats.org/officeDocument/2006/relationships/notesMaster" Target="/ppt/notesMasters/notesMaster1.xml" Id="R944e4adaff2646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74f9f324ad4493" /><Relationship Type="http://schemas.openxmlformats.org/officeDocument/2006/relationships/notesMaster" Target="/ppt/notesMasters/notesMaster1.xml" Id="Rb74782e7d6054d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869ba83b524749" /><Relationship Type="http://schemas.openxmlformats.org/officeDocument/2006/relationships/notesMaster" Target="/ppt/notesMasters/notesMaster1.xml" Id="R370f45e0c4ca49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c679757ff2463e" /><Relationship Type="http://schemas.openxmlformats.org/officeDocument/2006/relationships/notesMaster" Target="/ppt/notesMasters/notesMaster1.xml" Id="Red902a4973054a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0cc1e516304287" /><Relationship Type="http://schemas.openxmlformats.org/officeDocument/2006/relationships/notesMaster" Target="/ppt/notesMasters/notesMaster1.xml" Id="R6d23b8ffefd54e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34b7dece334d23" /><Relationship Type="http://schemas.openxmlformats.org/officeDocument/2006/relationships/notesMaster" Target="/ppt/notesMasters/notesMaster1.xml" Id="R7732ab02545b4f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7de255bfcc439d" /><Relationship Type="http://schemas.openxmlformats.org/officeDocument/2006/relationships/notesMaster" Target="/ppt/notesMasters/notesMaster1.xml" Id="Rf4cf215e1f2f41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15ee984bef4799" /><Relationship Type="http://schemas.openxmlformats.org/officeDocument/2006/relationships/notesMaster" Target="/ppt/notesMasters/notesMaster1.xml" Id="R522127763e9a43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a88c0bebb24026" /><Relationship Type="http://schemas.openxmlformats.org/officeDocument/2006/relationships/notesMaster" Target="/ppt/notesMasters/notesMaster1.xml" Id="Rbaa63c288d044d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b78d0527844551" /><Relationship Type="http://schemas.openxmlformats.org/officeDocument/2006/relationships/notesMaster" Target="/ppt/notesMasters/notesMaster1.xml" Id="Rbefd82679ed049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187a7fdb554dd6" /><Relationship Type="http://schemas.openxmlformats.org/officeDocument/2006/relationships/notesMaster" Target="/ppt/notesMasters/notesMaster1.xml" Id="R21a51907c14146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f97ff157c84937" /><Relationship Type="http://schemas.openxmlformats.org/officeDocument/2006/relationships/notesMaster" Target="/ppt/notesMasters/notesMaster1.xml" Id="R95dfc33e145646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ffa2a11348428e" /><Relationship Type="http://schemas.openxmlformats.org/officeDocument/2006/relationships/notesMaster" Target="/ppt/notesMasters/notesMaster1.xml" Id="R8d9cf33b9b714d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6254bc85e34dd7" /><Relationship Type="http://schemas.openxmlformats.org/officeDocument/2006/relationships/notesMaster" Target="/ppt/notesMasters/notesMaster1.xml" Id="R07b4fd1717974f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7dc914adfb421b" /><Relationship Type="http://schemas.openxmlformats.org/officeDocument/2006/relationships/notesMaster" Target="/ppt/notesMasters/notesMaster1.xml" Id="Ra44b45fe510046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076d24465341fa" /><Relationship Type="http://schemas.openxmlformats.org/officeDocument/2006/relationships/notesMaster" Target="/ppt/notesMasters/notesMaster1.xml" Id="R178459b9fa2e48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537209309443e0" /><Relationship Type="http://schemas.openxmlformats.org/officeDocument/2006/relationships/notesMaster" Target="/ppt/notesMasters/notesMaster1.xml" Id="R0e060654ac9949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3cfef6b3e74f06" /><Relationship Type="http://schemas.openxmlformats.org/officeDocument/2006/relationships/notesMaster" Target="/ppt/notesMasters/notesMaster1.xml" Id="Rd2e497914b064d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22e710b36648c9" /><Relationship Type="http://schemas.openxmlformats.org/officeDocument/2006/relationships/notesMaster" Target="/ppt/notesMasters/notesMaster1.xml" Id="R766ba1cc27e74f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d12fb0c1c2a49ca" /><Relationship Type="http://schemas.openxmlformats.org/officeDocument/2006/relationships/notesMaster" Target="/ppt/notesMasters/notesMaster1.xml" Id="Ra35cd0d9195945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061dc5ee18482b" /><Relationship Type="http://schemas.openxmlformats.org/officeDocument/2006/relationships/notesMaster" Target="/ppt/notesMasters/notesMaster1.xml" Id="R854ee847b37847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176b94902a94601" /><Relationship Type="http://schemas.openxmlformats.org/officeDocument/2006/relationships/notesMaster" Target="/ppt/notesMasters/notesMaster1.xml" Id="R33d1a57ba85d451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f5dfcc62f71456d" /><Relationship Type="http://schemas.openxmlformats.org/officeDocument/2006/relationships/notesMaster" Target="/ppt/notesMasters/notesMaster1.xml" Id="Rcdb41ff4f77747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f0e5cbe785a48a1" /><Relationship Type="http://schemas.openxmlformats.org/officeDocument/2006/relationships/notesMaster" Target="/ppt/notesMasters/notesMaster1.xml" Id="Rf34949bbd79f48d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42a8346c112440a" /><Relationship Type="http://schemas.openxmlformats.org/officeDocument/2006/relationships/notesMaster" Target="/ppt/notesMasters/notesMaster1.xml" Id="R91ea12ca4dcb4be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ab67167077e4b84" /><Relationship Type="http://schemas.openxmlformats.org/officeDocument/2006/relationships/notesMaster" Target="/ppt/notesMasters/notesMaster1.xml" Id="R45804fea050f4af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ebbf2dc48aa4f4e" /><Relationship Type="http://schemas.openxmlformats.org/officeDocument/2006/relationships/notesMaster" Target="/ppt/notesMasters/notesMaster1.xml" Id="R4ddd4a417b22492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4df6a94221546e4" /><Relationship Type="http://schemas.openxmlformats.org/officeDocument/2006/relationships/notesMaster" Target="/ppt/notesMasters/notesMaster1.xml" Id="R3db3b4839aa34d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00:00–00:30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Відкриття:</a:t>
            </a:r>
          </a:p>
          <a:p xmlns:a="http://schemas.openxmlformats.org/drawingml/2006/main">
            <a:r>
              <a:t>«Сьогодні ми не будемо вчити всі слова зі світу розробки. Ми зберемо одну зрозумілу систему від питання людини до відповіді з бази і винесемо її в хмару».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Попросіть підняти руку тих, хто ніколи не запускав Docker або MCP. Це нормальна стартова точка.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00:30–01:15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маршрут і домовтесь: питання можна ставити по ходу, але довгі розбори підуть після основного маршруту.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Ключова обіцянка: наприкінці людина розуміє не лише «які команди вставити», а й навіщо існує кожна частина.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01:15–02:15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Почніть із конкретного питання. Поясніть, що цифра на слайді ілюстративна: на демо побачимо реальну відповідь із поточного набору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Головна думка: користувач не пише SQL, але система все одно показує, що саме було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02:15–03:15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Скажіть одним подихом: «Ми не даємо Claude пароль і свободу робити будь-що. Ми даємо серверу п’ять чітко описаних функцій».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рамка для всього воркшопу.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03:15–04:30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визначення без заглиблення.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Побутова аналогія: модель — мозок, агент — поведінка, інструменти — руки, MCP — розетка стандартного формату, база — склад, деплой — відкрита майстерня в хмарі.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04:30–06:00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Пояснення для новачка:</a:t>
            </a:r>
          </a:p>
          <a:p xmlns:a="http://schemas.openxmlformats.org/drawingml/2006/main">
            <a:r>
              <a:t>Git працює і без інтернету та пам’ятає версії. GitHub — сайт, де репозиторій лежить онлайн, ним можна ділитись і підключити Railway.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є дві гілки: main і workshop-start.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https://docs.github.com/en/get-started/learning-to-code/getting-started-with-git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06:00–07:30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образ — рецепт і запаковані інгредієнти, контейнер — конкретно запущена страва. Один образ можна запускати багато разів.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docker-compose.yml описано один сервіс db на PostgreSQL 16 Alpine. Порт 5433 зовні навмисно уникає конфлікту зі звичайним 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07:30–09:00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— мова, якою написано сервер і ML. PostgreSQL — окрема програма-база. psycopg відкриває з’єднання та передає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Підкресліть: дані не живуть «у Python-файлі». Сервер лише приходить до бази, читає і повертає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09:00–09:45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MCP як домовленість про формат повідомлень. Клієнт спершу запитує список інструментів, потім викликає потрібний і отримує структурований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не виконує аналіз самостійно: рішення приймає Claude, а Python-функцію виконує наш сервер.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09:45–10:45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USB-C задає зрозумілий спосіб з’єднання різних пристроїв. MCP так само дає клієнту стандартний спосіб побачити та викликати інструменти сервера.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специфікації MCP сервер може давати tools, resources і prompts. У цьому демо головне —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https://modelcontextprotocol.io/specification/draft/server/index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10:45–11:45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як модель обирає крок. Агентний цикл виконує послідовність кроків. Python-функції роблять конкретну роботу.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немає вручну прописаного маршруту list_tables, describe_table, run_sql. Модель складає його під запит.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11:45–13:00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схему зліва направо. Claude бачить лише контракт інструментів. MCP-сервер тримає DATABASE_URL і сам підключається до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ML-модель — локальний файл, який сервер завантажує. save_report пише HTML у reports/.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Важливо: у хмарі публічний MCP без автентифікації підходить лише для синтетичних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13:00–14:15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Коли користувач питає «Що є в цій базі?», агент викликає list_tables. Для конкретного питання він читає структуру потрібних таблиць через describe_table. Лише після цього складає SELECT.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Саме описи таблиць, колонок і зв’язків дають моделі контекст про дані.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14:15–15:30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спостережуваність: ми бачимо, який інструмент викликано, з якими аргументами та що він повернув.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не гарантує правильність відповіді, але робить помилку діагностованою.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15:30–17:00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Швидко поясніть усі п’ять.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save_report не генерує звіт. Claude створює HTML, а інструмент лише безпечно зберігає файл. Це залишає моделі свободу оформлення, але обмежує файлову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17:00–18:00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docstring як частину продукту, а не коментар «для програміста». Якщо опис нечіткий, модель вибиратиме інструмент гірше.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workshop-start ми дописуємо функції, але докстрінги вже задають очікувану поведінку.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18:00–19:00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«пастку» status: без коментаря модель може порахувати всі заплановані уроки як проведені.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Перевага: визначення знаходиться там, де його бачить і людина, і інструмент. Зміна схеми не вимагає переписувати великий системний промпт.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19:00–20:30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 різницю між зручністю та безпекою. Guard ловить очевидний DELETE і пояснює моделі, що дозволено. Але остаточно захищає роль analyst_ro у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для демонстрації: python scripts/prove_readonly.py. Вона обходить сервер і доводить, що сама база відмовляє у записі.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20:30–22:15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Проведіть екскурсію, не відкриваючи кожен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Мнемоніка: server виконує, db зберігає, ml прогнозує, tests перевіряє, docs пояснює, deploy пакує.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railway.toml лежить у корені, бо Railway шукає конфіг саме 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22:15–23:30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зв’язки як речення. Це легше за терміни «foreign key» і «one-to-many».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речення додайте: foreign key — це колонка, яка посилається на ідентифікатор у іншій таблиці.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23:30–24:30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агент бачить не одну «таблицю уроків», а контекст клієнта. Платежі та тікети стають ознаками churn. audit_log не є бізнес-даними, це слід роботи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24:30–25:30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аудиторія зовсім нова, рекомендуйте варіант А для воркшопу. Варіант Б показуйте тим, хто хоче забрати повну локальну копію.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.env — локальний файл із налаштуваннями й секретами. Він не потрапляє в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25:30–26:30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читайте команди по символах. Поясніть їх призначення.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venv створює окреме Python-оточення. pip ставить залежності з pyproject.toml. make setup оркеструє Docker, seed і train. make config друкує конфіг із абсолютними шляхами.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26:30–33:30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 терміналі покажіть make doctor. Якщо все green, не затримуйтесь.</a:t>
            </a:r>
          </a:p>
          <a:p xmlns:a="http://schemas.openxmlformats.org/drawingml/2006/main">
            <a:r>
              <a:t>2. Запустіть make config і коротко покажіть, що шляхи абсолютні. Не копіюйте секрети на великий екран.</a:t>
            </a:r>
          </a:p>
          <a:p xmlns:a="http://schemas.openxmlformats.org/drawingml/2006/main">
            <a:r>
              <a:t>3. У Claude Desktop відкрийте новий чат. Поставте «Що є в цій базі?».</a:t>
            </a:r>
          </a:p>
          <a:p xmlns:a="http://schemas.openxmlformats.org/drawingml/2006/main">
            <a:r>
              <a:t>4. Розгорніть виклики інструментів. Назвіть list_tables і describe_table.</a:t>
            </a:r>
          </a:p>
          <a:p xmlns:a="http://schemas.openxmlformats.org/drawingml/2006/main">
            <a:r>
              <a:t>5. Поставте запит про уроки по місяцях. Покажіть SQL.</a:t>
            </a:r>
          </a:p>
          <a:p xmlns:a="http://schemas.openxmlformats.org/drawingml/2006/main">
            <a:r>
              <a:t>6. Попросіть зберегти звіт і відкрийте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Б: якщо Claude не підключився, запустіть make run і покажіть помилку дослівно; далі перейдіть до заздалегідь підготовленого чату.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33:30–35:00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демо закріпіть: код не містить цього workflow. Модель може пропустити run_sql, якщо predict_churn уже повернув достатньо пояснень. Це нормально, якщо відповідь обґрунтована.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35:00–36:00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гілку як паралельну версію папки, але без дублювання файлів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Рятувальний шлях учасника: якщо відстав, git checkout main повертає повне рішення. Повернутися до каркаса можна пізніше.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36:00–37:00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pytest — інструмент, який запускає короткі сценарії перевірки. На workshop-start червоні тести — це карта того, що ще треба реалізувати. На main вони мають бути зеленими.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37:00–38:30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Поясніть, що модель навчається окремою командою make train і зберігається в ml/model.pkl. Сервер лише завантажує готовий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ознак дивляться тільки в минуле. Ціль — відтік у наступні 30 днів. У поточному файлі моделі ROC AUC = 0.776, дата навчання 2026-09-16.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 1.7.2 та numpy 2.2.6 закріплено точними версіями, бо pickle залежить від оточення.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38:30–39:15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— звичайна веб-сторінка в одному файлі. Claude генерує вміст, save_report перевіряє, що це справді HTML, і створює безпечне ім’я в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39:15–40:45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означає standard input / standard output, тобто стандартний вхід і вихід програми. Claude Desktop запускає Python-процес на цьому ж комп’ютері та обмінюється з ним повідомленнями напряму. Вебадреса й відкритий порт не потрібні.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хмарі сервер працює постійно. Клієнт звертається до нього через HTTP за адресою /mcp. MCP_TRANSPORT перемикає лише спосіб підключення.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40:45–42:30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Railway стежить за GitHub, читає railway.toml, будує образ через deploy/Dockerfile і запускає контейнер.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мусить бути доступна з інтернету, наприклад Neon або PostgreSQL у Railway. Локальний Docker на ноутбуці з хмари недосяжний.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https://docs.railway.com/deployments/reference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42:30–48:30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Відкрийте готовий проєкт Railway або створіть New Project → Deploy from GitHub repo.</a:t>
            </a:r>
          </a:p>
          <a:p xmlns:a="http://schemas.openxmlformats.org/drawingml/2006/main">
            <a:r>
              <a:t>2. Покажіть, що railway.toml вказує deploy/Dockerfile.</a:t>
            </a:r>
          </a:p>
          <a:p xmlns:a="http://schemas.openxmlformats.org/drawingml/2006/main">
            <a:r>
              <a:t>3. У Variables додайте рівно DATABASE_URL і MCP_TRANSPORT=http. Закрийте значення пароля від аудиторії.</a:t>
            </a:r>
          </a:p>
          <a:p xmlns:a="http://schemas.openxmlformats.org/drawingml/2006/main">
            <a:r>
              <a:t>4. Settings → Networking → Generate Domain. До адреси додайте /mcp.</a:t>
            </a:r>
          </a:p>
          <a:p xmlns:a="http://schemas.openxmlformats.org/drawingml/2006/main">
            <a:r>
              <a:t>5. У Logs знайдіть «База відповідає» і «Стартую MCP-сервер».</a:t>
            </a:r>
          </a:p>
          <a:p xmlns:a="http://schemas.openxmlformats.org/drawingml/2006/main">
            <a:r>
              <a:t>6. Claude → Connectors → Add custom connector. Додайте URL і повторіть «Що є в цій базі?».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Важливе попередження: адреса без auth публічна. Для реальних даних спершу виконайте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відкриття /mcp у браузері дає Missing session ID, це очікувано: браузер не виконав MCP initialize.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48:30–50:00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реальних даних почніть із трьох речей.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Перша: окрема роль бази з мінімальними правами. Друга: автентифікація на публічному MCP, щоб сервер розумів, хто підключився. Третя: словник метрик із визначенням, формулою, фільтрами, джерелом даних і відповідальним.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Документація метрик потрібна і людям, і агенту. Без неї технічно правильний SQL може відповідати на інше бізнес-питання.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Деталі: docs/NEXT-STEPS.md, docs/DEPLOY.md, deploy/AUTH.md.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dc5e67a5246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65caa66b6a4a81" /><Relationship Type="http://schemas.openxmlformats.org/officeDocument/2006/relationships/slideLayout" Target="/ppt/slideLayouts/slideLayout1.xml" Id="R68c6e1f17da34c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c6e1f17da34c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06bcb1d774cc5" /><Relationship Type="http://schemas.openxmlformats.org/officeDocument/2006/relationships/image" Target="/ppt/media/image.png" Id="R381df6e4ef8d4835" /><Relationship Type="http://schemas.openxmlformats.org/officeDocument/2006/relationships/image" Target="/ppt/media/image2.png" Id="Rdd8e1e0fb7a44640" /><Relationship Type="http://schemas.openxmlformats.org/officeDocument/2006/relationships/notesSlide" Target="/ppt/notesSlides/notesSlide1.xml" Id="Rde539794355349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8ec1982d144e8" /><Relationship Type="http://schemas.openxmlformats.org/officeDocument/2006/relationships/notesSlide" Target="/ppt/notesSlides/notesSlide2.xml" Id="R8d363150aad2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806a0ef5e49ec" /><Relationship Type="http://schemas.openxmlformats.org/officeDocument/2006/relationships/notesSlide" Target="/ppt/notesSlides/notesSlide3.xml" Id="Rdddd950665fc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d6f5a3a49404c" /><Relationship Type="http://schemas.openxmlformats.org/officeDocument/2006/relationships/notesSlide" Target="/ppt/notesSlides/notesSlide4.xml" Id="Rc699f647625245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5341488784355" /><Relationship Type="http://schemas.openxmlformats.org/officeDocument/2006/relationships/notesSlide" Target="/ppt/notesSlides/notesSlide5.xml" Id="R465f5a27a23c4f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6aa78685d4544" /><Relationship Type="http://schemas.openxmlformats.org/officeDocument/2006/relationships/image" Target="/ppt/media/image3.png" Id="R606c392ee1814e3b" /><Relationship Type="http://schemas.openxmlformats.org/officeDocument/2006/relationships/image" Target="/ppt/media/image4.png" Id="Raaa674383e7240ba" /><Relationship Type="http://schemas.openxmlformats.org/officeDocument/2006/relationships/notesSlide" Target="/ppt/notesSlides/notesSlide6.xml" Id="Rfbbbe070a75b4f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ac592b5b14fdf" /><Relationship Type="http://schemas.openxmlformats.org/officeDocument/2006/relationships/image" Target="/ppt/media/image5.png" Id="R62882d90f04844b8" /><Relationship Type="http://schemas.openxmlformats.org/officeDocument/2006/relationships/notesSlide" Target="/ppt/notesSlides/notesSlide7.xml" Id="R3f3dd145f8074c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5a1fa486145c9" /><Relationship Type="http://schemas.openxmlformats.org/officeDocument/2006/relationships/image" Target="/ppt/media/image6.png" Id="R0bf654b00298431b" /><Relationship Type="http://schemas.openxmlformats.org/officeDocument/2006/relationships/image" Target="/ppt/media/image7.png" Id="Rf818147eef2e44c1" /><Relationship Type="http://schemas.openxmlformats.org/officeDocument/2006/relationships/notesSlide" Target="/ppt/notesSlides/notesSlide8.xml" Id="R84492f02b57f41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257b53b9c42ed" /><Relationship Type="http://schemas.openxmlformats.org/officeDocument/2006/relationships/image" Target="/ppt/media/image8.png" Id="R8ddf3d99a13d47dc" /><Relationship Type="http://schemas.openxmlformats.org/officeDocument/2006/relationships/notesSlide" Target="/ppt/notesSlides/notesSlide9.xml" Id="Rf3bb0e64026241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6b005089c495f" /><Relationship Type="http://schemas.openxmlformats.org/officeDocument/2006/relationships/image" Target="/ppt/media/image9.png" Id="R109d050a731243c8" /><Relationship Type="http://schemas.openxmlformats.org/officeDocument/2006/relationships/notesSlide" Target="/ppt/notesSlides/notesSlide10.xml" Id="R815927324b4d47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085a341904832" /><Relationship Type="http://schemas.openxmlformats.org/officeDocument/2006/relationships/notesSlide" Target="/ppt/notesSlides/notesSlide11.xml" Id="R8f0a6c14b2e94c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fe3d91a5e40ec" /><Relationship Type="http://schemas.openxmlformats.org/officeDocument/2006/relationships/notesSlide" Target="/ppt/notesSlides/notesSlide12.xml" Id="R146b9880c64f4e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0f66a28e34ca6" /><Relationship Type="http://schemas.openxmlformats.org/officeDocument/2006/relationships/notesSlide" Target="/ppt/notesSlides/notesSlide13.xml" Id="Reed97d180e1d48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93443f7604925" /><Relationship Type="http://schemas.openxmlformats.org/officeDocument/2006/relationships/notesSlide" Target="/ppt/notesSlides/notesSlide14.xml" Id="Rb65163eae90f46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d8ca8986f48d9" /><Relationship Type="http://schemas.openxmlformats.org/officeDocument/2006/relationships/notesSlide" Target="/ppt/notesSlides/notesSlide15.xml" Id="R2345cde60e6d43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3afd467524141" /><Relationship Type="http://schemas.openxmlformats.org/officeDocument/2006/relationships/notesSlide" Target="/ppt/notesSlides/notesSlide16.xml" Id="R83537830f82c4e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7362e681b46d3" /><Relationship Type="http://schemas.openxmlformats.org/officeDocument/2006/relationships/notesSlide" Target="/ppt/notesSlides/notesSlide17.xml" Id="R714848b969d442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52400d93c44a2" /><Relationship Type="http://schemas.openxmlformats.org/officeDocument/2006/relationships/notesSlide" Target="/ppt/notesSlides/notesSlide18.xml" Id="R9858c34be8974c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7e3d890b84a50" /><Relationship Type="http://schemas.openxmlformats.org/officeDocument/2006/relationships/notesSlide" Target="/ppt/notesSlides/notesSlide19.xml" Id="Rc887ca1a45c445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2f25bb1d44d04" /><Relationship Type="http://schemas.openxmlformats.org/officeDocument/2006/relationships/notesSlide" Target="/ppt/notesSlides/notesSlide20.xml" Id="R3d691d3bd2244b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5f0de384047c2" /><Relationship Type="http://schemas.openxmlformats.org/officeDocument/2006/relationships/notesSlide" Target="/ppt/notesSlides/notesSlide21.xml" Id="R5de8e35952254da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9614064c04d10" /><Relationship Type="http://schemas.openxmlformats.org/officeDocument/2006/relationships/notesSlide" Target="/ppt/notesSlides/notesSlide22.xml" Id="R572d56c7a28141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c25e0919240e1" /><Relationship Type="http://schemas.openxmlformats.org/officeDocument/2006/relationships/notesSlide" Target="/ppt/notesSlides/notesSlide23.xml" Id="R8b8f28f41743448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fe56a543243d7" /><Relationship Type="http://schemas.openxmlformats.org/officeDocument/2006/relationships/notesSlide" Target="/ppt/notesSlides/notesSlide24.xml" Id="R42bf35c8ad51482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d4ff373a94d4d" /><Relationship Type="http://schemas.openxmlformats.org/officeDocument/2006/relationships/notesSlide" Target="/ppt/notesSlides/notesSlide25.xml" Id="Ra83bc68f9806426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20605d2ad4b94" /><Relationship Type="http://schemas.openxmlformats.org/officeDocument/2006/relationships/notesSlide" Target="/ppt/notesSlides/notesSlide26.xml" Id="R4c4dc1f33273476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d782cbc574750" /><Relationship Type="http://schemas.openxmlformats.org/officeDocument/2006/relationships/image" Target="/ppt/media/image10.png" Id="Rfcc953d670694bcc" /><Relationship Type="http://schemas.openxmlformats.org/officeDocument/2006/relationships/notesSlide" Target="/ppt/notesSlides/notesSlide27.xml" Id="R8c028524a9824c1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d209da494a4b" /><Relationship Type="http://schemas.openxmlformats.org/officeDocument/2006/relationships/image" Target="/ppt/media/image11.png" Id="R7232874097ed4e6f" /><Relationship Type="http://schemas.openxmlformats.org/officeDocument/2006/relationships/notesSlide" Target="/ppt/notesSlides/notesSlide28.xml" Id="R012d3518079b4de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f4127f447490b" /><Relationship Type="http://schemas.openxmlformats.org/officeDocument/2006/relationships/notesSlide" Target="/ppt/notesSlides/notesSlide29.xml" Id="Rb7f51d2d9db649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da696ba554712" /><Relationship Type="http://schemas.openxmlformats.org/officeDocument/2006/relationships/notesSlide" Target="/ppt/notesSlides/notesSlide30.xml" Id="Rd0012708186941f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69aec2107458b" /><Relationship Type="http://schemas.openxmlformats.org/officeDocument/2006/relationships/image" Target="/ppt/media/image12.png" Id="R5da49a23535b46ad" /><Relationship Type="http://schemas.openxmlformats.org/officeDocument/2006/relationships/image" Target="/ppt/media/image13.png" Id="R95f2699157624560" /><Relationship Type="http://schemas.openxmlformats.org/officeDocument/2006/relationships/image" Target="/ppt/media/image14.png" Id="Rdc05d97a13d24b8d" /><Relationship Type="http://schemas.openxmlformats.org/officeDocument/2006/relationships/image" Target="/ppt/media/image15.png" Id="Rfe03b5676cde46b8" /><Relationship Type="http://schemas.openxmlformats.org/officeDocument/2006/relationships/image" Target="/ppt/media/image16.png" Id="R8fd00344a9b04bdf" /><Relationship Type="http://schemas.openxmlformats.org/officeDocument/2006/relationships/notesSlide" Target="/ppt/notesSlides/notesSlide31.xml" Id="R0b67bfdc393e4eb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89a6eace044aa" /><Relationship Type="http://schemas.openxmlformats.org/officeDocument/2006/relationships/notesSlide" Target="/ppt/notesSlides/notesSlide32.xml" Id="R9152078595a94db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a2eb5e4d340d1" /><Relationship Type="http://schemas.openxmlformats.org/officeDocument/2006/relationships/image" Target="/ppt/media/image17.png" Id="R1b5b2649690748c4" /><Relationship Type="http://schemas.openxmlformats.org/officeDocument/2006/relationships/notesSlide" Target="/ppt/notesSlides/notesSlide33.xml" Id="R9e9192b92b81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C1D16-62B1-4A8F-8768-2E14623D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F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4565A-EF5A-4449-957F-5CFD77A3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1475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df6e4ef8d4835"/>
          <a:stretch xmlns:a="http://schemas.openxmlformats.org/drawingml/2006/main"/>
        </p:blipFill>
        <p:spPr>
          <a:xfrm xmlns:a="http://schemas.openxmlformats.org/drawingml/2006/main">
            <a:off x="685800" y="411097"/>
            <a:ext cx="2857500" cy="6256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B5684-B174-4036-BD96-6F7EB4DE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50-ХВИЛИННИЙ ВОРКШОП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99B7E-988B-47FC-95FA-D1BC2DC4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19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AI-аналітик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 базою даних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E6C39-1D69-461C-82D3-96FFEE2B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Від локального MCP до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1A7F4-25B0-4010-AB05-88A44F9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3141B-EF51-4628-8462-795A63F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Простий шлях: зрозуміти → запустити → побачити → задеплоїти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e1e0fb7a44640"/>
          <a:stretch xmlns:a="http://schemas.openxmlformats.org/drawingml/2006/main"/>
        </p:blipFill>
        <p:spPr>
          <a:xfrm xmlns:a="http://schemas.openxmlformats.org/drawingml/2006/main">
            <a:off x="7715250" y="2244429"/>
            <a:ext cx="4000500" cy="35597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21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19D3E-73F4-4AED-B1F8-074DE3D3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F142B-DB21-408D-A1EE-6C328B8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AD69-4B00-4C93-AF89-AE3EE818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3039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29CC2-78E1-47A5-AA8E-358D654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F7AC0-91AF-440E-A3B4-86D5D064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50 хвилин ми пройдемо весь шлях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3E529-8B66-483A-84A4-B8F76378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02A6E-7D7A-4D01-BF24-65E2BEA6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00–10 ХВ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ED5BF-54CA-4505-A66C-CF14ACAD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Мова без жаргону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D6741-D68A-45CB-ADCA-2E6D760F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GitHub, Docker, база,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BC856-8DA7-4801-81EA-2F69D0B5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13EEB-5A66-479E-82DC-8B84FD04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10–25 ХВ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C40F9-E7C7-4929-80CB-308327C6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працює 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C39A5-5307-4A37-B231-C1774F6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архітектура, інструменти, безпека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5E5CF-4303-4CAC-8291-A61DBBA1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73C79-1623-4A1C-8ADF-E4D2B92B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25–39 ХВ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12397-CD47-40A1-AB1D-C7D5795B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запуск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5A517-7440-44DE-9BF3-97E6EEAE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підготовка та живе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79AF2-CB49-4654-BEB3-26A9548A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13B84-C7AE-4F70-95AA-EAC37FD5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39–49 ХВ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792D2-8257-415E-BDB2-BD247214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Хмара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80399-3EFA-44DA-8AC8-34E8C414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Docker-образ, Railway, підключення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CBBFA-F063-4CB2-8F14-28B1646B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Залишаємо 1 хвилину на перемикання й питання по ходу</a:t>
            </a:r>
          </a:p>
        </p:txBody>
      </p:sp>
    </p:spTree>
    <p:extLst>
      <p:ext uri="{BB962C8B-B14F-4D97-AF65-F5344CB8AC3E}">
        <p14:creationId xmlns:p14="http://schemas.microsoft.com/office/powerpoint/2010/main" val="1215091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08D3E-6DCD-4796-9556-D9959BA3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5878E-2317-4524-A6FB-2AAEA804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5C419-98CA-4424-B1C0-C29C7E23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079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6FD78-63A1-475A-87D8-EFDABFD4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083A0-6E98-4C7C-A55E-EA579AAF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Звичайне питання стає перевіреною відповіддю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3CEB5-9F80-42E1-8FA2-B44C31DF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3E659-E202-4EBD-9E7C-9E48E805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«Скільки уроків ми провели минулого місяця?»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ED9DA-FA10-4151-91B4-EBC3E66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24B28-E748-4964-9652-AEDBE929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1 284 уроки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31437-4528-48A4-8BF8-A16D5D32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 SQL, поясненням і можливістю зберегти звіт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BC6BE-5373-4646-813D-EE0DFE0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714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DBE25-2236-4F52-B1A6-59EE3E17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4143F-AC05-4C94-9F7E-C6F3C186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перевіряє схему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пише SELECT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48200" y="27336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05625" y="27336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05D0B-47F9-4AF4-9B2B-AF89636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Наша мета — зробити цей шлях видимим і контрольованим</a:t>
            </a:r>
          </a:p>
        </p:txBody>
      </p:sp>
    </p:spTree>
    <p:extLst>
      <p:ext uri="{BB962C8B-B14F-4D97-AF65-F5344CB8AC3E}">
        <p14:creationId xmlns:p14="http://schemas.microsoft.com/office/powerpoint/2010/main" val="437662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34D39-4B15-4D97-857B-18282C0F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A0DFB-0491-415E-9F6B-61EDC146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169D5-43DD-466E-BC82-AEB227F9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9119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43E9C-3798-4A40-A095-39CA0BE6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1F47B-F553-4047-824D-2ED6E7B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ми будемо робити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71A14-1F2E-46CF-8BD6-7DDC7BED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отримує безпечні інструменти для аналізу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E5DAB-F9CB-4AA2-8A4E-5260F3DB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19469-6A61-4DD7-A6D1-D3BDCC9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469FE-E95F-4330-BB56-F5E2AF3C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294A5-FCAF-4B29-B683-A1FBA31A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 + Claude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41F5B-AF56-4B87-B4FC-9E297A70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4A8FC-9C36-40C5-8FC4-D507FE43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8137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3619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732A9-3BDF-4F10-99D2-6358F218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П’ять функцій замість необмеженого доступу</a:t>
            </a:r>
          </a:p>
        </p:txBody>
      </p:sp>
    </p:spTree>
    <p:extLst>
      <p:ext uri="{BB962C8B-B14F-4D97-AF65-F5344CB8AC3E}">
        <p14:creationId xmlns:p14="http://schemas.microsoft.com/office/powerpoint/2010/main" val="2143524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E7F701-35FB-4AD7-A4B8-0B15C1D3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4E531-ED6F-4964-A523-6E8CAF11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A10B1-19B5-42EC-BAC7-C3D93BBB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32159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11FB5-437D-41D4-89B7-124F22A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B82A9-B668-4AA5-BA7A-A1EACD6F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 словник термінів на сьогодні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ECB4B-650B-4178-A1C8-4841DDEC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72530-89C8-4FDE-AB5C-4827E4EB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EE5E0-1FF1-4743-AB67-E5763179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90292-8DC0-4C9F-834D-BB149512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генерує наступний крок або 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8299E-1681-4276-8D61-7E2FC213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6BD24-4B6A-4A53-A9EC-CECBBE1D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8C576-9E73-4CDC-A34E-9A7A9E0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05FA0-7BD8-4E17-BCB7-9FF87059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09DAC-44EB-4FA0-98C1-CBC22459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повторює цикл: подумав, викликав, перевірив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63CC0-82C3-477C-B3BC-CD74CE08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D080C-089D-4EE1-A809-5EA9F7DB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38771-B094-481C-928E-F72A4177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295A9-02AB-4156-B991-B897510A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9E304-77B8-4DEC-8233-F67A7807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звичайна функція з чітким входом і виходом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94B8C-05DA-4CA6-A40F-E3B3A1A8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D896E-6E31-44E0-B040-6BAE3D89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6B332-4D73-44AC-BC3E-6A51F79F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A26BA-481D-42B2-AEE9-3E7982A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4B086-B689-431A-B0F3-75C4A397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правила розмови клієнта з інструментами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A6DEF-FFA7-4DD4-BE25-7B9AF16E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79A09-DD2A-4637-86C6-FE3B19F6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E26DC-6A0C-4E73-8952-A3E51F62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13B39-5A9F-4023-AEA8-DC4DF7A3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04907-D811-4617-A67B-8D59E922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структуровано зберігає дані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C6B3A-E65E-4076-B8E9-065CBDCF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00BADB-B94B-4E38-AEF0-B8FF62D4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783C9-14B1-45A8-B7FC-5198D454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E7E40-06EC-4F15-B3FC-6697E99B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A5108F-6F3F-4065-8A92-D3E498CD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запускає сервіс там, де він доступний іншим</a:t>
            </a:r>
          </a:p>
        </p:txBody>
      </p:sp>
    </p:spTree>
    <p:extLst>
      <p:ext uri="{BB962C8B-B14F-4D97-AF65-F5344CB8AC3E}">
        <p14:creationId xmlns:p14="http://schemas.microsoft.com/office/powerpoint/2010/main" val="859895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2D44F-42B6-4F49-8208-CD525BAD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5ABE5-E579-4743-B5F5-88A4782F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4BD44-369C-4AAB-9D9F-DFB22216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65199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78FF2-DF4F-4EDC-B451-9AA4E31B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0B7FD-F5A5-421C-A081-B5509947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зберігає історію, GitHub — репозиторій онлайн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D36DF-2BDE-47DB-B323-7DF9C865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E3109-AA3E-4C4C-B5DD-45EF1254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c392ee1814e3b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674383e7240ba"/>
          <a:stretch xmlns:a="http://schemas.openxmlformats.org/drawingml/2006/main"/>
        </p:blipFill>
        <p:spPr>
          <a:xfrm xmlns:a="http://schemas.openxmlformats.org/drawingml/2006/main">
            <a:off x="7000875" y="2047875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28FF0-52E6-4B47-B616-CBF9831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6259A-EFCE-4756-BE2F-3D009B32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«машина часу» для файлів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97914-9DEB-4173-926C-B144181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= збережена версія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= окрема лінія роботи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A946B-576E-40D1-A976-B235231A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A2E1B-8A8A-481B-A1AA-D7C0F439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хостинг для Git-репозиторію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6866F-A68F-4BD7-898A-EFD320B4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= завантажити копію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= відправити зміни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B497D-B7F5-4329-A112-66DDB1E3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Railway бере код саме з GitHub</a:t>
            </a:r>
          </a:p>
        </p:txBody>
      </p:sp>
    </p:spTree>
    <p:extLst>
      <p:ext uri="{BB962C8B-B14F-4D97-AF65-F5344CB8AC3E}">
        <p14:creationId xmlns:p14="http://schemas.microsoft.com/office/powerpoint/2010/main" val="11327270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79B9C-BB34-4A00-B3A9-50874266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EE290-A87C-4610-BD8B-E32AFADA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8E624-54B0-4E6F-AEE8-5D7B18C2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98239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84B24-ECDC-43E5-B6DD-95DB5A44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823A2-1E13-4CA0-811B-D8B04914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 дає однакове середовище на кожному комп’ютері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82d90f04844b8"/>
          <a:stretch xmlns:a="http://schemas.openxmlformats.org/drawingml/2006/main"/>
        </p:blipFill>
        <p:spPr>
          <a:xfrm xmlns:a="http://schemas.openxmlformats.org/drawingml/2006/main">
            <a:off x="1047750" y="17145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22645-6B95-43D9-B7C8-5036753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AC6B6-33D9-49E4-9C9A-515AB47A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Ізольований процес із потрібною версією програми та її налаштуваннями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D7416-4D4C-4324-B6EF-D2D52A73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9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46CB2-8140-4BBC-8315-4E461B1E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3B9FF-8BF4-4F84-9A0C-AC22E379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C3296-F134-42BD-A94C-FECD0DA9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рецепт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18AF7-9DB1-4ACE-AFDB-2C22D52F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04ACB-E40E-4CD2-869B-AFB5E9A1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запущена страва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91375" y="4191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BD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A3B32-2F6F-4257-AFB0-4C17430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У нас Docker локально запускає PostgreSQL</a:t>
            </a:r>
          </a:p>
        </p:txBody>
      </p:sp>
    </p:spTree>
    <p:extLst>
      <p:ext uri="{BB962C8B-B14F-4D97-AF65-F5344CB8AC3E}">
        <p14:creationId xmlns:p14="http://schemas.microsoft.com/office/powerpoint/2010/main" val="20143700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E202C-F12B-43F5-AC2A-50C92976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70432-1B6B-4DEE-8F3C-79545F39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40A21-D917-4756-8BD2-6EFB622B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1278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41B9E-5DAA-4375-A160-4876E082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AC93D-65AA-4243-AB1A-583F2722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виконує логіку, PostgreSQL зберігає дані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30486-0192-4A18-9B4D-7217B63D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F8A6B-4B23-46DB-994D-5441854C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654b00298431b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8147eef2e44c1"/>
          <a:stretch xmlns:a="http://schemas.openxmlformats.org/drawingml/2006/main"/>
        </p:blipFill>
        <p:spPr>
          <a:xfrm xmlns:a="http://schemas.openxmlformats.org/drawingml/2006/main">
            <a:off x="6953250" y="20478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3716C-3EE8-4303-B820-8CF348BB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A061A-E9B3-4D63-ADBF-E9D5F000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5BF4C-7291-4D99-B7C2-0875D875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528D3-644E-49F0-9528-C4ABE9B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зв’язки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доступу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184EB-E986-40A5-BC2B-5FA9E132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psycopg = бібліотека-мостик між Python і PostgreSQL</a:t>
            </a:r>
          </a:p>
        </p:txBody>
      </p:sp>
    </p:spTree>
    <p:extLst>
      <p:ext uri="{BB962C8B-B14F-4D97-AF65-F5344CB8AC3E}">
        <p14:creationId xmlns:p14="http://schemas.microsoft.com/office/powerpoint/2010/main" val="895760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291D3-BDCB-4C18-932B-6D380ABE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C5D9D-22E3-417F-9F17-D989CFA0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DE59F-DC42-46C8-9917-A51590D5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6431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3C8EE-151F-4B84-9684-99ABE5B8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6FC93-E07F-45FB-9E26-2E799C4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задає формат повідомлень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f3d99a13d47dc"/>
          <a:stretch xmlns:a="http://schemas.openxmlformats.org/drawingml/2006/main"/>
        </p:blipFill>
        <p:spPr>
          <a:xfrm xmlns:a="http://schemas.openxmlformats.org/drawingml/2006/main">
            <a:off x="781050" y="19526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3CFDB-5468-4994-9E40-BE08EC69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92857-07AD-43C5-B514-6949B626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tools/list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133F2-EE0E-483D-B37A-C63B4FE2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які інструменти доступні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5A6F7-BA6D-484A-AEA4-1DA4E59E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132C4-12B3-4213-B6EB-F93F5713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tools/call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19CBF-09CA-4CA9-B913-9763E3B4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який інструмент викликати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C1E69-4769-4C6B-84A2-E3D111E5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D8F95-6AAF-4CE1-8C63-A3C55D50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B93BC-248B-4D0B-9F89-B4F38ED4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повернув сервер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858D0-CDED-43A1-B7BF-609551DE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Claude аналізує. Сервер виконує функцію. MCP переносить повідомлення</a:t>
            </a:r>
          </a:p>
        </p:txBody>
      </p:sp>
    </p:spTree>
    <p:extLst>
      <p:ext uri="{BB962C8B-B14F-4D97-AF65-F5344CB8AC3E}">
        <p14:creationId xmlns:p14="http://schemas.microsoft.com/office/powerpoint/2010/main" val="12563656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1C353-4B2C-4871-9A23-F2D850CA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6DA54-90FD-4FB3-A79F-C401ECEB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B9A9E-F6DE-4096-BD7B-A0B38E4F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97358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375B4-AD5E-4D15-97FB-AC1BC6BF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85538-1446-43EA-802D-76E97BCF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з’єднує AI-клієнт з інструментами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d050a731243c8"/>
          <a:stretch xmlns:a="http://schemas.openxmlformats.org/drawingml/2006/main"/>
        </p:blipFill>
        <p:spPr>
          <a:xfrm xmlns:a="http://schemas.openxmlformats.org/drawingml/2006/main">
            <a:off x="857250" y="18097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A1FF5-CB06-4004-AED3-BF94C6E6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3E2D4-35D9-4F3D-906A-8ACDE01D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17756-F1D4-4C9A-B995-5493FE34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107E7-B4CD-4194-9088-7B95DC29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4F6D0-C263-42B1-A0EB-E30E57C0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09665-0EFA-4500-AB44-DC85F8FA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наші 5 інструментів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81750" y="27146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DCA8F-E5A2-4DFA-AF54-05197124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619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СТАНДАРТНИЙ ПРОТОКОЛ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272EF-4C0F-4C51-BA80-4274A545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Клієнт бачить назву, опис, аргументи та результат кожного інструмента</a:t>
            </a:r>
          </a:p>
        </p:txBody>
      </p:sp>
    </p:spTree>
    <p:extLst>
      <p:ext uri="{BB962C8B-B14F-4D97-AF65-F5344CB8AC3E}">
        <p14:creationId xmlns:p14="http://schemas.microsoft.com/office/powerpoint/2010/main" val="265394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46182-350B-47ED-96CC-AD96DFFB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9FBA3-4097-401D-AD0E-3FCA135E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CC639-31A9-4765-97C3-200C5F76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30398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389F6-ACDA-4975-8959-E29C9DFE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01DEA-9DA1-4F6E-A4E5-97F54AC1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Модель, агент і інструменти мають різні ролі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DB1F4-392D-428A-9244-99498DA4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D6E45-79AB-4210-B638-EB7B31DA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E4948-9D0D-4377-A7B9-49DCFB1C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AE75E-35B0-47E2-9F2F-781B2B7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00F66-22BF-43C2-B95A-B34D2C56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що робити далі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0E7A8-0F9C-49FD-B1ED-87F8ED8C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F69E-9B41-4806-A671-036EA8C7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22C96-071B-40BD-9888-A69E1C28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FDE1D-BDA3-4F24-B5EA-C064A017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Агентний цикл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145E9-D7C8-49CF-B90B-54D97CEC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викликає функцію та читає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3D106-9FC5-4339-BC00-9F582E9A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9EEC7-A548-40E2-B14C-A706544E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BE5A0-03E3-4588-84E5-D7BC7A89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6131E-64E8-4196-A3AC-D84A7E4D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5B473-1B79-4A60-A19C-7752C4D6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детерміновано виконує одну дію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91375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C56C3-1E09-4804-90F7-4014F8AF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У коді ми пишемо інструменти. Послідовність обирає Claude</a:t>
            </a:r>
          </a:p>
        </p:txBody>
      </p:sp>
    </p:spTree>
    <p:extLst>
      <p:ext uri="{BB962C8B-B14F-4D97-AF65-F5344CB8AC3E}">
        <p14:creationId xmlns:p14="http://schemas.microsoft.com/office/powerpoint/2010/main" val="914404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64693-FD0B-489F-83E8-AEBD3C3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35B1F-8AEF-4FD3-B3C9-788692C4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B3B82-37C5-4060-858E-FBF5C61B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3438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976A6-84A7-4BA5-BBD4-EAB35C3D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02190-CC34-448A-BFCE-81574A4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 до даних проходить через MCP-сервер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776C7-2FA7-4CC6-B550-B4E1AC63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919D3-8E99-4F8D-94D9-6ADCA8FA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857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22F36-180A-423B-A527-25A051CE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65A03-94A3-486E-A732-082855C4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A1A70-43D5-4938-B9C8-805AAF72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0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A4C18-486B-4A0E-A75A-F699F6F0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+ 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2686E-7928-4A6B-BA32-D114052C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C4CEC-2F70-4F23-8057-AEE5258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5 інструментів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64E8B-1CC9-4194-98B5-5E7E7B52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49C15-3168-453A-96F5-8DC29366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F134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A58EF-8890-47B3-B8AB-7E7B8A4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1D3D5-7510-40EC-853A-3D95F10A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готовий model.pkl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1AB48-C582-4A2C-A89D-37DCC819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HTML-звіт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19375" y="2714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572250" y="20478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72250" y="2714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143500" y="3714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356B9-2551-4E75-B59B-08A8A1D9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Пароль від бази зберігається на сервері, а не в чаті</a:t>
            </a:r>
          </a:p>
        </p:txBody>
      </p:sp>
    </p:spTree>
    <p:extLst>
      <p:ext uri="{BB962C8B-B14F-4D97-AF65-F5344CB8AC3E}">
        <p14:creationId xmlns:p14="http://schemas.microsoft.com/office/powerpoint/2010/main" val="10837252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DD2022-73D0-4955-8F21-0C272377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6681D-24E1-4B75-8D97-C62D1269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F1642-3ED6-42B1-80B7-F589A737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96478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5A467-AA5F-474F-998C-9D3DED36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237A0-0FEC-4DA4-B10B-B7147E2A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агент дізнається, що є в базі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83F56-18B1-4590-B326-F497A9F7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474C9-2A70-4158-9EEE-D4458A6C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DD7B4-AEB6-4394-AC4A-24C36EDB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A3A7C-8E2E-4348-9A5C-20330207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D5394-29FE-4A81-96E1-E967AD5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отримує назви й описи таблиць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AAB18-C743-4C5F-A0EC-79548564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D873F-1A27-4997-BE91-02D62561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24B13-1F3B-4237-9B88-32225657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2A0DE-B86F-439C-93C9-4E58F5E6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787DC-E6AE-4498-A8B6-600F78A6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читає колонки, типи, зв’язки й коментарі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05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B48B8-0E58-49E9-9EF4-DD4FB347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F0673-A55F-47E0-BB63-AEC848A4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1E3CE-40AB-4B67-ACBE-30A814B3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A8383-9533-4C5E-9AC3-AC196970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49D9A-0EA3-4AC9-B75A-0A4B0A94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обирає потрібні таблиці та поля</a:t>
            </a:r>
          </a:p>
        </p:txBody>
      </p: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7626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983F5-20FD-4252-98BC-4D3C2D2D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AED45-4A56-4C6A-A1E0-C2D27345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E8871-510E-4082-A7EE-F8F43FD4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E60A8-D7DC-441F-8C4B-7F711E9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71629-36A9-4B4B-9D0D-19045C16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складає і виконує SELECT</a:t>
            </a:r>
          </a:p>
        </p:txBody>
      </p:sp>
      <p:cxnSp>
        <p:nvCxnSpPr>
          <p:cNvPr id="57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20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8A5B4-23A1-4A85-8BF1-54D4ACF0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Спочатку агент читає схему, потім складає SQL</a:t>
            </a:r>
          </a:p>
        </p:txBody>
      </p:sp>
    </p:spTree>
    <p:extLst>
      <p:ext uri="{BB962C8B-B14F-4D97-AF65-F5344CB8AC3E}">
        <p14:creationId xmlns:p14="http://schemas.microsoft.com/office/powerpoint/2010/main" val="17953590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A9992C-478A-4408-8507-D230A4E6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AC2CD-7191-4219-8F83-80CD87FA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A89E6-AAAD-4D2A-99DC-137BA74F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951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27C6F-D9F1-4419-9A5D-773687C9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350E7-C097-41CA-924A-EEBD8B59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запит проходить шість видимих кроків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04600-0964-4F17-826F-894BFD65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3C1C2-8E65-43EC-8A32-4CB03A17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FFDE0-9D24-4E58-ACB5-7759EFFA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79C17-73B2-4DDE-8594-FD9C1B49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57A9E-990B-4499-8A41-830C56E3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48ECF-23DE-40E8-8AFE-A82AC3AD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E024B-EB14-4035-8B65-CC9F8341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9959D-FBE8-4C83-8813-4A5135C0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 таблиць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383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CF0C2-D885-4CF0-931F-D410784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C2015-E6DB-4E98-935D-E1EB0D25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990B1-6B52-4033-8031-5E744BC7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28A13-D6E8-4666-A731-D0CDFC9A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Опис схеми</a:t>
            </a:r>
          </a:p>
        </p:txBody>
      </p: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624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C4B4C-8188-4D0B-B62D-E9CD8115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DB295-F738-4807-B856-F932C1FC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9F127-992E-4A05-BDBC-5B1F4470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9CA15-0B2C-4C5A-87E7-B114E24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864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A3941-A9D8-4507-BCB2-CAC91008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296F51-5738-4570-9315-12C3E465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B0FDB4-EFC5-4398-A2F4-6D9B3FB0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EFC9E-3DA6-4BAF-87B0-5F2704CC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105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88C1DC-8A34-40C9-9F59-76D4F2A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2F178A-88E7-4223-8FD1-9CE202A9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5B86B2-F3C9-410B-867C-0FF4345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4DECFC-1943-4F61-B4C4-8311EEC9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Пояснення</a:t>
            </a:r>
          </a:p>
        </p:txBody>
      </p: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9345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70B1A8-4D3B-4A6D-93B2-5846E56A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Кожен виклик можна розгорнути й перевірити в інтерфейсі Claude</a:t>
            </a:r>
          </a:p>
        </p:txBody>
      </p:sp>
    </p:spTree>
    <p:extLst>
      <p:ext uri="{BB962C8B-B14F-4D97-AF65-F5344CB8AC3E}">
        <p14:creationId xmlns:p14="http://schemas.microsoft.com/office/powerpoint/2010/main" val="18493830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16998-910C-4242-9519-46433A17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4D65D-B12A-4FC8-BEED-9DD80437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F5475-C37A-444D-8CD6-E0D6A89D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62557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2A775-2B63-4A36-B6D4-C84F42F4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E618E-1F76-406E-A436-40B8C2D7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П’ять інструментів: від схеми до прогнозу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41B99-65F1-4935-B0A2-1685865C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59EFE-B4D8-4427-A3DD-A7370565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82144-6386-4069-AE1E-201E4BF7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E17D0-ED3C-4A8E-AC66-1EE5DC92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BFC87-768F-4476-ADE5-3F81F4C7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D8838-ADD7-4248-B70D-48C5F4EF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F5A8B-0A08-4F06-B1F7-0CE5DC8B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4F4C6-673F-44BA-B2DC-A55AB162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05B9F-002D-4483-8DE8-EE49A2C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8B0B0-C927-4FC0-A63A-83AE5FEE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 влаштовано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DA2A5-510A-4197-A118-50FF71B4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8EBAC-15E0-4FDB-ADA3-F792B08A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E16F1-3135-4B96-8D95-CD820F32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74AFF-0A35-4E7C-B40D-E2880FE0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EE217-4618-44E6-94DC-28939196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прочитати дані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35A16-40B9-453E-87A4-45E07FB8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2DEAA-108F-4437-9343-09814F94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8A281-E5DF-46BA-81C3-29807A99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79CC1-1309-4F77-830B-F6E83D80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63130-C2A6-46D3-8EFA-C3FB7332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зберегти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91E0F-82C5-4C1B-B6FB-D8DAE3DE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4AC00-C166-4874-AAE0-37C1A470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DAC8E-3FE7-46FB-9311-3A176D04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74E1A-5887-40A8-B464-1EE8F3A1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708E3-92F1-4BA0-90AA-C5A7DC32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оцінити ризик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A58F9-9C0F-4B31-8DFB-9D598B20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Окремого інструмента «побудувати графік» навмисно немає</a:t>
            </a:r>
          </a:p>
        </p:txBody>
      </p:sp>
    </p:spTree>
    <p:extLst>
      <p:ext uri="{BB962C8B-B14F-4D97-AF65-F5344CB8AC3E}">
        <p14:creationId xmlns:p14="http://schemas.microsoft.com/office/powerpoint/2010/main" val="5364186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195DC-5062-4CCA-ACB4-03954702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EB789-2818-44CD-A1A0-29B24CDF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D7DF9-E871-4B74-B901-5979654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597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973F-32D6-415B-AF4E-98D4E5DB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3C09F-8BB2-4C8E-8585-BBC5AF93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 пояснює моделі, коли викликати інструмент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0C6DD-D2BC-45AF-B129-61AF56C6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5722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DF6E2-6705-47DB-B621-9DEA34B3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080CE-089E-4E9B-B106-67D9A1EF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 run_sql(query: str, limit: int = 200):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"""Виконує лише SELECT-запит.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Спершу перевір схему таблиці.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Повертає колонки, рядки й ознаку truncation.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79FB4-CC6B-4794-966E-D6224CE8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143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BE77B-419E-4B4B-97AD-770BB32C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КЛЮЧОВА ІДЕЯ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E006C-5A30-43F0-A08D-130139C9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Опис = інтерфейс для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473B8-001A-45A5-AEE2-92ADC974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146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функції замала. Модель читає призначення, обмеження та формат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4235197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5F292-F896-4756-814A-F7AB9F19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9626B-D68F-4BC4-BCE4-DAB905F4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3E751-07B3-4355-A0A4-2E25110F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DD189-E305-4E42-9D77-EA1ACE8C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26CD3-5BC2-47E6-86E4-02E03CDC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Знання про дані живуть поруч із даними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71A90-C68E-48BD-93B6-287B7337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A4BC1-ADD6-479D-B8E5-EC8A63B4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F6305-28C5-4BAD-8D31-70DD824A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ON COLUMN lessons.status 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'completed — урок відбувся;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cancelled_by_parent — не рахувати як проведений';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E3328-7DA3-40D4-9765-3E967EC5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F9632-6516-49ED-8B7D-DD6F687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678A4-B5A3-48DF-B61F-1E35C44C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повертає коментар моделі разом із типами, зв’язками та прикладами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7059D-7DBC-440E-ACCF-2C50D5FC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Менше прихованих правил у промпті</a:t>
            </a:r>
          </a:p>
        </p:txBody>
      </p:sp>
    </p:spTree>
    <p:extLst>
      <p:ext uri="{BB962C8B-B14F-4D97-AF65-F5344CB8AC3E}">
        <p14:creationId xmlns:p14="http://schemas.microsoft.com/office/powerpoint/2010/main" val="13239712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6342F-24D9-441D-AF2E-70C91472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8171D-C49E-4988-A189-5D0D89B6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F0CEA-64C0-46F1-82B8-3F505E1E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61677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DA842-1209-4B18-87A0-CA8D9C89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5EBF2-C2C1-4960-B24C-1CF00336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шари не дають агенту зіпсувати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DABAC-0270-4078-8642-C890A5B5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0AFCF-ACB1-4CBA-858B-2160E28A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F8DD3-530A-41A6-BB64-69F14B13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7BA87-47A7-4252-8310-F2805364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пропускає SELECT і 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8E9F0-0542-4C99-B422-020F3CA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06E69-1972-43D3-9633-E7BE7D48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ШАР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988E2-7D5A-4104-8653-F20B6FF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13424-A2F0-4239-B56F-85534DBF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 відхиляє запис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4AFC4-2D5A-4CCD-AE11-011C7DBF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CCA7B-11FF-4BB8-B815-1C51B67F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884A8-7581-4ACE-9693-D7F65EBC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056D1-9926-4F3E-A326-FF811711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зберігає успіхи й помилки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C8A85-D9EC-4F3A-9F8E-32D38D4F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Справжній бар’єр — права бази, а guard дає зрозумілу помилку раніше</a:t>
            </a:r>
          </a:p>
        </p:txBody>
      </p:sp>
    </p:spTree>
    <p:extLst>
      <p:ext uri="{BB962C8B-B14F-4D97-AF65-F5344CB8AC3E}">
        <p14:creationId xmlns:p14="http://schemas.microsoft.com/office/powerpoint/2010/main" val="1687029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49789-975D-478D-9220-2E883A90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80DF1-9F55-4D1F-BED2-74D6D12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94DF6-6A53-4506-A3F7-32172D59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4717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C19C8-31EB-4BAB-904D-68B8EAB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ADAE3-AA76-4C50-99A6-8B3A9713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репозиторію: де що лежить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E5209-7211-4031-ABDA-9968C026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95EA6-BA5B-48C4-9E09-CFD62A80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ПАПКИ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CAA41-E71F-4B33-AA56-23723AD5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data-analyst-agent/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server/        MCP-сервер та інструменти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db/            схема, роль, демо-дані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ml/            навчання й model.pkl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tests/         перевірки поведінки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docs/          setup, deploy, next 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deploy/        Dockerfile і старт у хмарі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docker-compose.yml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└─ railway.toml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002D9-04FC-4C4C-BFD8-37BF9481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B6C3B-5656-4BF3-812F-5828F0C7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server/main.py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72871-2B92-479B-825F-5E58D8B5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реєструє 5 tools, обирає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26850-DC1B-4CFB-BEFD-08C38456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C7EE0-22E5-44B7-911C-D54A02E4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server/db.py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E9CB4-28E9-4FEF-922B-C2DCFBB4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пул з’єднань, guard, помилки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2B963-816A-4A2A-A628-04F954EB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01912-BE80-4946-999B-586CE416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server/features.py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50819-2A70-4D66-BAE5-640F93A0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єдине джерело ML-ознак</a:t>
            </a:r>
          </a:p>
        </p:txBody>
      </p:sp>
    </p:spTree>
    <p:extLst>
      <p:ext uri="{BB962C8B-B14F-4D97-AF65-F5344CB8AC3E}">
        <p14:creationId xmlns:p14="http://schemas.microsoft.com/office/powerpoint/2010/main" val="7827506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3C710-F07A-470F-9BCE-23A5EB5E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C6BA9-CE6B-4AEA-9971-60076020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E7736-0402-4FFC-88CE-9EFBF54B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2775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4EAD7-C21F-43DC-AE65-8C5F67F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813FF-A794-4582-86B9-AA706245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таблиці описують навчальний процес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C4CA7-0B17-41A6-8CF4-027274CF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DD8D7-5721-4BCD-A290-832CC53F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E6A4E-6DB5-4CC7-8867-88998E47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7F44D-E965-4820-9107-FEE0FB4F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05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BDE5B-A021-4C58-A920-B9ACDDFB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1305A-7CD9-4F22-A5B4-0A1034A4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учень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E85F1-0A36-494A-A83A-8608B7A9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11F3C-8A75-4467-AFE0-74A36F22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план занять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21F09-8CB1-4D7B-AE2C-8E1EE111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4B3A3-52CA-4FB2-B8C2-7DE00DB9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 й статуси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319DB-8F1A-438D-B850-DF9927C7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9A72B-61D1-468B-9276-F6516638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викладачі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2286000"/>
            <a:ext cx="57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858250" y="2286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BD239-5419-4BBA-B85A-A7AB80AC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учень має підписку, підписка має уроки, урок проводить репетитор</a:t>
            </a:r>
          </a:p>
        </p:txBody>
      </p:sp>
    </p:spTree>
    <p:extLst>
      <p:ext uri="{BB962C8B-B14F-4D97-AF65-F5344CB8AC3E}">
        <p14:creationId xmlns:p14="http://schemas.microsoft.com/office/powerpoint/2010/main" val="6399242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2EA99-E193-4696-8503-76D1545C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97227-7CE4-4CE1-9E78-DA1A0E28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E3082-B597-4E85-9834-C0392BC3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0796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A5AEE-245F-4194-937E-EDD6E7B8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9862D-C013-4186-9C86-BE9837AE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Платежі, підтримка й аудит доповнюють картину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A634B-E07D-4D37-8139-AA6CDEFC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C9287-B4FB-4B49-983A-437D1D5C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B52FB-AD8A-4F7C-86B9-4D2CC49E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F9C32-F364-4EE3-AF8E-F24AC17D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успішні й невдалі списання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90 днів для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0EC38-EEE3-457F-A3EF-CEB29CE9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E9D04-41D6-4A48-A7E4-3E59CD4D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1629D-7D10-44A2-828A-20193FE9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support_tickets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4860F-55E0-4AC4-B154-4F13F69C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звернення учня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сигнал незадоволення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817AC-4705-4A29-98E7-40F5E1DE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609AE-335F-4986-B230-7ACAD233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3F701-6179-423B-AC5F-0A2AC918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CB6B7-7221-4EA1-8A42-FAB7215D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всі виклики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хто, що, коли,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6E0D2-0D4C-4320-B0D7-C8CBC7FC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Разом у демо 7 таблиць</a:t>
            </a:r>
          </a:p>
        </p:txBody>
      </p:sp>
    </p:spTree>
    <p:extLst>
      <p:ext uri="{BB962C8B-B14F-4D97-AF65-F5344CB8AC3E}">
        <p14:creationId xmlns:p14="http://schemas.microsoft.com/office/powerpoint/2010/main" val="9316506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05761-FCE8-48E2-BC23-93F1F875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5FEE3-8754-40C1-99E6-C5B82DE2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111BA-B2D1-4ED1-8FCF-4E18418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9383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E2A81-4A7C-4FD4-B0D0-0661609C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4A3DD-9428-409C-BC12-2DBA7EBF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є два способи отримати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39B9E-29B4-44B0-8CFF-C0C689F0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B9F10-94F4-494C-8E70-8FF63945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НАЙШВИДШЕ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096B0-29FA-427B-9C00-EA74FBD4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А. База від ведучої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7EEF0-B62A-456A-866C-6D7E1C56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Вставити DATABASE_URL у .env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Docker не потрібен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F40D2-CBC7-4BEA-977B-D322163A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20C76-7197-4CDA-AD68-4E8801E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БІЛЬШЕ КОНТРОЛЮ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0A6A4-6D68-4D38-9F9B-05F5BAED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Б. Своя база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70DF7-6F50-4C59-B46B-7BDDE03B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Запустити Docker Desktop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Виконати make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9D8BF-0A64-444F-8C7B-18CDBF03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Обидва варіанти дають серверу однаковий DATABASE_URL</a:t>
            </a:r>
          </a:p>
        </p:txBody>
      </p:sp>
    </p:spTree>
    <p:extLst>
      <p:ext uri="{BB962C8B-B14F-4D97-AF65-F5344CB8AC3E}">
        <p14:creationId xmlns:p14="http://schemas.microsoft.com/office/powerpoint/2010/main" val="1343997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55CF4-0118-4516-B953-B4BF7A61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0EF81-7E35-408C-B4C1-B026C2AA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6EE0C-D931-4476-967C-37BC9264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6876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5A8C4-C148-41AF-9F1F-C42D0AE2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100AF-FA2B-49DD-9F68-1B594710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етапи до першого локального запиту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11235-5918-4959-9AD0-210A881D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FC643-96B8-4DA2-AB59-BEBCD4C4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390FD-9761-4301-A480-C387E9E9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CB86E-B735-4157-9231-ACEF6AE0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Завантажити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E2070-492E-4073-B617-7B53CD95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 clone …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cd data-analyst-agent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4A0C7-7FA4-4A87-9F52-73D2947E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235CD-2220-47D1-BC13-650B2C88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70D60-11E8-4878-AC1D-82295DD3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58C93-729A-42D3-9F80-FE96B7C3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Ізолювати 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A7218-106B-420E-B584-ABE278C3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python3 -m venv .venv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pip install -e ".[dev]"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6C488-8A86-4E63-9A38-B8DAC448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363FB-F181-48D6-BB3B-F75593E6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A2453-9DE1-4D01-8AC1-AC1DA55F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898EA-5EF2-4A44-83FE-421A8630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Підготувати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7C0D4-3846-4FA7-8FF2-A01DF801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setup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doctor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E22B4-E3DB-4322-905E-9D061607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A8CF9-0C2C-427B-8B3C-07AB6AE6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41F83-BD9E-4391-9CF2-30787CBB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1CFA7-E2C1-4454-853E-7D9F042A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Підключити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F4EDB-54F9-4340-8B4E-11DFDFE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перезапустити Claude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EDEF86-DAEE-41D6-AA05-621E84E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340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make — короткі назви для довгих команд</a:t>
            </a:r>
          </a:p>
        </p:txBody>
      </p:sp>
    </p:spTree>
    <p:extLst>
      <p:ext uri="{BB962C8B-B14F-4D97-AF65-F5344CB8AC3E}">
        <p14:creationId xmlns:p14="http://schemas.microsoft.com/office/powerpoint/2010/main" val="1779649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FDAE7-3785-40A6-B42C-0820051A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00FF4-84FE-46A5-BD62-F7DF5E61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3F9A3-3738-488D-9227-AC71113E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5991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89EE7-5770-46CE-B788-4034326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29679-A129-4671-A383-BAE06A3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7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EC15D-3C15-43D1-BDB7-8A291604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MCP через stdio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4D641-C04E-418C-A8A5-19A0319F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A4F5A-3291-4C33-9FEF-F1A484F9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ПОКАЗАТИ НАЖИВО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5E4D2-D536-4A6B-BB6F-6988D302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628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doctor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після перезапуску Claude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є в цій базі?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Побудуй графік уроків по місяцях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Збережи цей звіт файлом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D0225-B14C-4CC0-B4AB-4086ED7E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3333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C6798-A07E-43B9-91AF-605ACD1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A1CC3-B4AA-4867-AF02-F6B4DB1A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Ознаки успіху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87805-785B-4892-9EEB-33D4390B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7 таблиць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видно tool calls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SQL лише SELECT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звіт у reports/</a:t>
            </a:r>
          </a:p>
        </p:txBody>
      </p:sp>
    </p:spTree>
    <p:extLst>
      <p:ext uri="{BB962C8B-B14F-4D97-AF65-F5344CB8AC3E}">
        <p14:creationId xmlns:p14="http://schemas.microsoft.com/office/powerpoint/2010/main" val="6957783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4FFE6-6FE8-4A87-9323-BCAF63A4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8EBA5-9761-4B62-9B06-425312AA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F0203-5E58-4AAD-BA6F-AD81D962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9295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031FF-DA2C-4E62-A783-51AE2019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07DDF-757F-47B9-8AC9-5EA09480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сам складає ланцюжок інструментів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1F62A-EE70-452D-819E-23C2F183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7622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66946-3911-4E10-84A0-DF5F9D6E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«Хто з учнів у зоні ризику і що в них спільного?»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9D927-3D6B-43F1-ABD0-05E05400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51CF5-BC36-49EF-B3E1-2DB3C43E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525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04FB9-F767-494B-AAB2-22BC62C1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A04D0-270F-4055-B4EB-7413C9A0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91250" y="208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00DCF-699A-4489-829D-96A417B0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FBE95-4B37-4B86-821D-A60DD0D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191250" y="3086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7DB47-85BA-4D50-8D6B-E3F47BD3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57095-57A8-4C94-B201-A80F50F5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cxnSp>
        <p:nvCxnSpPr>
          <p:cNvPr id="42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191250" y="40862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64BD2-7E67-4870-AE0A-78A86E50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6C439-DE50-487D-9946-E61FC465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Список учнів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878B6-8775-4C5B-822A-C9AC4E87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ймовірність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топ-фактори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застереження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524250" y="1733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429500" y="3048000"/>
            <a:ext cx="114300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CCDB23-8453-41AA-AEA9-46D7E7C7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Послідовність зміниться, якщо зміниться питання</a:t>
            </a:r>
          </a:p>
        </p:txBody>
      </p:sp>
    </p:spTree>
    <p:extLst>
      <p:ext uri="{BB962C8B-B14F-4D97-AF65-F5344CB8AC3E}">
        <p14:creationId xmlns:p14="http://schemas.microsoft.com/office/powerpoint/2010/main" val="2781476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E5EB9-005E-480B-9AAB-44D49F22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AA4BA-AE46-4458-9ADC-1EED120C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57DC5-8D66-4876-ABD5-B1800814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25996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818AE-D5CA-47A4-A663-FB36DEB1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1D049-6F1D-48A0-A14E-A4434C44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 залишає місця для спільного коду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8AE26-2B2F-4063-A04B-4285C743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5177F-E2C1-4B5B-AA9C-250C255D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РОБОЧИЙ СТАН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47A1F-439A-494F-B9CC-49155D8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BEA74-4E32-4B1A-A4FA-D03B4F24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повне рішення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усі тести мають проходити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6AE09-8324-4D14-AED9-ED9A5A68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6B0F9-BA6C-4B3B-B3E6-1B670B6D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НАВЧАЛЬНИЙ СТАН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06801-73DF-4C49-A30C-DE679CEE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92C01-6762-43E6-8D8A-4EEED094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каркас із TODO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пишемо db.py, schema.py, sql.py, report.py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EFC87-A388-4B02-B5C8-5A20B255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39B24-8F62-4C50-AC7A-F19E1A6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git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E0020-DF55-4C86-AA8D-C8D1B688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База й model.pkl не зникають під час перемикання гілки</a:t>
            </a:r>
          </a:p>
        </p:txBody>
      </p:sp>
    </p:spTree>
    <p:extLst>
      <p:ext uri="{BB962C8B-B14F-4D97-AF65-F5344CB8AC3E}">
        <p14:creationId xmlns:p14="http://schemas.microsoft.com/office/powerpoint/2010/main" val="17137996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BEB5C-6F92-4C94-BC0B-3FE83583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0A9D2-236B-404E-B77F-9196A76A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9B989-E739-4789-BA77-6F991F20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9035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1A9B8-20E4-4F40-80E2-9F9A633A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F0532-291C-4082-AAD3-2C890969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 — автоматичний чеклист очікувань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953d670694bcc"/>
          <a:stretch xmlns:a="http://schemas.openxmlformats.org/drawingml/2006/main"/>
        </p:blipFill>
        <p:spPr>
          <a:xfrm xmlns:a="http://schemas.openxmlformats.org/drawingml/2006/main">
            <a:off x="904875" y="1809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C0275-E2D5-4C73-A80E-B590FBFE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00F59-5476-46FF-BECB-A925FA9F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FFAA7-775E-46DD-A800-823CBFED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test_sql_guard.py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2EB31-AB6C-4561-A7F9-77C552C1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не пропускає DELETE, але дозволяє чесний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33B43-5C0C-45B4-8927-D3DDB573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13C08-51D1-40C6-953C-52783653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47970-E0F0-4058-A82F-D840C5A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test_tools_smoke.py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23466-434E-4148-9B66-F6A9EEA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форму відповіді кожного інструмента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9397C-B452-40AD-AE96-1C90336C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7815F-3482-4769-A463-9701E07C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87D1B-9490-45E7-B6DF-D669A016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prove_readonly.py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756EE-3F39-48EB-BA82-FB057DF2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доводить обмеження прямо на рівні бази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9A398-DD56-4745-8A63-F8E02187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561C2-46CE-4A8F-8BC0-A4F92FA2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test</a:t>
            </a:r>
          </a:p>
        </p:txBody>
      </p:sp>
    </p:spTree>
    <p:extLst>
      <p:ext uri="{BB962C8B-B14F-4D97-AF65-F5344CB8AC3E}">
        <p14:creationId xmlns:p14="http://schemas.microsoft.com/office/powerpoint/2010/main" val="20368806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716B7-01DD-476B-BCBA-08957E6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6EE9F-B9D8-48B5-8F17-65B7201D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92005-0844-4F59-BF44-D272FCED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92075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08FF1-2859-4DDD-B89C-12075EB0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D5A9F-BE1B-4D8E-9375-19C9FDF7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 дає сигнал ризику, рішення лишається за людиною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2874097ed4e6f"/>
          <a:stretch xmlns:a="http://schemas.openxmlformats.org/drawingml/2006/main"/>
        </p:blipFill>
        <p:spPr>
          <a:xfrm xmlns:a="http://schemas.openxmlformats.org/drawingml/2006/main">
            <a:off x="7620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DDA8E-E44A-4386-8583-F4A5B4FD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5E3BE-A6D5-43BD-89A8-957213AC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45A51-1416-43F5-ABD7-1E3BC0BE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BFCEF-66E1-49E7-B833-68AF136D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ознак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F8A1F-6784-421A-A679-36BC46AC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уроки, оцінки, платежі, тікети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DD896-2DFC-4EC9-9913-4E8ECE2A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5B016-4DD9-4DC3-8617-53EC918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ROC AUC 0.776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324A9-6B00-4F44-8D19-9DB9522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Людина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86F2A-5278-471D-BF51-4EA28FA4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кому і як допомогти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7725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7DEF1-A3B6-4E44-BBED-315D168E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Прогноз: відтік у наступні 30 днів + три фактори для пояснення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C05E4-4E36-44FD-8C35-8FCE488A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3810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ЦЕ ПІДКАЗКА, НЕ ВИРОК</a:t>
            </a:r>
          </a:p>
        </p:txBody>
      </p:sp>
    </p:spTree>
    <p:extLst>
      <p:ext uri="{BB962C8B-B14F-4D97-AF65-F5344CB8AC3E}">
        <p14:creationId xmlns:p14="http://schemas.microsoft.com/office/powerpoint/2010/main" val="4963678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7F8E8-4322-441D-9735-07CA843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29BCA-62B3-410E-9828-474039C5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8EC12-6FC0-4E09-BB34-325063DB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25115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99AB9-5846-4F9F-83DF-49B431FE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BEE11-3B98-420E-87FF-E8BB669A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HTML-звіт легко відкрити й надіслати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38C99-C5AF-4B9A-A161-DFEF45C9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3BB38-B2FF-4852-9593-2E086AFA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&lt;html&gt;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38C66-91C8-4FB0-9C4F-EACECA8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текст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графіки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B5099-0B2B-4C6A-9260-FC868761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38004-0B3C-4A69-82C4-A55B1E99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6A7D-64F1-4A5C-BEBD-16CCD498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і безпечну назву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57E0D-5F2E-45BE-A326-2DF460DA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2727F-20A5-4D08-933C-98917031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reports/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36438-F19E-45C7-B8AB-3F80676A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уроки-по-місяцях.html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295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2E528-FE0D-4981-B0D8-C1010936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Інструмент зберігає результат, але не вирішує, що малювати</a:t>
            </a:r>
          </a:p>
        </p:txBody>
      </p:sp>
    </p:spTree>
    <p:extLst>
      <p:ext uri="{BB962C8B-B14F-4D97-AF65-F5344CB8AC3E}">
        <p14:creationId xmlns:p14="http://schemas.microsoft.com/office/powerpoint/2010/main" val="20985380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77BCC-3C4A-4847-A341-ED460104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267F5-3EA4-4726-A025-89559A0F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70D49-EEC8-466E-83B3-6FABA8F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8155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D05AB-DAC8-4AEC-9070-06DABF70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1A0E1-24DF-413E-BA9F-A0EB68DC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Claude запускає сервер, у хмарі приходить за 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0217D-919B-4BB7-AB26-02E3842F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2F24D-0F64-4CA0-A670-50152A59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BAE2F-96EB-497E-B276-FA489376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566BB-DA5C-4DEF-93BB-3EEC13B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стандартний вхід і вихід програми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Claude запускає Python-сервер на цьому ж комп’ютері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BACD0-DE30-42D1-8575-15A51A84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527B9-10FC-44F5-8A35-5DA2D378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 ХМАРІ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21B84-EEFF-449E-900F-ACF9FE48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3E57A-6D24-4152-9482-FE874EF7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сервер уже працює в Railway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підключається за адресою https://…/mcp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9F5E3-CA1D-488E-B27D-8B34D336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Код інструментів той самий. Змінюється спосіб підключення</a:t>
            </a:r>
          </a:p>
        </p:txBody>
      </p:sp>
    </p:spTree>
    <p:extLst>
      <p:ext uri="{BB962C8B-B14F-4D97-AF65-F5344CB8AC3E}">
        <p14:creationId xmlns:p14="http://schemas.microsoft.com/office/powerpoint/2010/main" val="10025973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6D9DA-843D-4E0F-90FB-9746689D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E63C1-44C7-44A0-9642-2372384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02151-0224-4453-98C1-BF1D096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91195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A860E-1935-414E-9C4B-D0981F26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96611-2936-4A33-9DAA-7C2AB504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 збирає контейнер і дає MCP-адресу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1AB9B-B982-429D-9AFC-07C96207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49a23535b46ad"/>
          <a:stretch xmlns:a="http://schemas.openxmlformats.org/drawingml/2006/main"/>
        </p:blipFill>
        <p:spPr>
          <a:xfrm xmlns:a="http://schemas.openxmlformats.org/drawingml/2006/main">
            <a:off x="1362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A8500-1861-4FB8-BD45-02C764EE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F3E8D-CA57-4899-9353-E17D61A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CE3D7-4016-45A2-B876-9196B0C1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2699157624560"/>
          <a:stretch xmlns:a="http://schemas.openxmlformats.org/drawingml/2006/main"/>
        </p:blipFill>
        <p:spPr>
          <a:xfrm xmlns:a="http://schemas.openxmlformats.org/drawingml/2006/main">
            <a:off x="4219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E2D3D-3815-4545-8831-1894D950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3E2FE-230D-40EE-97C6-E6C99A6F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build + run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411AF-D10F-48A0-B8FF-348F3F98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5d97a13d24b8d"/>
          <a:stretch xmlns:a="http://schemas.openxmlformats.org/drawingml/2006/main"/>
        </p:blipFill>
        <p:spPr>
          <a:xfrm xmlns:a="http://schemas.openxmlformats.org/drawingml/2006/main">
            <a:off x="7077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6945A-5B41-4AFF-B0BD-6AACA38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87392-73D8-435D-A293-BB0452D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 MCP</a:t>
            </a:r>
          </a:p>
        </p:txBody>
      </p: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578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09C51-C4DE-4C3F-A945-F72E7A2A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3b5676cde46b8"/>
          <a:stretch xmlns:a="http://schemas.openxmlformats.org/drawingml/2006/main"/>
        </p:blipFill>
        <p:spPr>
          <a:xfrm xmlns:a="http://schemas.openxmlformats.org/drawingml/2006/main">
            <a:off x="9934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F33145-798B-48F3-89B0-B6E1E112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/mcp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6C2B4-F3E3-46A6-8A86-817E6120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публічний URL</a:t>
            </a:r>
          </a:p>
        </p:txBody>
      </p: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15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553EDE-10B8-4ED2-9EB9-6C495B6A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238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00344a9b04bdf"/>
          <a:stretch xmlns:a="http://schemas.openxmlformats.org/drawingml/2006/main"/>
        </p:blipFill>
        <p:spPr>
          <a:xfrm xmlns:a="http://schemas.openxmlformats.org/drawingml/2006/main">
            <a:off x="4714875" y="49530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02F0CE-2031-4758-9F9A-56BC87F5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живе окремо в мережі</a:t>
            </a:r>
          </a:p>
        </p:txBody>
      </p: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191000"/>
            <a:ext cx="142875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090427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75E898-79DE-433F-AFC2-A54C27C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69B79-0B81-423D-8981-A48E26B7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C8F7E-D44A-47DD-B709-E64127CE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24235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EC6BE-B7BB-4DC3-9F48-74837000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3A7F9-C525-4D24-B23A-9817AEFF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6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6C16A-40EA-4386-9BE1-1DE25290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 на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5B23F-D53D-46C6-827B-68B80F4B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3A6BB-B665-4FBD-913D-F00E5057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2B2AA-CFA3-4C05-ABF9-E8E6E017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C01B1-AECC-43F4-B941-E8C16250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from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1496A-0531-421E-939B-10E7F8E2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repo +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CBE8A-8A2C-41DF-A64C-9158EDA6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F780E-0A60-4195-929E-01EA46C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71480-5FAE-403F-9156-AE89F997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26702-4038-4D3B-BF4F-A37997B2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8E4F0-8FDF-42CA-B700-92BFD97A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DATABASE_URL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TRANSPORT=http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24225-55A4-4FC6-AD46-EC249CF6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89957-10CF-4D41-80E8-DA5B2A38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0B128-499C-4170-9528-C5511199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F4D35-CB5D-475C-9EBF-0B5341D8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5AD81-4D59-4D97-AC76-8DCC9363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/mcp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134A5-03EA-4755-AF97-A0EB707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3064A-9207-499D-A3D8-27DD3EB8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6889A-7A75-4CFD-9CBF-0054F122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DCCA52-79E0-4759-9F81-F873B135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2F465F-C14C-466C-B233-3F12E20B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база відповідає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стартував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06399-07AF-4EE7-8BE1-4D0D77CC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62A3F-ED87-4DCD-86F5-524E00D8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FFA6D-6715-4AF4-B917-BE1387FA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1FFB16-3A8A-4865-B856-5D7A70E6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Connector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A52C88-674E-4077-81DA-DEF4CF95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+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7CE87-0E07-4ABA-98DB-C29A961B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Не показуйте ADMIN_DATABASE_URL і не вмикайте SEED_ON_START без потреби</a:t>
            </a:r>
          </a:p>
        </p:txBody>
      </p:sp>
    </p:spTree>
    <p:extLst>
      <p:ext uri="{BB962C8B-B14F-4D97-AF65-F5344CB8AC3E}">
        <p14:creationId xmlns:p14="http://schemas.microsoft.com/office/powerpoint/2010/main" val="93246170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D4331-FFFD-4E3A-B024-58357E0B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5C80C-336E-405D-A580-653C9BE8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C8A99-655B-4644-9C18-18B90842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24572-E25C-4D67-986A-45481331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b2649690748c4"/>
          <a:stretch xmlns:a="http://schemas.openxmlformats.org/drawingml/2006/main"/>
        </p:blipFill>
        <p:spPr>
          <a:xfrm xmlns:a="http://schemas.openxmlformats.org/drawingml/2006/main">
            <a:off x="9239250" y="313536"/>
            <a:ext cx="2095500" cy="4587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ED5CC-B60A-4F5A-8EFF-5617184C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 роботою з реальними даними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B5B59-D30E-4FD9-90B0-67B6882E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6929F-A39D-4EC1-9834-9449DBE4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3786F-AFB9-4D69-8E2F-8EF652E1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ролей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3C46A-A109-4E0B-91B3-2813828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окрема read-only роль і мінімально потрібний доступ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8A9E1-265F-4212-B813-964EAF7A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14D6F-A4FA-46D7-A3B8-630058BA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5D06D-CEAE-4521-9C3C-9A15CC06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Автентифікація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52CE1-CC98-47DD-9023-4AFCA71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перевіряє, хто може викликати інструменти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2BB90-ADED-4947-902F-8618618A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4FCB9-5A29-425B-B948-D87D3825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КРОК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2EEA5-75D9-4C28-A867-6A92A042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Документація метрик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82EF1-8B97-44A5-AD03-66E1FE26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визначення, формула, фільтри, джерело та відповідальний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213E0-A3C5-46B5-BC93-C85B4B89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Без опису метрик агент може правильно порахувати не ту цифру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6A65D-839F-47FC-BF58-64B1408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1547728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2026-09-17T11:54:09.0080000Z</dcterms:created>
  <dcterms:modified xsi:type="dcterms:W3CDTF">2026-09-17T11:54:09.0080000Z</dcterms:modified>
</coreProperties>
</file>