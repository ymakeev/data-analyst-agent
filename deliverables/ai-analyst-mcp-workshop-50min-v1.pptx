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fb59bf4ac54f43" /><Relationship Type="http://schemas.openxmlformats.org/officeDocument/2006/relationships/extended-properties" Target="/docProps/app.xml" Id="Rff1c4398e1504905" /><Relationship Type="http://schemas.openxmlformats.org/officeDocument/2006/relationships/officeDocument" Target="/ppt/presentation.xml" Id="R3563ea5fadbe46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a2f51e0c044cb0"/>
  </p:sldMasterIdLst>
  <p:notesMasterIdLst>
    <p:notesMasterId xmlns:r="http://schemas.openxmlformats.org/officeDocument/2006/relationships" r:id="R4ec6c5aa3da14f8a"/>
  </p:notesMasterIdLst>
  <p:sldIdLst>
    <p:sldId xmlns:r="http://schemas.openxmlformats.org/officeDocument/2006/relationships" id="256" r:id="R092aef877c2d442f"/>
    <p:sldId xmlns:r="http://schemas.openxmlformats.org/officeDocument/2006/relationships" id="257" r:id="Rd601e55f64e6411a"/>
    <p:sldId xmlns:r="http://schemas.openxmlformats.org/officeDocument/2006/relationships" id="258" r:id="R97f03d1765644e4e"/>
    <p:sldId xmlns:r="http://schemas.openxmlformats.org/officeDocument/2006/relationships" id="259" r:id="Re170cf9b9ee446ff"/>
    <p:sldId xmlns:r="http://schemas.openxmlformats.org/officeDocument/2006/relationships" id="260" r:id="R310f35ac7e5d4231"/>
    <p:sldId xmlns:r="http://schemas.openxmlformats.org/officeDocument/2006/relationships" id="261" r:id="Rc1c8854877f74607"/>
    <p:sldId xmlns:r="http://schemas.openxmlformats.org/officeDocument/2006/relationships" id="262" r:id="R590a9ccf511543e2"/>
    <p:sldId xmlns:r="http://schemas.openxmlformats.org/officeDocument/2006/relationships" id="263" r:id="R0ca32522a22448fe"/>
    <p:sldId xmlns:r="http://schemas.openxmlformats.org/officeDocument/2006/relationships" id="264" r:id="R2fffbdf467a248ae"/>
    <p:sldId xmlns:r="http://schemas.openxmlformats.org/officeDocument/2006/relationships" id="265" r:id="R2d97bca5a7064e9d"/>
    <p:sldId xmlns:r="http://schemas.openxmlformats.org/officeDocument/2006/relationships" id="266" r:id="Ra29af92f6b95481a"/>
    <p:sldId xmlns:r="http://schemas.openxmlformats.org/officeDocument/2006/relationships" id="267" r:id="Rdee3264b9f9c455e"/>
    <p:sldId xmlns:r="http://schemas.openxmlformats.org/officeDocument/2006/relationships" id="268" r:id="Rad6c67eff6084fc8"/>
    <p:sldId xmlns:r="http://schemas.openxmlformats.org/officeDocument/2006/relationships" id="269" r:id="R96db7ff7844443ab"/>
    <p:sldId xmlns:r="http://schemas.openxmlformats.org/officeDocument/2006/relationships" id="270" r:id="Raa4ff4588e13400d"/>
    <p:sldId xmlns:r="http://schemas.openxmlformats.org/officeDocument/2006/relationships" id="271" r:id="Rf8dc77d8e15a4b7d"/>
    <p:sldId xmlns:r="http://schemas.openxmlformats.org/officeDocument/2006/relationships" id="272" r:id="Rc03b5cb833a84f6c"/>
    <p:sldId xmlns:r="http://schemas.openxmlformats.org/officeDocument/2006/relationships" id="273" r:id="Ra7d6407afda642d7"/>
    <p:sldId xmlns:r="http://schemas.openxmlformats.org/officeDocument/2006/relationships" id="274" r:id="Ra53bd316af7b4765"/>
    <p:sldId xmlns:r="http://schemas.openxmlformats.org/officeDocument/2006/relationships" id="275" r:id="Rbd00929e33044dcf"/>
    <p:sldId xmlns:r="http://schemas.openxmlformats.org/officeDocument/2006/relationships" id="276" r:id="R7b8aeaf801624c8b"/>
    <p:sldId xmlns:r="http://schemas.openxmlformats.org/officeDocument/2006/relationships" id="277" r:id="Rcebfd5eab47f4d30"/>
    <p:sldId xmlns:r="http://schemas.openxmlformats.org/officeDocument/2006/relationships" id="278" r:id="R55b54a4be7ae4823"/>
    <p:sldId xmlns:r="http://schemas.openxmlformats.org/officeDocument/2006/relationships" id="279" r:id="Rb759e52ae3da45a3"/>
    <p:sldId xmlns:r="http://schemas.openxmlformats.org/officeDocument/2006/relationships" id="280" r:id="R521227671b8c4aa0"/>
    <p:sldId xmlns:r="http://schemas.openxmlformats.org/officeDocument/2006/relationships" id="281" r:id="R4e70fc0f949440a6"/>
    <p:sldId xmlns:r="http://schemas.openxmlformats.org/officeDocument/2006/relationships" id="282" r:id="Rdbd69ef8c5ea4c88"/>
    <p:sldId xmlns:r="http://schemas.openxmlformats.org/officeDocument/2006/relationships" id="283" r:id="R1c6e7cb05a7e4cf8"/>
    <p:sldId xmlns:r="http://schemas.openxmlformats.org/officeDocument/2006/relationships" id="284" r:id="R3e36939191284807"/>
    <p:sldId xmlns:r="http://schemas.openxmlformats.org/officeDocument/2006/relationships" id="285" r:id="R6d17680e71f246d8"/>
    <p:sldId xmlns:r="http://schemas.openxmlformats.org/officeDocument/2006/relationships" id="286" r:id="R7a41d287610b4f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04f7bc1a754314" /><Relationship Type="http://schemas.openxmlformats.org/officeDocument/2006/relationships/slideMaster" Target="/ppt/slideMasters/slideMaster1.xml" Id="R6ca2f51e0c044cb0" /><Relationship Type="http://schemas.openxmlformats.org/officeDocument/2006/relationships/notesMaster" Target="/ppt/notesMasters/notesMaster1.xml" Id="R4ec6c5aa3da14f8a" /><Relationship Type="http://schemas.openxmlformats.org/officeDocument/2006/relationships/presProps" Target="/ppt/presProps.xml" Id="R1a89fa4f33b14700" /><Relationship Type="http://schemas.openxmlformats.org/officeDocument/2006/relationships/tableStyles" Target="/ppt/tableStyles.xml" Id="R90490b8e3e054d1a" /><Relationship Type="http://schemas.openxmlformats.org/officeDocument/2006/relationships/slide" Target="/ppt/slides/slide1.xml" Id="R092aef877c2d442f" /><Relationship Type="http://schemas.openxmlformats.org/officeDocument/2006/relationships/slide" Target="/ppt/slides/slide2.xml" Id="Rd601e55f64e6411a" /><Relationship Type="http://schemas.openxmlformats.org/officeDocument/2006/relationships/slide" Target="/ppt/slides/slide3.xml" Id="R97f03d1765644e4e" /><Relationship Type="http://schemas.openxmlformats.org/officeDocument/2006/relationships/slide" Target="/ppt/slides/slide4.xml" Id="Re170cf9b9ee446ff" /><Relationship Type="http://schemas.openxmlformats.org/officeDocument/2006/relationships/slide" Target="/ppt/slides/slide5.xml" Id="R310f35ac7e5d4231" /><Relationship Type="http://schemas.openxmlformats.org/officeDocument/2006/relationships/slide" Target="/ppt/slides/slide6.xml" Id="Rc1c8854877f74607" /><Relationship Type="http://schemas.openxmlformats.org/officeDocument/2006/relationships/slide" Target="/ppt/slides/slide7.xml" Id="R590a9ccf511543e2" /><Relationship Type="http://schemas.openxmlformats.org/officeDocument/2006/relationships/slide" Target="/ppt/slides/slide8.xml" Id="R0ca32522a22448fe" /><Relationship Type="http://schemas.openxmlformats.org/officeDocument/2006/relationships/slide" Target="/ppt/slides/slide9.xml" Id="R2fffbdf467a248ae" /><Relationship Type="http://schemas.openxmlformats.org/officeDocument/2006/relationships/slide" Target="/ppt/slides/slide10.xml" Id="R2d97bca5a7064e9d" /><Relationship Type="http://schemas.openxmlformats.org/officeDocument/2006/relationships/slide" Target="/ppt/slides/slide11.xml" Id="Ra29af92f6b95481a" /><Relationship Type="http://schemas.openxmlformats.org/officeDocument/2006/relationships/slide" Target="/ppt/slides/slide12.xml" Id="Rdee3264b9f9c455e" /><Relationship Type="http://schemas.openxmlformats.org/officeDocument/2006/relationships/slide" Target="/ppt/slides/slide13.xml" Id="Rad6c67eff6084fc8" /><Relationship Type="http://schemas.openxmlformats.org/officeDocument/2006/relationships/slide" Target="/ppt/slides/slide14.xml" Id="R96db7ff7844443ab" /><Relationship Type="http://schemas.openxmlformats.org/officeDocument/2006/relationships/slide" Target="/ppt/slides/slide15.xml" Id="Raa4ff4588e13400d" /><Relationship Type="http://schemas.openxmlformats.org/officeDocument/2006/relationships/slide" Target="/ppt/slides/slide16.xml" Id="Rf8dc77d8e15a4b7d" /><Relationship Type="http://schemas.openxmlformats.org/officeDocument/2006/relationships/slide" Target="/ppt/slides/slide17.xml" Id="Rc03b5cb833a84f6c" /><Relationship Type="http://schemas.openxmlformats.org/officeDocument/2006/relationships/slide" Target="/ppt/slides/slide18.xml" Id="Ra7d6407afda642d7" /><Relationship Type="http://schemas.openxmlformats.org/officeDocument/2006/relationships/slide" Target="/ppt/slides/slide19.xml" Id="Ra53bd316af7b4765" /><Relationship Type="http://schemas.openxmlformats.org/officeDocument/2006/relationships/slide" Target="/ppt/slides/slide20.xml" Id="Rbd00929e33044dcf" /><Relationship Type="http://schemas.openxmlformats.org/officeDocument/2006/relationships/slide" Target="/ppt/slides/slide21.xml" Id="R7b8aeaf801624c8b" /><Relationship Type="http://schemas.openxmlformats.org/officeDocument/2006/relationships/slide" Target="/ppt/slides/slide22.xml" Id="Rcebfd5eab47f4d30" /><Relationship Type="http://schemas.openxmlformats.org/officeDocument/2006/relationships/slide" Target="/ppt/slides/slide23.xml" Id="R55b54a4be7ae4823" /><Relationship Type="http://schemas.openxmlformats.org/officeDocument/2006/relationships/slide" Target="/ppt/slides/slide24.xml" Id="Rb759e52ae3da45a3" /><Relationship Type="http://schemas.openxmlformats.org/officeDocument/2006/relationships/slide" Target="/ppt/slides/slide25.xml" Id="R521227671b8c4aa0" /><Relationship Type="http://schemas.openxmlformats.org/officeDocument/2006/relationships/slide" Target="/ppt/slides/slide26.xml" Id="R4e70fc0f949440a6" /><Relationship Type="http://schemas.openxmlformats.org/officeDocument/2006/relationships/slide" Target="/ppt/slides/slide27.xml" Id="Rdbd69ef8c5ea4c88" /><Relationship Type="http://schemas.openxmlformats.org/officeDocument/2006/relationships/slide" Target="/ppt/slides/slide28.xml" Id="R1c6e7cb05a7e4cf8" /><Relationship Type="http://schemas.openxmlformats.org/officeDocument/2006/relationships/slide" Target="/ppt/slides/slide29.xml" Id="R3e36939191284807" /><Relationship Type="http://schemas.openxmlformats.org/officeDocument/2006/relationships/slide" Target="/ppt/slides/slide30.xml" Id="R6d17680e71f246d8" /><Relationship Type="http://schemas.openxmlformats.org/officeDocument/2006/relationships/slide" Target="/ppt/slides/slide31.xml" Id="R7a41d287610b4f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f204ca9b224c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fd61f249b04c84" /><Relationship Type="http://schemas.openxmlformats.org/officeDocument/2006/relationships/notesMaster" Target="/ppt/notesMasters/notesMaster1.xml" Id="Re1da415a63e240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a1f1e048f14177" /><Relationship Type="http://schemas.openxmlformats.org/officeDocument/2006/relationships/notesMaster" Target="/ppt/notesMasters/notesMaster1.xml" Id="R995652a1a85f43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453f8e682247fa" /><Relationship Type="http://schemas.openxmlformats.org/officeDocument/2006/relationships/notesMaster" Target="/ppt/notesMasters/notesMaster1.xml" Id="Rbb51bb210c5540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e44ee079d645d2" /><Relationship Type="http://schemas.openxmlformats.org/officeDocument/2006/relationships/notesMaster" Target="/ppt/notesMasters/notesMaster1.xml" Id="R49515e1669e245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268df1fe98458e" /><Relationship Type="http://schemas.openxmlformats.org/officeDocument/2006/relationships/notesMaster" Target="/ppt/notesMasters/notesMaster1.xml" Id="Reb45fab19bfa47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87b5e338914065" /><Relationship Type="http://schemas.openxmlformats.org/officeDocument/2006/relationships/notesMaster" Target="/ppt/notesMasters/notesMaster1.xml" Id="Rf944cd2d76a44f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e036be32604233" /><Relationship Type="http://schemas.openxmlformats.org/officeDocument/2006/relationships/notesMaster" Target="/ppt/notesMasters/notesMaster1.xml" Id="Rc77da84938404a3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8ca1575fc04446" /><Relationship Type="http://schemas.openxmlformats.org/officeDocument/2006/relationships/notesMaster" Target="/ppt/notesMasters/notesMaster1.xml" Id="Rb253b7d173f74f9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1f739f2b2424a7f" /><Relationship Type="http://schemas.openxmlformats.org/officeDocument/2006/relationships/notesMaster" Target="/ppt/notesMasters/notesMaster1.xml" Id="R149d05d5bfea48d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b726c381a04984" /><Relationship Type="http://schemas.openxmlformats.org/officeDocument/2006/relationships/notesMaster" Target="/ppt/notesMasters/notesMaster1.xml" Id="R611c1d38c1f7402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0873ab8fbd84f09" /><Relationship Type="http://schemas.openxmlformats.org/officeDocument/2006/relationships/notesMaster" Target="/ppt/notesMasters/notesMaster1.xml" Id="R44f872a697304d6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05d6a0865e2412a" /><Relationship Type="http://schemas.openxmlformats.org/officeDocument/2006/relationships/notesMaster" Target="/ppt/notesMasters/notesMaster1.xml" Id="Reddfe60ef7dd4d2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e704c42389f4696" /><Relationship Type="http://schemas.openxmlformats.org/officeDocument/2006/relationships/notesMaster" Target="/ppt/notesMasters/notesMaster1.xml" Id="R4ed447b2772f42c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01b6672393b425a" /><Relationship Type="http://schemas.openxmlformats.org/officeDocument/2006/relationships/notesMaster" Target="/ppt/notesMasters/notesMaster1.xml" Id="R18b674046d5f417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716348009be4a09" /><Relationship Type="http://schemas.openxmlformats.org/officeDocument/2006/relationships/notesMaster" Target="/ppt/notesMasters/notesMaster1.xml" Id="Rd1bcb1379c9a409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67417dc22eb40d2" /><Relationship Type="http://schemas.openxmlformats.org/officeDocument/2006/relationships/notesMaster" Target="/ppt/notesMasters/notesMaster1.xml" Id="Rb935762d39304bf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6ec10845c094934" /><Relationship Type="http://schemas.openxmlformats.org/officeDocument/2006/relationships/notesMaster" Target="/ppt/notesMasters/notesMaster1.xml" Id="Rbea5d5f40675412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a51d6aeae0b4d38" /><Relationship Type="http://schemas.openxmlformats.org/officeDocument/2006/relationships/notesMaster" Target="/ppt/notesMasters/notesMaster1.xml" Id="R1ee9a6aaa82d4a5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9933da0f5304ea9" /><Relationship Type="http://schemas.openxmlformats.org/officeDocument/2006/relationships/notesMaster" Target="/ppt/notesMasters/notesMaster1.xml" Id="R5e945bc212784a1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2c807ca1fbe45fe" /><Relationship Type="http://schemas.openxmlformats.org/officeDocument/2006/relationships/notesMaster" Target="/ppt/notesMasters/notesMaster1.xml" Id="Rffc1eb140ad141b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926054da90949db" /><Relationship Type="http://schemas.openxmlformats.org/officeDocument/2006/relationships/notesMaster" Target="/ppt/notesMasters/notesMaster1.xml" Id="R89066f20a6414e3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67b6223b4854c12" /><Relationship Type="http://schemas.openxmlformats.org/officeDocument/2006/relationships/notesMaster" Target="/ppt/notesMasters/notesMaster1.xml" Id="Rae1308b75cd84ff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92cbefe7c1b4bac" /><Relationship Type="http://schemas.openxmlformats.org/officeDocument/2006/relationships/notesMaster" Target="/ppt/notesMasters/notesMaster1.xml" Id="R4fd5b775d5634b3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359970834154b87" /><Relationship Type="http://schemas.openxmlformats.org/officeDocument/2006/relationships/notesMaster" Target="/ppt/notesMasters/notesMaster1.xml" Id="R71ea48d70f7a45c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2eb27c2b6764c50" /><Relationship Type="http://schemas.openxmlformats.org/officeDocument/2006/relationships/notesMaster" Target="/ppt/notesMasters/notesMaster1.xml" Id="Ra0dbe3f72fc44dc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e18cccb4e5f4a05" /><Relationship Type="http://schemas.openxmlformats.org/officeDocument/2006/relationships/notesMaster" Target="/ppt/notesMasters/notesMaster1.xml" Id="R706e621e1d47419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5bced730d68447f" /><Relationship Type="http://schemas.openxmlformats.org/officeDocument/2006/relationships/notesMaster" Target="/ppt/notesMasters/notesMaster1.xml" Id="R371aedb9566249e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f6844c561344ef2" /><Relationship Type="http://schemas.openxmlformats.org/officeDocument/2006/relationships/notesMaster" Target="/ppt/notesMasters/notesMaster1.xml" Id="R8b20d91a5b164c4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0bec505ef574d6a" /><Relationship Type="http://schemas.openxmlformats.org/officeDocument/2006/relationships/notesMaster" Target="/ppt/notesMasters/notesMaster1.xml" Id="R990df24a4ab0432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a9b2c6ed6464c5a" /><Relationship Type="http://schemas.openxmlformats.org/officeDocument/2006/relationships/notesMaster" Target="/ppt/notesMasters/notesMaster1.xml" Id="R73b4cd93f1dc4a5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b62619529b2456f" /><Relationship Type="http://schemas.openxmlformats.org/officeDocument/2006/relationships/notesMaster" Target="/ppt/notesMasters/notesMaster1.xml" Id="R2f1cc605a98d47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00:00–00:30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Відкриття:</a:t>
            </a:r>
          </a:p>
          <a:p xmlns:a="http://schemas.openxmlformats.org/drawingml/2006/main">
            <a:r>
              <a:t>«Сьогодні ми не будемо вчити всі слова зі світу розробки. Ми зберемо одну зрозумілу систему від питання людини до відповіді з бази і винесемо її в хмару».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Попросіть підняти руку тих, хто ніколи не запускав Docker або MCP. Це нормальна стартова точка.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00:30–01:15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Покажіть маршрут і домовтесь: питання можна ставити по ходу, але довгі розбори підуть після основного маршруту.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Ключова обіцянка: наприкінці людина розуміє не лише «які команди вставити», а й навіщо існує кожна частина.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01:15–02:15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Почніть із конкретного питання. Поясніть, що цифра на слайді ілюстративна: на демо побачимо реальну відповідь із поточного набору даних.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Головна думка: користувач не пише SQL, але система все одно показує, що саме було виконано.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02:15–03:15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Скажіть одним подихом: «Ми не даємо Claude пароль і свободу робити будь-що. Ми даємо серверу п’ять чітко описаних функцій».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Це рамка для всього воркшопу.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03:15–04:30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Пройдіть визначення без заглиблення.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Побутова аналогія: модель — мозок, агент — поведінка, інструменти — руки, MCP — розетка стандартного формату, база — склад, деплой — відкрита майстерня в хмарі.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04:30–06:00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Пояснення для новачка:</a:t>
            </a:r>
          </a:p>
          <a:p xmlns:a="http://schemas.openxmlformats.org/drawingml/2006/main">
            <a:r>
              <a:t>Git працює і без інтернету та пам’ятає версії. GitHub — сайт, де репозиторій лежить онлайн, ним можна ділитись і підключити Railway.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цьому проєкті є дві гілки: main і workshop-start.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Джерело: https://docs.github.com/en/get-started/learning-to-code/getting-started-with-git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06:00–07:30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Аналогія: образ — рецепт і запаковані інгредієнти, контейнер — конкретно запущена страва. Один образ можна запускати багато разів.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docker-compose.yml описано один сервіс db на PostgreSQL 16 Alpine. Порт 5433 зовні навмисно уникає конфлікту зі звичайним 5432.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Джерело: https://docs.docker.com/get-started/docker-overview/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07:30–09:00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Python — мова, якою написано сервер і ML. PostgreSQL — окрема програма-база. psycopg відкриває з’єднання та передає SQL.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Підкресліть: дані не живуть «у Python-файлі». Сервер лише приходить до бази, читає і повертає результат.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09:00–10:30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Аналогія: USB-C не є зарядкою або ноутбуком, це стандарт з’єднання. MCP так само не є моделлю чи базою.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специфікації MCP сервер може давати tools, resources і prompts. У цьому демо головне — tools, функції, якими керує модель.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Джерело: https://modelcontextprotocol.io/specification/draft/server/index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10:30–12:00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Не називайте весь застосунок «моделлю». Claude як модель обирає крок. Агентний цикл виконує кроки. Python-функції роблять роботу.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цьому проєкті немає вручну прописаного маршруту list_tables → describe_table → run_sql. Модель складає його під запит.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12:00–14:00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Пройдіть схему зліва направо. Claude бачить лише контракт інструментів. MCP-сервер тримає DATABASE_URL і сам підключається до PostgreSQL.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ML-модель — локальний файл, який сервер завантажує. save_report пише HTML у reports/.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Важливо: у хмарі публічний MCP без автентифікації підходить лише для синтетичних даних.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14:00–15:30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Поясніть спостережуваність: ми бачимо, який інструмент викликано, з якими аргументами та що він повернув.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Це не гарантує правильність відповіді, але робить помилку діагностованою.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15:30–17:00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Швидко поясніть усі п’ять.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save_report не генерує звіт. Claude створює HTML, а інструмент лише безпечно зберігає файл. Це залишає моделі свободу оформлення, але обмежує файлову дію.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17:00–18:00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Покажіть docstring як частину продукту, а не коментар «для програміста». Якщо опис нечіткий, модель вибиратиме інструмент гірше.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workshop-start ми дописуємо функції, але докстрінги вже задають очікувану поведінку.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18:00–19:00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Поясніть «пастку» status: без коментаря модель може порахувати всі заплановані уроки як проведені.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Перевага: визначення знаходиться там, де його бачить і людина, і інструмент. Зміна схеми не вимагає переписувати великий системний промпт.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19:00–20:30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Підкресліть різницю між зручністю та безпекою. Guard ловить очевидний DELETE і пояснює моделі, що дозволено. Але остаточно захищає роль analyst_ro у PostgreSQL.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Команда для демонстрації: python scripts/prove_readonly.py. Вона обходить сервер і доводить, що сама база відмовляє у записі.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20:30–22:15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Проведіть екскурсію, не відкриваючи кожен файл.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Мнемоніка: server виконує, db зберігає, ml прогнозує, tests перевіряє, docs пояснює, deploy пакує.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Покажіть, що railway.toml лежить у корені, бо Railway шукає конфіг саме там.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22:15–23:30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Поясніть зв’язки як речення. Це легше за терміни «foreign key» і «one-to-many».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Після речення додайте: foreign key — це колонка, яка посилається на ідентифікатор у іншій таблиці.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23:30–24:30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Покажіть, що агент бачить не одну «таблицю уроків», а контекст клієнта. Платежі та тікети стають ознаками churn. audit_log не є бізнес-даними, це слід роботи системи.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24:30–25:30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Якщо аудиторія зовсім нова, рекомендуйте варіант А для воркшопу. Варіант Б показуйте тим, хто хоче забрати повну локальну копію.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.env — локальний файл із налаштуваннями й секретами. Він не потрапляє в Git.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25:30–26:30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Не читайте команди по символах. Поясніть їх призначення.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venv створює окреме Python-оточення. pip ставить залежності з pyproject.toml. make setup оркеструє Docker, seed і train. make config друкує конфіг із абсолютними шляхами.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26:30–33:30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LIVE DEMO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У терміналі покажіть make doctor. Якщо все green, не затримуйтесь.</a:t>
            </a:r>
          </a:p>
          <a:p xmlns:a="http://schemas.openxmlformats.org/drawingml/2006/main">
            <a:r>
              <a:t>2. Запустіть make config і коротко покажіть, що шляхи абсолютні. Не копіюйте секрети на великий екран.</a:t>
            </a:r>
          </a:p>
          <a:p xmlns:a="http://schemas.openxmlformats.org/drawingml/2006/main">
            <a:r>
              <a:t>3. У Claude Desktop відкрийте новий чат. Поставте «Що є в цій базі?».</a:t>
            </a:r>
          </a:p>
          <a:p xmlns:a="http://schemas.openxmlformats.org/drawingml/2006/main">
            <a:r>
              <a:t>4. Розгорніть виклики інструментів. Назвіть list_tables і describe_table.</a:t>
            </a:r>
          </a:p>
          <a:p xmlns:a="http://schemas.openxmlformats.org/drawingml/2006/main">
            <a:r>
              <a:t>5. Поставте запит про уроки по місяцях. Покажіть SQL.</a:t>
            </a:r>
          </a:p>
          <a:p xmlns:a="http://schemas.openxmlformats.org/drawingml/2006/main">
            <a:r>
              <a:t>6. Попросіть зберегти звіт і відкрийте HTML.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План Б: якщо Claude не підключився, запустіть make run і покажіть помилку дослівно; далі перейдіть до заздалегідь підготовленого чату.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33:30–35:00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Після демо закріпіть: код не містить цього workflow. Модель може пропустити run_sql, якщо predict_churn уже повернув достатньо пояснень. Це нормально, якщо відповідь обґрунтована.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35:00–36:00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Поясніть гілку як паралельну версію папки, але без дублювання файлів вручну.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Рятувальний шлях учасника: якщо відстав, git checkout main повертає повне рішення. Повернутися до каркаса можна пізніше.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36:00–37:00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pytest — інструмент, який запускає короткі сценарії перевірки. На workshop-start червоні тести — це карта того, що ще треба реалізувати. На main вони мають бути зеленими.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37:00–38:30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Поясніть, що модель навчається окремою командою make train і зберігається в ml/model.pkl. Сервер лише завантажує готовий файл.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14 ознак дивляться тільки в минуле. Ціль — відтік у наступні 30 днів. У поточному файлі моделі ROC AUC = 0.776, дата навчання 2026-09-16.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scikit-learn 1.7.2 та numpy 2.2.6 закріплено точними версіями, бо pickle залежить від оточення.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38:30–39:15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— звичайна веб-сторінка в одному файлі. Claude генерує вміст, save_report перевіряє, що це справді HTML, і створює безпечне ім’я в reports/.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39:15–40:45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stdio — текстові потоки між двома процесами на одному комп’ютері. HTTP — мережевий протокол, тому сервер може жити окремо.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server/main.py це один if за MCP_TRANSPORT. Це головний місток між локальним демо й командним сервісом.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40:45–42:30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Railway стежить за GitHub, читає railway.toml, будує образ через deploy/Dockerfile і запускає контейнер.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База мусить бути доступна з інтернету, наприклад Neon або PostgreSQL у Railway. Локальний Docker на ноутбуці з хмари недосяжний.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Джерело: https://docs.railway.com/deployments/reference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42:30–48:30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LIVE DEMO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Відкрийте готовий проєкт Railway або створіть New Project → Deploy from GitHub repo.</a:t>
            </a:r>
          </a:p>
          <a:p xmlns:a="http://schemas.openxmlformats.org/drawingml/2006/main">
            <a:r>
              <a:t>2. Покажіть, що railway.toml вказує deploy/Dockerfile.</a:t>
            </a:r>
          </a:p>
          <a:p xmlns:a="http://schemas.openxmlformats.org/drawingml/2006/main">
            <a:r>
              <a:t>3. У Variables додайте рівно DATABASE_URL і MCP_TRANSPORT=http. Закрийте значення пароля від аудиторії.</a:t>
            </a:r>
          </a:p>
          <a:p xmlns:a="http://schemas.openxmlformats.org/drawingml/2006/main">
            <a:r>
              <a:t>4. Settings → Networking → Generate Domain. До адреси додайте /mcp.</a:t>
            </a:r>
          </a:p>
          <a:p xmlns:a="http://schemas.openxmlformats.org/drawingml/2006/main">
            <a:r>
              <a:t>5. У Logs знайдіть «База відповідає» і «Стартую MCP-сервер».</a:t>
            </a:r>
          </a:p>
          <a:p xmlns:a="http://schemas.openxmlformats.org/drawingml/2006/main">
            <a:r>
              <a:t>6. Claude → Connectors → Add custom connector. Додайте URL і повторіть «Що є в цій базі?».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Важливе попередження: адреса без auth публічна. Для реальних даних спершу виконайте deploy/AUTH.md.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Якщо відкриття /mcp у браузері дає Missing session ID, це очікувано: браузер не виконав MCP initialize.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48:30–50:00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Фінал:</a:t>
            </a:r>
          </a:p>
          <a:p xmlns:a="http://schemas.openxmlformats.org/drawingml/2006/main">
            <a:r>
              <a:t>1. MCP дає моделі контрольовані інструменти.</a:t>
            </a:r>
          </a:p>
          <a:p xmlns:a="http://schemas.openxmlformats.org/drawingml/2006/main">
            <a:r>
              <a:t>2. Безпеку тримають права бази, не надія на промпт.</a:t>
            </a:r>
          </a:p>
          <a:p xmlns:a="http://schemas.openxmlformats.org/drawingml/2006/main">
            <a:r>
              <a:t>3. Один і той самий сервер працює локально через stdio та в Railway через HTTP.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Наступні кроки з репозиторію: docs/NEXT-STEPS.md, docs/DEPLOY.md, deploy/AUTH.md.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Запросіть питання. Якщо часу немає, дайте QR або посилання на репозиторій окремо в чаті мітапу.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3bc3d82d314c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e21260f9b343ba" /><Relationship Type="http://schemas.openxmlformats.org/officeDocument/2006/relationships/slideLayout" Target="/ppt/slideLayouts/slideLayout1.xml" Id="R25f2b5866c314f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f2b5866c314f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2826801e84b52" /><Relationship Type="http://schemas.openxmlformats.org/officeDocument/2006/relationships/image" Target="/ppt/media/image.png" Id="Rd11aa18fca834c4a" /><Relationship Type="http://schemas.openxmlformats.org/officeDocument/2006/relationships/image" Target="/ppt/media/image2.png" Id="R04fe79239e944dad" /><Relationship Type="http://schemas.openxmlformats.org/officeDocument/2006/relationships/notesSlide" Target="/ppt/notesSlides/notesSlide1.xml" Id="Rd1d82d8390ab4f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e6c02fbaee4a1d" /><Relationship Type="http://schemas.openxmlformats.org/officeDocument/2006/relationships/notesSlide" Target="/ppt/notesSlides/notesSlide2.xml" Id="Re701730202c24a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77b8c0bb954424" /><Relationship Type="http://schemas.openxmlformats.org/officeDocument/2006/relationships/notesSlide" Target="/ppt/notesSlides/notesSlide3.xml" Id="Rc2022c2a48554d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1973cabadc4fe6" /><Relationship Type="http://schemas.openxmlformats.org/officeDocument/2006/relationships/notesSlide" Target="/ppt/notesSlides/notesSlide4.xml" Id="R8d194d18c53d40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7cfa8105a494a" /><Relationship Type="http://schemas.openxmlformats.org/officeDocument/2006/relationships/notesSlide" Target="/ppt/notesSlides/notesSlide5.xml" Id="R52daa38264ff4a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a9ccde3bee4215" /><Relationship Type="http://schemas.openxmlformats.org/officeDocument/2006/relationships/image" Target="/ppt/media/image3.png" Id="R2854c63216f74407" /><Relationship Type="http://schemas.openxmlformats.org/officeDocument/2006/relationships/image" Target="/ppt/media/image.svg" Id="R06088aa0a6d14822" /><Relationship Type="http://schemas.openxmlformats.org/officeDocument/2006/relationships/image" Target="/ppt/media/image4.png" Id="R3f416e6250f84d3e" /><Relationship Type="http://schemas.openxmlformats.org/officeDocument/2006/relationships/image" Target="/ppt/media/image2.svg" Id="R2531496f5f1e477a" /><Relationship Type="http://schemas.openxmlformats.org/officeDocument/2006/relationships/notesSlide" Target="/ppt/notesSlides/notesSlide6.xml" Id="R6c59975d274a46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5fad51401b471a" /><Relationship Type="http://schemas.openxmlformats.org/officeDocument/2006/relationships/image" Target="/ppt/media/image5.png" Id="R78a99dbeb34a4339" /><Relationship Type="http://schemas.openxmlformats.org/officeDocument/2006/relationships/image" Target="/ppt/media/image3.svg" Id="R50a186a58d7d4104" /><Relationship Type="http://schemas.openxmlformats.org/officeDocument/2006/relationships/notesSlide" Target="/ppt/notesSlides/notesSlide7.xml" Id="R783d3ad46cf54b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b763d9cf074d02" /><Relationship Type="http://schemas.openxmlformats.org/officeDocument/2006/relationships/image" Target="/ppt/media/image6.png" Id="Rb73f18ed918e4e55" /><Relationship Type="http://schemas.openxmlformats.org/officeDocument/2006/relationships/image" Target="/ppt/media/image4.svg" Id="R36cf99f1af4b4256" /><Relationship Type="http://schemas.openxmlformats.org/officeDocument/2006/relationships/image" Target="/ppt/media/image7.png" Id="R7810eb7a0c6f4ddc" /><Relationship Type="http://schemas.openxmlformats.org/officeDocument/2006/relationships/image" Target="/ppt/media/image5.svg" Id="R4936fb7dc02c4469" /><Relationship Type="http://schemas.openxmlformats.org/officeDocument/2006/relationships/notesSlide" Target="/ppt/notesSlides/notesSlide8.xml" Id="R08b650fc14004da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cd953710b74a5e" /><Relationship Type="http://schemas.openxmlformats.org/officeDocument/2006/relationships/image" Target="/ppt/media/image8.png" Id="Rf61692427b004a0e" /><Relationship Type="http://schemas.openxmlformats.org/officeDocument/2006/relationships/image" Target="/ppt/media/image6.svg" Id="R20a58cd8d7a3466b" /><Relationship Type="http://schemas.openxmlformats.org/officeDocument/2006/relationships/notesSlide" Target="/ppt/notesSlides/notesSlide9.xml" Id="R03751da4eaa34d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eabeecae67479a" /><Relationship Type="http://schemas.openxmlformats.org/officeDocument/2006/relationships/notesSlide" Target="/ppt/notesSlides/notesSlide10.xml" Id="R4e705bc45b8748f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a8c8a4bfe5422b" /><Relationship Type="http://schemas.openxmlformats.org/officeDocument/2006/relationships/notesSlide" Target="/ppt/notesSlides/notesSlide11.xml" Id="R71285dc76d0e4b5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fd3d9a287489d" /><Relationship Type="http://schemas.openxmlformats.org/officeDocument/2006/relationships/notesSlide" Target="/ppt/notesSlides/notesSlide12.xml" Id="Rae7d05d1dbfb496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41ccd86f1497c" /><Relationship Type="http://schemas.openxmlformats.org/officeDocument/2006/relationships/notesSlide" Target="/ppt/notesSlides/notesSlide13.xml" Id="Ra5beefa385ac457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3ffee2048b4977" /><Relationship Type="http://schemas.openxmlformats.org/officeDocument/2006/relationships/notesSlide" Target="/ppt/notesSlides/notesSlide14.xml" Id="R9a64eb0cf3eb492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97c841a7fb4b3b" /><Relationship Type="http://schemas.openxmlformats.org/officeDocument/2006/relationships/notesSlide" Target="/ppt/notesSlides/notesSlide15.xml" Id="R0b3d64ec9e7c40c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48534eb66b4035" /><Relationship Type="http://schemas.openxmlformats.org/officeDocument/2006/relationships/notesSlide" Target="/ppt/notesSlides/notesSlide16.xml" Id="Rd70f595771b64e4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d22317db724630" /><Relationship Type="http://schemas.openxmlformats.org/officeDocument/2006/relationships/notesSlide" Target="/ppt/notesSlides/notesSlide17.xml" Id="Ra1f53a0b6bd94ab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7026b0453847be" /><Relationship Type="http://schemas.openxmlformats.org/officeDocument/2006/relationships/notesSlide" Target="/ppt/notesSlides/notesSlide18.xml" Id="Rda3388008a154f0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45005cddf84132" /><Relationship Type="http://schemas.openxmlformats.org/officeDocument/2006/relationships/notesSlide" Target="/ppt/notesSlides/notesSlide19.xml" Id="R7da5f670c37243e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eb6efd1ca64ae0" /><Relationship Type="http://schemas.openxmlformats.org/officeDocument/2006/relationships/notesSlide" Target="/ppt/notesSlides/notesSlide20.xml" Id="R2922408631bf454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90e10dfc44241" /><Relationship Type="http://schemas.openxmlformats.org/officeDocument/2006/relationships/notesSlide" Target="/ppt/notesSlides/notesSlide21.xml" Id="R15542f1a91394f5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8a6d827754d18" /><Relationship Type="http://schemas.openxmlformats.org/officeDocument/2006/relationships/notesSlide" Target="/ppt/notesSlides/notesSlide22.xml" Id="Rf4307d4e62e6436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e38f66ab94a9b" /><Relationship Type="http://schemas.openxmlformats.org/officeDocument/2006/relationships/notesSlide" Target="/ppt/notesSlides/notesSlide23.xml" Id="Rdb0e00e9b6e84df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ea9fafe844fbd" /><Relationship Type="http://schemas.openxmlformats.org/officeDocument/2006/relationships/notesSlide" Target="/ppt/notesSlides/notesSlide24.xml" Id="R0ab4f4e008e44bd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ff17b66f0d4f3d" /><Relationship Type="http://schemas.openxmlformats.org/officeDocument/2006/relationships/image" Target="/ppt/media/image9.png" Id="R55399ac5901846fa" /><Relationship Type="http://schemas.openxmlformats.org/officeDocument/2006/relationships/image" Target="/ppt/media/image7.svg" Id="R7692782e732a4d7c" /><Relationship Type="http://schemas.openxmlformats.org/officeDocument/2006/relationships/notesSlide" Target="/ppt/notesSlides/notesSlide25.xml" Id="Rc4aa7f8aec5b45b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293a1e36194abb" /><Relationship Type="http://schemas.openxmlformats.org/officeDocument/2006/relationships/image" Target="/ppt/media/image10.png" Id="R27a0d04277d84454" /><Relationship Type="http://schemas.openxmlformats.org/officeDocument/2006/relationships/image" Target="/ppt/media/image8.svg" Id="R8b7baccafd074371" /><Relationship Type="http://schemas.openxmlformats.org/officeDocument/2006/relationships/notesSlide" Target="/ppt/notesSlides/notesSlide26.xml" Id="R0c6498c6215741f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15e668e21c485c" /><Relationship Type="http://schemas.openxmlformats.org/officeDocument/2006/relationships/notesSlide" Target="/ppt/notesSlides/notesSlide27.xml" Id="R108d243679ef47a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564f106edf422b" /><Relationship Type="http://schemas.openxmlformats.org/officeDocument/2006/relationships/notesSlide" Target="/ppt/notesSlides/notesSlide28.xml" Id="Rfadf87e7b69341c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5fa5cd2534b9c" /><Relationship Type="http://schemas.openxmlformats.org/officeDocument/2006/relationships/image" Target="/ppt/media/image11.png" Id="R9e0ff48a132942d0" /><Relationship Type="http://schemas.openxmlformats.org/officeDocument/2006/relationships/image" Target="/ppt/media/image9.svg" Id="Rd6690e88f9bb44ca" /><Relationship Type="http://schemas.openxmlformats.org/officeDocument/2006/relationships/image" Target="/ppt/media/image12.png" Id="R1c943e9fa5c44df4" /><Relationship Type="http://schemas.openxmlformats.org/officeDocument/2006/relationships/image" Target="/ppt/media/image10.svg" Id="Ra249e7cad46946b1" /><Relationship Type="http://schemas.openxmlformats.org/officeDocument/2006/relationships/image" Target="/ppt/media/image13.png" Id="Ra676f155b9b242f3" /><Relationship Type="http://schemas.openxmlformats.org/officeDocument/2006/relationships/image" Target="/ppt/media/image11.svg" Id="R827c647ed1a8487f" /><Relationship Type="http://schemas.openxmlformats.org/officeDocument/2006/relationships/image" Target="/ppt/media/image14.png" Id="R12fa8291179b4148" /><Relationship Type="http://schemas.openxmlformats.org/officeDocument/2006/relationships/image" Target="/ppt/media/image12.svg" Id="R8f8b6aca8fe54401" /><Relationship Type="http://schemas.openxmlformats.org/officeDocument/2006/relationships/image" Target="/ppt/media/image15.png" Id="R3e0c1d9d75274e7a" /><Relationship Type="http://schemas.openxmlformats.org/officeDocument/2006/relationships/image" Target="/ppt/media/image13.svg" Id="R312022f9804c485c" /><Relationship Type="http://schemas.openxmlformats.org/officeDocument/2006/relationships/notesSlide" Target="/ppt/notesSlides/notesSlide29.xml" Id="Rf0fe1becb4044d1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7771eb6e0f4005" /><Relationship Type="http://schemas.openxmlformats.org/officeDocument/2006/relationships/notesSlide" Target="/ppt/notesSlides/notesSlide30.xml" Id="R474692b2ec51406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1547933b674bb1" /><Relationship Type="http://schemas.openxmlformats.org/officeDocument/2006/relationships/image" Target="/ppt/media/image16.png" Id="Ra9631a76e38c4dbf" /><Relationship Type="http://schemas.openxmlformats.org/officeDocument/2006/relationships/notesSlide" Target="/ppt/notesSlides/notesSlide31.xml" Id="R28a9378ce3ba48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37B3AA-19F7-4623-BEB1-14BFDDC5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0"/>
            <a:ext cx="5124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0F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3F0AB3-022B-4FD4-BED2-6584D822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42950"/>
            <a:ext cx="3714750" cy="514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3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1aa18fca834c4a"/>
          <a:stretch xmlns:a="http://schemas.openxmlformats.org/drawingml/2006/main"/>
        </p:blipFill>
        <p:spPr>
          <a:xfrm xmlns:a="http://schemas.openxmlformats.org/drawingml/2006/main">
            <a:off x="685800" y="411097"/>
            <a:ext cx="2857500" cy="6256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AB87E2-47CB-4692-90E1-3C53BFD1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2476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50-ХВИЛИННИЙ ВОРКШОП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020810-1E67-42A6-BBEC-EAD349B3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191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AI-аналітик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над базою даних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766A85-4810-4614-95C1-588F9326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Від локального MCP до Railway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5D5742-9F18-4507-A533-FB369654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504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FA3336-00A0-4C74-8139-B67F9A4E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571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Простий шлях: зрозуміти → запустити → побачити → задеплоїти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fe79239e944dad"/>
          <a:stretch xmlns:a="http://schemas.openxmlformats.org/drawingml/2006/main"/>
        </p:blipFill>
        <p:spPr>
          <a:xfrm xmlns:a="http://schemas.openxmlformats.org/drawingml/2006/main">
            <a:off x="7715250" y="2244429"/>
            <a:ext cx="4000500" cy="35597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6641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C0A8DC-6469-44A9-879D-F4ACA34F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26742A-9858-4A9E-8DEE-8C66700C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2D548D-C4B7-42F0-AF5C-2C4FAE06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5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E84FE3-590E-4FD9-B3EB-CE0A51E6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DC80B7-C91A-457B-9698-8D9273CF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 50 хвилин ми пройдемо весь шлях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670C14-9674-45E6-9CB9-2B8FDC9E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476500" cy="29527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07DB5E-F4FE-43BB-8673-FF768355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00–10 ХВ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779F59-08C6-442A-BCD9-478CE76F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Мова без жаргону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253037-D077-46D3-922D-7362DA33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2095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GitHub, Docker, база, MCP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763855-AEA0-4E26-ADA4-D96F3C94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714500"/>
            <a:ext cx="2476500" cy="29527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347E87-0700-4FCF-8B49-9DB6623C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85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10–25 ХВ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84E324-B53E-434F-BBD7-2CA9019D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479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Як працює агент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6A1EA4-5F9B-4559-97E4-CB3D19BD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81350"/>
            <a:ext cx="2095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архітектура, інструменти, безпека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5BAEF5-F69D-4097-91BE-D949210F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14500"/>
            <a:ext cx="2476500" cy="29527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AE67F1-E95D-45D1-8670-B02B6D0F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85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25–39 ХВ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ACF9DE-EC80-4BB3-8534-65A91191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479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Локальний запуск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22E4AF-19E5-42EB-AE38-F47E6BB0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81350"/>
            <a:ext cx="2095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підготовка та живе демо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B6A010-C6D7-4742-9417-3D73D1B1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14500"/>
            <a:ext cx="2476500" cy="29527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3122D7-09D1-444E-A49D-D1CAAA16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885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39–49 ХВ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326153-7C53-4179-B8C2-81EC6759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479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Хмара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9FCFBC-ECDA-4A1E-BA32-1D8FFA90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81350"/>
            <a:ext cx="2095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Docker-образ, Railway, підключення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140A22-A7C9-4D80-9A4C-8960D5FE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1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Залишаємо 1 хвилину на перемикання й питання по ходу</a:t>
            </a:r>
          </a:p>
        </p:txBody>
      </p:sp>
    </p:spTree>
    <p:extLst>
      <p:ext uri="{BB962C8B-B14F-4D97-AF65-F5344CB8AC3E}">
        <p14:creationId xmlns:p14="http://schemas.microsoft.com/office/powerpoint/2010/main" val="10096263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A6F079-1967-4855-8754-B63A8CAA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B55D7B-D79C-4EC2-B10D-AF7AB1E5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CA4D03-9CBD-408A-9896-C46E6D18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04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4701F0-896F-4C4A-9D35-A99AC10A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CC28DA-1E3D-4ED4-B1E2-86C3B790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Результат: звичайне питання стає перевіреною відповіддю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42E65D-51CC-4D44-ACD5-E213675F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3905250" cy="161925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5F5FA"/>
          </a:solidFill>
          <a:ln xmlns:a="http://schemas.openxmlformats.org/drawingml/2006/main" w="11430">
            <a:solidFill>
              <a:srgbClr val="C8C9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C9F35B-A240-4AC9-AA68-31B9F7AE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3295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«Скільки уроків ми провели минулого місяця?»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6B9101-2B23-4A8D-91C0-2A803978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24050"/>
            <a:ext cx="3905250" cy="161925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569A2B-AEB2-4877-8C97-A03E898C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098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1 284 уроки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C07095-E413-4594-B060-41F79742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5750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із SQL, поясненням і можливістю зберегти звіт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24C43A-6E80-4078-8768-4DA19E1B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95500"/>
            <a:ext cx="1714500" cy="128587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DC8C7E-C96D-4A73-A79D-C107A432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333625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АГЕНТ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AE315C-AC7C-454A-8EC0-37201027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762250"/>
            <a:ext cx="133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перевіряє схему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пише SELECT</a:t>
            </a:r>
          </a:p>
        </p:txBody>
      </p:sp>
      <p:cxnSp>
        <p:nvCxnSpPr>
          <p:cNvPr id="30" name=""/>
          <p:cNvCxnSpPr>
            <a:stCxn xmlns:a="http://schemas.openxmlformats.org/drawingml/2006/main" id="6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648200" y="2733675"/>
            <a:ext cx="542925" cy="4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A7FF"/>
            </a:solidFill>
            <a:prstDash val="solid"/>
            <a:head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11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6905625" y="2733675"/>
            <a:ext cx="619125" cy="4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A7FF"/>
            </a:solidFill>
            <a:prstDash val="solid"/>
            <a:head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1B9F9E-3064-4117-958D-30D022B5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33875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Наша мета — зробити цей шлях видимим і контрольованим</a:t>
            </a:r>
          </a:p>
        </p:txBody>
      </p:sp>
    </p:spTree>
    <p:extLst>
      <p:ext uri="{BB962C8B-B14F-4D97-AF65-F5344CB8AC3E}">
        <p14:creationId xmlns:p14="http://schemas.microsoft.com/office/powerpoint/2010/main" val="4819762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C92FCF-778B-4292-B1F2-F3548CD7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984B1C-870F-4DE3-AF0B-96A918EB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8F5F8B-7282-4C7D-ACDE-5584CD01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8A215A-1D02-400E-A50B-E4C57CB9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7853E4-517D-4615-9733-4CEF2656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Проєкт у одному реченні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855FB9-BAF8-40EF-9E2F-7035F904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2875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Claude отримує безпечні інструменти для аналізу PostgreSQL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1AF2BD-4403-4CF6-8AAE-CB94B299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05125"/>
            <a:ext cx="2333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7FDEE2-F304-49D6-9FCC-6934E985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905125"/>
            <a:ext cx="2333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539B33-DD59-4DF0-B9E0-C36CCF5D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905125"/>
            <a:ext cx="2333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AEDB22-5FBC-4B87-BB18-2C1D53B3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333750"/>
            <a:ext cx="1857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Людина + Claude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3E47F4-97D3-454D-9FB8-5CA25FDC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33750"/>
            <a:ext cx="1857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MCP-сервер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486498-2772-4E81-994C-9B1B497A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33750"/>
            <a:ext cx="1857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cxnSp>
        <p:nvCxnSpPr>
          <p:cNvPr id="2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381375" y="361950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239000" y="3619500"/>
            <a:ext cx="1571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4A82C-434F-4A54-9CD4-92BA462C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4825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П’ять функцій замість необмеженого доступу</a:t>
            </a:r>
          </a:p>
        </p:txBody>
      </p:sp>
    </p:spTree>
    <p:extLst>
      <p:ext uri="{BB962C8B-B14F-4D97-AF65-F5344CB8AC3E}">
        <p14:creationId xmlns:p14="http://schemas.microsoft.com/office/powerpoint/2010/main" val="2565853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C170D5-521A-4F38-8751-16548120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3E878F-95CF-4A7F-BA50-1A930EE9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078423-E332-400D-A83F-0F2F5C33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409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68B1DF-FB6E-4D4D-A0F9-C042471F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B8E10E-DF3B-424C-8E04-5314B3AC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Шість слів, які треба розрізняти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18F0B3-9C59-4282-83EE-95F9F8E5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19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B16EBD-DEF8-4D06-A207-DAEA0D04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3F74B9-E426-4D1A-A46D-0F4C47CC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81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Модель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620964-9D7A-4EFB-B225-3D11730D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381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генерує наступний крок або текст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275BAF-3540-4CD5-8009-0F673869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1452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79E870-3DE3-4553-9CF0-B6067CC0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81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B0FC1E-7AE7-415A-BAE9-0305157F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14F9C7-EC97-4D95-A4BB-F5FBA75C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43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Агент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6E04E2-D146-4F81-B152-6AE73AD5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43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повторює цикл: подумав, викликав, перевірив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DA4935-3947-4775-A76C-B4D16DBF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7652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110F34-5C3B-410D-AAF7-FCFB797C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43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012159-E237-41DA-862E-35ECE172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4306FE-545C-4C16-8ED2-0EA8AE53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05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Інструмент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21315D-843E-4AB6-9AB4-A19CDD24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05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звичайна функція з чітким входом і виходом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8AFD73-EEBD-4E5F-9DC9-F68A95B2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3852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113DC6-84BB-4D91-8DAC-844915C3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05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38283F-A45A-488B-99B2-1A4E2951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0A5CF8-516E-4A98-ADC7-362CA198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67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MCP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C7E278-F708-4017-9AC0-44328CFC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67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правила розмови клієнта з інструментами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543321-2F54-46EF-8F2E-E3BA3688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0052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7BAAC5-39A1-45EC-83D0-45E0BB07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67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051E6D-A72F-4BDE-B364-22585B6A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D0D3F3-97DF-44F7-8E55-ECA74E74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29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База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DEB42B-891D-4FE1-AA89-C9AB088F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29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структуровано зберігає дані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01718A-896C-4A54-8C47-742D8523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6252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13687A-E0AD-4B65-A862-E26A810D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29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BAE999-6369-4D58-ACDD-740449B8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BE4628-7D1B-478A-A035-18D27556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91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Деплой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4EF336-399A-4232-B391-72346796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91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запускає сервіс там, де він доступний іншим</a:t>
            </a:r>
          </a:p>
        </p:txBody>
      </p:sp>
    </p:spTree>
    <p:extLst>
      <p:ext uri="{BB962C8B-B14F-4D97-AF65-F5344CB8AC3E}">
        <p14:creationId xmlns:p14="http://schemas.microsoft.com/office/powerpoint/2010/main" val="3448752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15E22A-6663-45FA-8474-FDF7C53F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EE134F-5047-4101-9725-CB0E73A2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D60FB9-6FE0-4D08-8A5B-BF2B5257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762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7A58BC-29CB-4C54-971F-B1EF88AD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4CA1AC-6FAA-424C-9D22-0D5EAD6A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Git зберігає історію, GitHub зберігає репозиторій онлайн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23E718-C004-4B61-B4FA-1926130A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4762500" cy="3333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5F14F3-0CF2-4C58-A12C-F9AC2D26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4762500" cy="3333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54c63216f74407">
            <a:extLst>
              <a:ext uri="{96DAC541-7B7A-43D3-8B79-37D633B846F1}">
                <asvg:svgBlip xmlns:asvg="http://schemas.microsoft.com/office/drawing/2016/SVG/main" r:embed="R06088aa0a6d1482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38250" y="2047875"/>
            <a:ext cx="1047750" cy="1047750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16e6250f84d3e">
            <a:extLst>
              <a:ext uri="{96DAC541-7B7A-43D3-8B79-37D633B846F1}">
                <asvg:svgBlip xmlns:asvg="http://schemas.microsoft.com/office/drawing/2016/SVG/main" r:embed="R2531496f5f1e477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00875" y="2047875"/>
            <a:ext cx="1047750" cy="1047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BB9860-0137-48E3-956F-DE0B76B1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47875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799207-46C1-4148-9CB9-B487C94C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670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«машина часу» для файлів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ECEEAB-E41E-42D0-B7EE-B53EE234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commit = збережена версія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branch = окрема лінія роботи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6B1DE9-0E23-4F4C-91EE-D7D4D14E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47875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GitHub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C87493-B605-4C14-953F-F428F48D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670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хостинг для Git-репозиторію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83DAF4-E04C-4DBE-A96A-FF12F774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42900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clone = завантажити копію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push = відправити зміни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0717B9-AA2E-493A-9814-C7CE88A0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381625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Railway бере код саме з GitHub</a:t>
            </a:r>
          </a:p>
        </p:txBody>
      </p:sp>
    </p:spTree>
    <p:extLst>
      <p:ext uri="{BB962C8B-B14F-4D97-AF65-F5344CB8AC3E}">
        <p14:creationId xmlns:p14="http://schemas.microsoft.com/office/powerpoint/2010/main" val="9450678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D75E6B-7EB0-4E4B-9AEE-1895D3A6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B4E52B-F549-4CAF-92F3-38523450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9EE6B7-3FBB-4EC9-B6A2-ABAF4678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C5FDFF-116D-46FC-8455-7802BC7F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288D6A-CE85-4EB4-B6A5-03E26BD9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Docker дає однакове середовище на кожному комп’ютері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a99dbeb34a4339">
            <a:extLst>
              <a:ext uri="{96DAC541-7B7A-43D3-8B79-37D633B846F1}">
                <asvg:svgBlip xmlns:asvg="http://schemas.microsoft.com/office/drawing/2016/SVG/main" r:embed="R50a186a58d7d410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7250" y="1714500"/>
            <a:ext cx="2857500" cy="2476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871221-BA59-4800-8DDC-8458BB88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71450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Контейнер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3B74DB-EB03-4762-B93F-664599AF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81250"/>
            <a:ext cx="6429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Ізольований процес із потрібною версією програми та її налаштуваннями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E0E1E7-4667-40D7-B42B-61B59BD4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19500"/>
            <a:ext cx="28575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8E9FA"/>
          </a:solidFill>
          <a:ln xmlns:a="http://schemas.openxmlformats.org/drawingml/2006/main" w="11430">
            <a:solidFill>
              <a:srgbClr val="C8C9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906C4E-573D-49D5-BC83-F87C5D5C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19500"/>
            <a:ext cx="28575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A77AF4-59E6-4D75-827B-2D4B9E43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81000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Образ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326EE5-92FE-4230-9CE9-FB4403A2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48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рецепт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306C3D-F26A-44F2-8D8B-D7413864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1000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Контейнер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B93A06-ABE8-44FE-8283-DBD83585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48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запущена страва</a:t>
            </a:r>
          </a:p>
        </p:txBody>
      </p:sp>
      <p:cxnSp>
        <p:nvCxnSpPr>
          <p:cNvPr id="31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191375" y="41910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44BD0"/>
            </a:solidFill>
            <a:prstDash val="solid"/>
            <a:head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323A43-374E-43B4-99DD-44E2D26E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19700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440FA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40FAC"/>
                </a:solidFill>
                <a:latin typeface="Arial"/>
                <a:ea typeface="Arial"/>
                <a:cs typeface="Arial"/>
              </a:rPr>
              <a:t>У нас Docker локально запускає PostgreSQL</a:t>
            </a:r>
          </a:p>
        </p:txBody>
      </p:sp>
    </p:spTree>
    <p:extLst>
      <p:ext uri="{BB962C8B-B14F-4D97-AF65-F5344CB8AC3E}">
        <p14:creationId xmlns:p14="http://schemas.microsoft.com/office/powerpoint/2010/main" val="18634231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24DCDF-331E-489A-B7F9-15D3DE0B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39B29-4B7D-4427-8C79-6C665A27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05C147-D3B1-414E-B4C2-30EB9C4E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466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EFE236-D902-464F-8EA9-5A5577FA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6033A8-7402-4098-8DE7-9EAC6119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Python виконує логіку, PostgreSQL зберігає дані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5A4601-57BF-495E-8107-853C8954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4762500" cy="35242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232C84-C98A-40AA-955E-2C78B099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762500" cy="35242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3f18ed918e4e55">
            <a:extLst>
              <a:ext uri="{96DAC541-7B7A-43D3-8B79-37D633B846F1}">
                <asvg:svgBlip xmlns:asvg="http://schemas.microsoft.com/office/drawing/2016/SVG/main" r:embed="R36cf99f1af4b425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38250" y="2047875"/>
            <a:ext cx="1143000" cy="114300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10eb7a0c6f4ddc">
            <a:extLst>
              <a:ext uri="{96DAC541-7B7A-43D3-8B79-37D633B846F1}">
                <asvg:svgBlip xmlns:asvg="http://schemas.microsoft.com/office/drawing/2016/SVG/main" r:embed="R4936fb7dc02c446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953250" y="2047875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435D19-C0CE-42B0-BB8C-9929ABEC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0955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CD7F1A-2D5C-4B84-A604-1574038E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0"/>
            <a:ext cx="3762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server/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інструменти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ML-модель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34816C-7B74-4AEE-BD4E-118FB02A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2524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E785DE-C6F2-445B-BDD1-C2E2C93D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24250"/>
            <a:ext cx="3762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таблиці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зв’язки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права доступу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F67A17-5D84-48F1-8331-43D69E3A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572125"/>
            <a:ext cx="819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psycopg = бібліотека-мостик між Python і PostgreSQL</a:t>
            </a:r>
          </a:p>
        </p:txBody>
      </p:sp>
    </p:spTree>
    <p:extLst>
      <p:ext uri="{BB962C8B-B14F-4D97-AF65-F5344CB8AC3E}">
        <p14:creationId xmlns:p14="http://schemas.microsoft.com/office/powerpoint/2010/main" val="8227322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FF83A4-B2C6-4AA5-BDE8-335C7EE1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9DCCE9-6597-48D1-8DF6-38B06C49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663AAB-3C18-4D35-B9C2-FF46AF4B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19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E406CB-2917-4D52-BFF6-C9BDCDFB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4CB02E-24D1-4B26-BE5F-BA1D4D73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MCP — спільна мова між AI-клієнтом та інструментами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1692427b004a0e">
            <a:extLst>
              <a:ext uri="{96DAC541-7B7A-43D3-8B79-37D633B846F1}">
                <asvg:svgBlip xmlns:asvg="http://schemas.microsoft.com/office/drawing/2016/SVG/main" r:embed="R20a58cd8d7a3466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7250" y="1809750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033826-9EAC-4861-95AC-B124E178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9750"/>
            <a:ext cx="2857500" cy="18097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8B9D71-1F05-4C8E-91DE-A4E206A0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2857500" cy="18097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7AD963-1FED-4381-9C38-1FDB696C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907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Клієнт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707E8C-00FF-4FDA-90DE-AF32D056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813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Claude Desktop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64D53C-401B-4B95-BA72-8A4E7979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Сервер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AEC6CF-9FEC-4EDF-8E40-7FF6AF73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813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наші 5 інструментів</a:t>
            </a:r>
          </a:p>
        </p:txBody>
      </p:sp>
      <p:cxnSp>
        <p:nvCxnSpPr>
          <p:cNvPr id="2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381750" y="2714625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D6F134"/>
            </a:solidFill>
            <a:prstDash val="solid"/>
            <a:head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80BB67-EEBB-4075-B566-BEDC20E6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05250"/>
            <a:ext cx="3619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СТАНДАРТНИЙ ПРОТОКОЛ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B2FA86-08E3-467B-B927-D754EFB7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6250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Клієнт бачить назву, опис, аргументи та результат кожного інструмента</a:t>
            </a:r>
          </a:p>
        </p:txBody>
      </p:sp>
    </p:spTree>
    <p:extLst>
      <p:ext uri="{BB962C8B-B14F-4D97-AF65-F5344CB8AC3E}">
        <p14:creationId xmlns:p14="http://schemas.microsoft.com/office/powerpoint/2010/main" val="11919956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91BB46-A6E7-4BED-9B68-390DBAD8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B5D358-F357-4DF4-9323-FD8E86DC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CE8D3B-A801-4211-971E-7C5128C0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171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8D328A-0E1D-4682-B906-C3EE1806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6B89E6-817C-4BDF-B68A-73676120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Модель, агент і інструменти мають різні ролі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BE71C0-4EA8-4CFE-8189-DC7FD546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2857500" cy="2428875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48E4C3-14B7-4883-A185-6B09F315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45E6B4-BF6F-4520-8958-A0536FBA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02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B056D1-5354-4B6C-8F92-885E77E0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Модель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15F370-1331-47CB-BAD0-4C23E7D5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8137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вирішує, що робити далі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F53F9E-250B-4A4C-A725-B4248A53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52625"/>
            <a:ext cx="2857500" cy="2428875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BE8547-08E0-4CD9-B96C-3338E904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190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290E39-AF44-40DC-A3F0-607B9F54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2002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6DA492-53A1-4BAB-B4D9-5172F5F3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7622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Агентний цикл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5BC8B0-AA7C-4838-BA85-65547822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38137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викликає функцію та читає результат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A445F1-D301-492F-BE2F-23F05883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2857500" cy="2428875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C34EAB-546D-4A11-8CDD-140EB8F9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90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B81D90-3D46-4FE4-A28E-E4FDDFF0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002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FB26EF-B510-419A-8700-2FF53454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622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Інструмент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39C4C0-6F29-4E9F-8732-C137C020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8137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детерміновано виконує одну дію</a:t>
            </a:r>
          </a:p>
        </p:txBody>
      </p:sp>
      <p:cxnSp>
        <p:nvCxnSpPr>
          <p:cNvPr id="44" name=""/>
          <p:cNvCxnSpPr>
            <a:stCxn xmlns:a="http://schemas.openxmlformats.org/drawingml/2006/main" id="6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619500" y="3167063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11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191375" y="3167063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EB8D71-CEF5-46CB-9F79-9EEE6F7C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95875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У коді ми пишемо інструменти. Послідовність обирає Claude</a:t>
            </a:r>
          </a:p>
        </p:txBody>
      </p:sp>
    </p:spTree>
    <p:extLst>
      <p:ext uri="{BB962C8B-B14F-4D97-AF65-F5344CB8AC3E}">
        <p14:creationId xmlns:p14="http://schemas.microsoft.com/office/powerpoint/2010/main" val="10871099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739954-574A-4337-A6DA-91A2B470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5F149A-09E5-4C74-A17C-D3549C29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ED90E-50F5-4BEA-B78F-3A01F431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52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F8550F-76B3-40D9-83ED-838BF8B2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E43456-CAC5-4607-A935-ADC3FE7C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Архітектура: доступ до даних проходить через MCP-сервер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004F11-F121-4BC8-8947-D37443CB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952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6A0B76-CC0D-4ECF-A334-1173E6A3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14500"/>
            <a:ext cx="2857500" cy="20002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AC9046-1AF7-468F-B49E-5D26F490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33500"/>
            <a:ext cx="3048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889E01-CBDA-4BC5-9349-7116CA42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33750"/>
            <a:ext cx="30480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766D65-CB33-4FF1-A816-243A5144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72000"/>
            <a:ext cx="2857500" cy="1000125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5F5FA"/>
          </a:solidFill>
          <a:ln xmlns:a="http://schemas.openxmlformats.org/drawingml/2006/main" w="11430">
            <a:solidFill>
              <a:srgbClr val="C8C9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CE6E40-AA00-4F41-B021-8361857A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1381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Людина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+ Claude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9B57E0-D0CA-4E97-B97C-B2D99432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MCP-сервер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EE4839-6924-474D-BBD3-1B778CB8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6700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5 інструментів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перевірки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журнал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40B33E-9CB6-46E2-BD4C-EEB04743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668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067FDE-FAEB-470E-8F5A-3341EC18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717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6F134"/>
                </a:solidFill>
                <a:latin typeface="Arial"/>
                <a:ea typeface="Arial"/>
                <a:cs typeface="Arial"/>
              </a:rPr>
              <a:t>read-only роль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4D70D5-FF69-4BA1-A46B-4B4846A6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195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ML-модель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1D96FC-BBA9-45F9-84CF-60C03357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57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готовий model.pkl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D4A941-75B1-4835-B0BA-D78A781A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577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HTML-звіт</a:t>
            </a:r>
          </a:p>
        </p:txBody>
      </p:sp>
      <p:cxnSp>
        <p:nvCxnSpPr>
          <p:cNvPr id="4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619375" y="2714625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6572250" y="2047875"/>
            <a:ext cx="133350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EA7FF"/>
            </a:solidFill>
            <a:prstDash val="solid"/>
            <a:head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572250" y="2714625"/>
            <a:ext cx="133350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EA7FF"/>
            </a:solidFill>
            <a:prstDash val="solid"/>
            <a:head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5143500" y="371475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EA7FF"/>
            </a:solidFill>
            <a:prstDash val="solid"/>
            <a:head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AEB7E4-15AC-4F33-85C0-C4C63D84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95875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Пароль від бази зберігається на сервері, а не в чаті</a:t>
            </a:r>
          </a:p>
        </p:txBody>
      </p:sp>
    </p:spTree>
    <p:extLst>
      <p:ext uri="{BB962C8B-B14F-4D97-AF65-F5344CB8AC3E}">
        <p14:creationId xmlns:p14="http://schemas.microsoft.com/office/powerpoint/2010/main" val="3081006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5CC784B-6747-4296-B521-CB3F083D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12210-4B9C-4CFF-A2BF-74F46AB6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3C8082-BD0A-43CF-A346-861AA699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8766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12AF52-E57D-45CA-AD23-480FCC3C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04DD3F-6FE6-4967-A40C-78F7FF30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Один запит проходить шість видимих кроків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00DF14-86A7-4852-9D3F-6DB0CE7D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86000"/>
            <a:ext cx="1619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2185F7-24E3-4991-91CF-1F7FF71D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6265E3-1DE0-4668-B0F8-350D4EB1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66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E49912-B12A-4722-9063-57BB0535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Питання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A7128B-5D90-4A27-9D01-7D7E66AD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286000"/>
            <a:ext cx="1619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A99A21-8B09-4E61-A645-9FFDAEE1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796793-F5A4-4356-82D9-FA6EC86D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66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45A0A3-32ED-41A9-9DC1-1DCFE431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003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Список таблиць</a:t>
            </a:r>
          </a:p>
        </p:txBody>
      </p:sp>
      <p:cxnSp>
        <p:nvCxnSpPr>
          <p:cNvPr id="49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238375" y="30956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609FC8-DD04-49D5-8BEB-1BDFD582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286000"/>
            <a:ext cx="1619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5A3AF3-7E8D-4226-BA72-D8427F51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A9CB74-41C0-4C36-BDC7-1F034CDC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66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5EFE1C-07BA-45F8-A18E-D4CCEBBF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003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Опис схеми</a:t>
            </a:r>
          </a:p>
        </p:txBody>
      </p:sp>
      <p:cxnSp>
        <p:nvCxnSpPr>
          <p:cNvPr id="54" name=""/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162425" y="30956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A5CD4C-0DE2-4840-9069-136D7E8C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286000"/>
            <a:ext cx="1619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940BD7-8FFF-4918-B6F8-381D6B68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17114A-3C7A-4A11-A02F-CA2DD65D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466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49A147-0F12-474C-B204-83E411E2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003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SELECT</a:t>
            </a:r>
          </a:p>
        </p:txBody>
      </p:sp>
      <p:cxnSp>
        <p:nvCxnSpPr>
          <p:cNvPr id="59" name=""/>
          <p:cNvCxnSpPr>
            <a:stCxn xmlns:a="http://schemas.openxmlformats.org/drawingml/2006/main" id="1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6086475" y="30956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E23E0D-B10A-4753-A4C6-892C22C7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286000"/>
            <a:ext cx="1619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49C8B4-0E46-4525-B8F6-CC0DE75E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C6F989-93A6-4A5B-92D3-3C86E91E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466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5147E5-28DE-402D-9051-76C867D2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003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cxnSp>
        <p:nvCxnSpPr>
          <p:cNvPr id="64" name=""/>
          <p:cNvCxnSpPr>
            <a:stCxn xmlns:a="http://schemas.openxmlformats.org/drawingml/2006/main" id="20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8010525" y="30956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336234-03D4-4980-B975-C4D2867F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286000"/>
            <a:ext cx="1619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616A0A-B321-4EC2-972F-E3BBFC8E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94523C-0D70-4EBE-ADED-B5D921DE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66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330BFE-59CA-4E67-9C52-7BE01713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003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Пояснення</a:t>
            </a:r>
          </a:p>
        </p:txBody>
      </p:sp>
      <p:cxnSp>
        <p:nvCxnSpPr>
          <p:cNvPr id="69" name=""/>
          <p:cNvCxnSpPr>
            <a:stCxn xmlns:a="http://schemas.openxmlformats.org/drawingml/2006/main" id="25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9934575" y="30956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AA5295-6650-47BF-9401-EF081A3F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62500"/>
            <a:ext cx="838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Кожен виклик можна розгорнути й перевірити в інтерфейсі Claude</a:t>
            </a:r>
          </a:p>
        </p:txBody>
      </p:sp>
    </p:spTree>
    <p:extLst>
      <p:ext uri="{BB962C8B-B14F-4D97-AF65-F5344CB8AC3E}">
        <p14:creationId xmlns:p14="http://schemas.microsoft.com/office/powerpoint/2010/main" val="5069400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A5AC11-B34E-4FDE-ACB6-BCA2545B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76844E-4DAA-4176-8D1E-9CF26A20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B022F6-FAFC-4A50-AB72-E4AB8D3D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22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3B7159-4EF3-4DA7-9EF8-9B18A5F6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32E930-06F3-4940-8FC7-1FE61085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П’ять інструментів покривають шлях від схеми до прогнозу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509C45-B39D-47B6-8C94-FE0FF856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0"/>
            <a:ext cx="20955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7EF4C9-0C80-4C52-A766-2FD290E4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B0BB54-A316-4761-86C5-88DC42EA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46F5E7-484C-43DC-8C07-AC6DD614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9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list_tables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C4B8A1-5B3A-49C8-B809-086A89CB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71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що 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7A445C-5F2F-4A38-9E38-AF4E0CF4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05000"/>
            <a:ext cx="20955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AB8C08-CEC3-4DA9-9926-A1995B35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B5516E-104D-4EB8-9892-C0B5A27E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A5D374-6C52-4B01-97F2-176F1338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09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describe_table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BC147-6E62-4ED6-9917-F832AE4B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71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як влаштовано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CC195B-CF53-48D3-AEA8-B735264A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905000"/>
            <a:ext cx="20955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53E998-5AF5-43B5-A770-8BC3BE8A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7DD613-9617-4282-BE66-F7CA71A0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45938D-16C1-4577-99D5-1826402B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09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run_sql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CD6AA6-8912-4BF1-9775-1C3866E4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71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прочитати дані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157694-4026-40EF-839B-C9E90D55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905000"/>
            <a:ext cx="20955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A6D07B-65AA-4810-927F-C15BF251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073806-2A17-4798-8F7B-290A5A9E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BF5663-1652-46C0-947B-4A918C38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09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save_report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830DDF-3190-49C6-A89A-157A6E9A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571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зберегти HTML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49C3FB-96AB-40A6-BA90-CA9480FC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905000"/>
            <a:ext cx="20955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0613A4-D9D9-4DE5-A91C-AD16BB4B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C70B0C-23E7-489F-A7E2-7EF1AA16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8B8119-B4A6-4D58-9C37-6E7BB767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09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predict_churn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56A477-E672-4FF7-9CE1-8CE89C37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571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оцінити ризик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6D4224-7635-4A7F-942C-EED48EE9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95875"/>
            <a:ext cx="914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Окремого інструмента «побудувати графік» навмисно немає</a:t>
            </a:r>
          </a:p>
        </p:txBody>
      </p:sp>
    </p:spTree>
    <p:extLst>
      <p:ext uri="{BB962C8B-B14F-4D97-AF65-F5344CB8AC3E}">
        <p14:creationId xmlns:p14="http://schemas.microsoft.com/office/powerpoint/2010/main" val="198752331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7343C4-7774-44FE-8011-A316A103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00B8CF-D613-4348-ADF2-89A79F5C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0F913B-9CFC-487B-82A8-2F3A6EA4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5815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8D37C3-D42E-46EA-8D77-01F0FC0F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48179F-E0E8-4DF4-80BC-D0DE51BE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Docstring пояснює моделі, коли викликати інструмент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C45CFD-48BC-475E-A588-3DBFACA8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6572250" cy="3619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31348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645EE7-9D4E-42F5-B293-01546858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52600"/>
            <a:ext cx="857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11DF90-3CC1-468A-8CC1-E27A70C9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33600"/>
            <a:ext cx="6191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def run_sql(query: str, limit: int = 200):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 """Виконує лише SELECT-запит.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 Спершу перевір схему таблиці.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 Повертає колонки, рядки й ознаку truncation.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 """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889CD8-623C-4276-A16D-6892DD49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52625"/>
            <a:ext cx="3143250" cy="26670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602BD-95CC-4BE0-96DF-702F802A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240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КЛЮЧОВА ІДЕЯ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6D7C9C-C62C-4B9E-BF45-2B20C6D3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8602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Опис = інтерфейс для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2C6A60-10BB-49FA-84AA-94DB1600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14675"/>
            <a:ext cx="276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Назва функції замала. Модель читає призначення, обмеження та формат результату.</a:t>
            </a:r>
          </a:p>
        </p:txBody>
      </p:sp>
    </p:spTree>
    <p:extLst>
      <p:ext uri="{BB962C8B-B14F-4D97-AF65-F5344CB8AC3E}">
        <p14:creationId xmlns:p14="http://schemas.microsoft.com/office/powerpoint/2010/main" val="9006101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371AE9-ECBF-4E15-9DC6-D0B98E25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D9C7A2-6031-4CB3-8C76-48A92052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026302-570E-41C5-8175-EEC43268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933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0EC592-CCEB-4017-9759-1825F729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47A8EA-15A4-4DE8-BCD2-66F28F1F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Знання про дані живуть поруч із даними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222292-1C0D-4A5B-A6CF-8257D575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60960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31348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A9D313-DD69-4973-8A18-BEE553D4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4310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809203-BC0E-43B9-A878-1332B195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571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COMMENT ON COLUMN lessons.status IS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'completed — урок відбувся;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cancelled_by_parent — не рахувати як проведений';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088738-93C2-4BC8-8295-EABE6627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143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5FA"/>
          </a:solidFill>
          <a:ln xmlns:a="http://schemas.openxmlformats.org/drawingml/2006/main" w="11430">
            <a:solidFill>
              <a:srgbClr val="C8C9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BB1994-3F88-4124-AEA5-99549894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43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describe_table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0EB416-7C03-4428-91FA-0D98F882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5750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повертає коментар моделі разом із типами, зв’язками та прикладами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79CCCF-3A7B-472A-8EA3-11FAE92B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05375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Менше прихованих правил у промпті</a:t>
            </a:r>
          </a:p>
        </p:txBody>
      </p:sp>
    </p:spTree>
    <p:extLst>
      <p:ext uri="{BB962C8B-B14F-4D97-AF65-F5344CB8AC3E}">
        <p14:creationId xmlns:p14="http://schemas.microsoft.com/office/powerpoint/2010/main" val="62775671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0B5D91-17F5-4D29-9A8A-C6A75B3F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6DC8E1-5574-4BEC-A9B2-6D5F96DD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22DF38-6C42-4143-A17A-B929C99A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286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B64842-C6B4-41D9-8F07-15F6D278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B31D09-DC1F-43F2-A1AC-ED12D4F1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Три шари не дають агенту зіпсувати базу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9E6F61-F1EF-4EF0-91A0-318EAE5E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3143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372896-0534-4F98-8FC0-15A08698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240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ШАР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F0DD98-338F-4154-A58A-1901D268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8602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SQL guard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546B27-0F2C-47F3-8655-B6305353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2762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пропускає SELECT і WITH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BE7BF1-6064-44B9-8256-F4F66565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3143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9784C5-A4C3-440E-9581-16284A03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240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ШАР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497FF0-803B-4652-87E3-BF973D8A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8602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read-only роль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FB5FC5-7444-41F2-801E-B203989F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38500"/>
            <a:ext cx="2762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PostgreSQL відхиляє запис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9D13F5-9834-49E5-A8F9-1A4EE84C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52625"/>
            <a:ext cx="3143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424946-1963-4B89-994A-AA2F0229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240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ШАР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DD217D-33AC-43CD-9E47-09915954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8602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audit_log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7095A7-EE3F-4A7D-929C-95B86B24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0"/>
            <a:ext cx="2762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зберігає успіхи й помилки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D413E0-DFF3-477D-8E1B-9FE6B1B9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482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Справжній бар’єр — права бази, а guard дає зрозумілу помилку раніше</a:t>
            </a:r>
          </a:p>
        </p:txBody>
      </p:sp>
    </p:spTree>
    <p:extLst>
      <p:ext uri="{BB962C8B-B14F-4D97-AF65-F5344CB8AC3E}">
        <p14:creationId xmlns:p14="http://schemas.microsoft.com/office/powerpoint/2010/main" val="1030899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0E1A70-F7E1-48E1-9F46-05B02FDF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B8DF23-CB47-4333-B454-2F407885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DC3DC9-58AD-4098-8A43-56403B7E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638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784952-792A-4053-B964-7515E91E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3A3F0E-21A9-4751-AD56-38778AC6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Карта репозиторію: де що лежить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AFCA9A-0226-41D1-9F1D-338A666A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6762750" cy="4429125"/>
          </a:xfrm>
          <a:prstGeom xmlns:a="http://schemas.openxmlformats.org/drawingml/2006/main" prst="roundRect">
            <a:avLst>
              <a:gd name="adj" fmla="val 3441"/>
            </a:avLst>
          </a:prstGeom>
          <a:solidFill xmlns:a="http://schemas.openxmlformats.org/drawingml/2006/main">
            <a:srgbClr val="131348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669EF6-2225-476A-A8A1-E46E4E77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62100"/>
            <a:ext cx="838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ПАПКИ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F8E8E8-E523-422A-9E5E-1F92BA77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6381750" cy="3762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data-analyst-agent/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server/        MCP-сервер та інструменти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db/            схема, роль, демо-дані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ml/            навчання й model.pkl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tests/         перевірки поведінки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docs/          setup, deploy, next steps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deploy/        Dockerfile і старт у хмарі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docker-compose.yml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└─ railway.toml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D9F800-5B84-4C2C-B0EC-484C2501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0"/>
            <a:ext cx="3333750" cy="1123950"/>
          </a:xfrm>
          <a:prstGeom xmlns:a="http://schemas.openxmlformats.org/drawingml/2006/main" prst="roundRect">
            <a:avLst>
              <a:gd name="adj" fmla="val 16949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FDD068-14DA-4A7C-8F8E-1489B4E7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8595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server/main.py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47F638-482E-49CA-B310-B1F7D0C6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реєструє 5 tools, обирає transport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4437D-23EF-4BDA-A336-A26F7F40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00375"/>
            <a:ext cx="3333750" cy="1123950"/>
          </a:xfrm>
          <a:prstGeom xmlns:a="http://schemas.openxmlformats.org/drawingml/2006/main" prst="roundRect">
            <a:avLst>
              <a:gd name="adj" fmla="val 16949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5D2554-8DD3-4BEF-A14C-814D7DDF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6707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server/db.py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54547B-67B3-4710-BF15-0DF7D459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4807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пул з’єднань, guard, помилки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25E975-D73A-43F1-8E94-9AD5A43A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81500"/>
            <a:ext cx="3333750" cy="1123950"/>
          </a:xfrm>
          <a:prstGeom xmlns:a="http://schemas.openxmlformats.org/drawingml/2006/main" prst="roundRect">
            <a:avLst>
              <a:gd name="adj" fmla="val 16949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EC3CF5-76D3-423A-8916-134466B6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4820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server/features.py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4C1A32-F499-451C-AC44-C96C52E9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292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єдине джерело ML-ознак</a:t>
            </a:r>
          </a:p>
        </p:txBody>
      </p:sp>
    </p:spTree>
    <p:extLst>
      <p:ext uri="{BB962C8B-B14F-4D97-AF65-F5344CB8AC3E}">
        <p14:creationId xmlns:p14="http://schemas.microsoft.com/office/powerpoint/2010/main" val="186380048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F97578-892B-4478-8EC1-5386903E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3DAF1D-5FB4-4F7D-BDB8-A90C2365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B7C355-227E-4104-9F60-056567D6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9912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8CD10-3C0A-4F78-BAC8-8B87ACD9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7D4BBC-EC7A-4DC6-905A-BB388889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Чотири таблиці описують навчальний процес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5209AE-5638-436E-A7D1-1BC319D1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2860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BAB07F-0AF9-4DE2-AEF9-7FBF51E7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22860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FE8B85-720A-4E16-BFBC-CAB95BDC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22860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E359DD-50D4-49E0-BE9B-D34F0CD7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14500"/>
            <a:ext cx="19050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882ADC-FE41-4FC5-AFDE-4AED1CCC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479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students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04E5C0-A40E-4E3C-AC8D-8FE3B9F5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5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учень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A5125C-62EB-4AC5-AFA1-B8167621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479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subscriptions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47336B-C481-4C52-81DC-009D83FF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05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план занять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CB8E75-54FE-404D-80B2-C6909732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812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lessons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5EF2D6-6C1D-4B52-8747-011F816C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38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уроки й статуси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6E719B-06D0-496F-BCF4-D46F4DFD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812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tutors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D1FC2F-F315-4372-8A90-EAAFE374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384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викладачі</a:t>
            </a:r>
          </a:p>
        </p:txBody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43250" y="29527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6000750" y="2286000"/>
            <a:ext cx="571500" cy="666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9EA7FF"/>
            </a:solidFill>
            <a:prstDash val="solid"/>
            <a:head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9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8858250" y="22860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EA7FF"/>
            </a:solidFill>
            <a:prstDash val="solid"/>
            <a:head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257E12-52E6-49D1-BF62-595EF2EF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767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Один учень має підписку, підписка має уроки, урок проводить репетитор</a:t>
            </a:r>
          </a:p>
        </p:txBody>
      </p:sp>
    </p:spTree>
    <p:extLst>
      <p:ext uri="{BB962C8B-B14F-4D97-AF65-F5344CB8AC3E}">
        <p14:creationId xmlns:p14="http://schemas.microsoft.com/office/powerpoint/2010/main" val="8867196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9F38DB-3EB8-4080-BD09-BCC6849A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838F15-5E7F-4561-BC09-44F8A17D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3D531E-24A6-4564-9152-8DB93059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343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A6EDE6-0C7F-4FA0-8114-4B4C4055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935CD2-9A91-4792-9413-B80F4BC9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Платежі, підтримка й аудит доповнюють картину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795FBC-932F-4A91-841D-ECFA1D61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14325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ED6FAA-53C7-440F-BFDA-904FE4B3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812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ТАБЛИЦЯ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D9F08D-9B2D-413A-A68B-C41CE916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payments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A86F3B-2001-46E3-A0F7-8BA8F8D1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0375"/>
            <a:ext cx="276225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успішні й невдалі списання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90 днів для churn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886009-C35E-4619-A67C-3F9AF110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09750"/>
            <a:ext cx="314325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61CEAC-79F6-47CF-B41E-CE084986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812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ТАБЛИЦЯ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DEB549-85F7-4BB3-B93C-D31098DC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431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support_tickets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6506BA-C925-4692-8906-7FA907CD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00375"/>
            <a:ext cx="276225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звернення учня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сигнал незадоволення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61C527-598B-47DA-B0FD-AA767D57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314325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670F61-A97E-41E8-AFE3-74F96D8D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812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ТАБЛИЦЯ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5AE897-4BEF-4C37-A5D1-C94F3868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431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audit_log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744759-3ADD-4A94-83D3-C4E708E3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0375"/>
            <a:ext cx="276225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всі виклики MCP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хто, що, коли, результат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BFC8CA-B5AC-487E-9064-5F83C09B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2387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Разом у демо 7 таблиць</a:t>
            </a:r>
          </a:p>
        </p:txBody>
      </p:sp>
    </p:spTree>
    <p:extLst>
      <p:ext uri="{BB962C8B-B14F-4D97-AF65-F5344CB8AC3E}">
        <p14:creationId xmlns:p14="http://schemas.microsoft.com/office/powerpoint/2010/main" val="122343968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8BC051-45A2-42E3-BC20-69FFC2E3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FF88F7-AB1E-4B4B-A594-2135910A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397A4A-A05C-4819-8263-9200F4F1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960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020AEB-E98F-4185-9113-EE6C89E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6B1FB6-A9FB-422C-82B4-AAE31E46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Локально є два способи отримати базу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7EC959-A36F-4095-9F4C-F80B1312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4762500" cy="3048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9F7106-2D8A-4849-8AFB-20EDB831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812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НАЙШВИДШЕ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DB15FC-1BDD-4F32-93F0-50ED55E6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43150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А. База від ведучої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DF6498-8BA9-4955-948E-978D4D81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86125"/>
            <a:ext cx="43815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Вставити DATABASE_URL у .env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Docker не потрібен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840AC4-85CF-4F49-98B6-124F6254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09750"/>
            <a:ext cx="4762500" cy="3048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AA1979-A8D6-41B0-90E4-AC4F8511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812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БІЛЬШЕ КОНТРОЛЮ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04B6B7-9AE2-44F7-8603-C6A88C8E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43150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Б. Своя база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B9CA13-FB2D-411E-ACC5-AEFBA740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286125"/>
            <a:ext cx="43815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Запустити Docker Desktop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Виконати make setup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B2B36-6E91-40C2-9CC4-C01775A6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334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Обидва варіанти дають серверу однаковий DATABASE_URL</a:t>
            </a:r>
          </a:p>
        </p:txBody>
      </p:sp>
    </p:spTree>
    <p:extLst>
      <p:ext uri="{BB962C8B-B14F-4D97-AF65-F5344CB8AC3E}">
        <p14:creationId xmlns:p14="http://schemas.microsoft.com/office/powerpoint/2010/main" val="172193160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66F7CA-F675-4802-83DF-2A4D88CB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F967F9-A38F-4478-B582-95287424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FA360A-7385-4D43-A7F6-0CD55A61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04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7FA46-1F47-4076-9108-D7D33850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07BA33-2566-4A7A-A08B-C97868F7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Чотири етапи ведуть до першого локального запиту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316A21-8D18-4339-8C53-A18FCD48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476500" cy="3143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268DD4-474C-4E38-B25D-5402E4B6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241F37-CB66-4CF0-8D5C-60EA9A40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5E23C3-94FB-456A-BFD4-6AF64FCF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Завантажити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E897D2-C78A-42EE-8190-25017017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2057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git clone …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cd data-analyst-agent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482C72-FB7D-453E-B01B-B09F7ED8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14500"/>
            <a:ext cx="2476500" cy="3143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B67C6B-0BDF-4822-A89D-A2BE774D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52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13A72E-7970-4FB8-A824-05BB049C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621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97F3FF-E6E4-480C-A353-7601D668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71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Ізолювати Python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1AEC63-A9AA-4C03-8F5A-DB44A0A0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29000"/>
            <a:ext cx="2057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python3 -m venv .venv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pip install -e ".[dev]"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29FE84-3B79-4EC1-9CAF-2760EC7F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2476500" cy="3143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C95D19-1770-42F2-B7F1-25488E5B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52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276BE4-D8B5-49E3-9F81-576BF0BA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621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A4B9A2-9ECE-4D8F-B138-13326948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71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Підготувати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A7D484-A486-4AF5-80C4-4EA18359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29000"/>
            <a:ext cx="2057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make setup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make doctor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DFEED6-C6C3-4E59-A62E-B717F6AF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14500"/>
            <a:ext cx="2476500" cy="3143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E43F4D-D26C-4831-B74A-EE97BAB0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952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050D11-62AB-4C68-9486-B1E09E43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9621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86DECB-DC39-4928-8F01-2EA98ED4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71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Підключити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81F45E-1603-4A23-AD70-A511A71C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29000"/>
            <a:ext cx="2057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make config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перезапустити Claude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E418F1-38D7-433A-8CDC-1076092B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334000"/>
            <a:ext cx="600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make — короткі назви для довгих команд</a:t>
            </a:r>
          </a:p>
        </p:txBody>
      </p:sp>
    </p:spTree>
    <p:extLst>
      <p:ext uri="{BB962C8B-B14F-4D97-AF65-F5344CB8AC3E}">
        <p14:creationId xmlns:p14="http://schemas.microsoft.com/office/powerpoint/2010/main" val="189985555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30C584-5F8D-4D2C-A539-8C92F46E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66C680-8E46-44BD-81A6-08444BCB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725BD0-3801-4931-9A1A-1B66BD88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009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E01E51-A60F-4308-8569-868A50A4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79BFBF-44D2-423C-AD52-70C95C2F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LIVE DEMO · 7 ХВ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5A0539-144D-4038-9633-430DCFAE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Локальний MCP через stdio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0A2DFB-3A8B-4E39-B26F-5D3C4EB2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6667500" cy="3333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31348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45ECA4-BEE5-429B-B92D-EA0B23F1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81225"/>
            <a:ext cx="1714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ПОКАЗАТИ НАЖИВО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46BB58-67D4-4986-BED0-768878FB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62225"/>
            <a:ext cx="6286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make doctor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make config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# після перезапуску Claude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Що є в цій базі?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Побудуй графік уроків по місяцях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Збережи цей звіт файлом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5B2886-209E-4F80-9952-E0416F66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238500" cy="33337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26E452-5DFB-43D5-A110-F7A48BFE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193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CHECKLIST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DB0B84-4FD7-4088-90A7-6095CAD8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8127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Ознаки успіху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3B549D-D0C2-4C16-9C88-38F28D12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09925"/>
            <a:ext cx="285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✓ 7 таблиць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✓ видно tool calls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✓ SQL лише SELECT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✓ звіт у reports/</a:t>
            </a:r>
          </a:p>
        </p:txBody>
      </p:sp>
    </p:spTree>
    <p:extLst>
      <p:ext uri="{BB962C8B-B14F-4D97-AF65-F5344CB8AC3E}">
        <p14:creationId xmlns:p14="http://schemas.microsoft.com/office/powerpoint/2010/main" val="119391299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96764B-3D0A-446B-9946-1DB78402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2809C9-FD7A-4086-90E0-CE6DBFF4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7FEC54-C932-4B6D-AA9D-DFFD1604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75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CA7541-3BA8-4FF3-9F52-04069458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FA8AC3-ECBD-4AAA-BD89-C6790CE9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Claude сам складає ланцюжок інструментів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6C2643-48ED-4B7A-B706-B46698CF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2762250" cy="16192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5F5FA"/>
          </a:solidFill>
          <a:ln xmlns:a="http://schemas.openxmlformats.org/drawingml/2006/main" w="11430">
            <a:solidFill>
              <a:srgbClr val="C8C9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3D72B4-3BBC-4645-A975-93C927C5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228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«Хто з учнів у зоні ризику і що в них спільного?»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52D430-D48F-48DA-B4F3-495F18A5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81125"/>
            <a:ext cx="24765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D36892-72E3-4A62-8462-C2B1DDD8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5525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list_tables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113D01-6639-4E3B-AAFF-7972A681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24765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B910B4-91A0-4704-B010-19D65AB5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5527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describe_table</a:t>
            </a:r>
          </a:p>
        </p:txBody>
      </p:sp>
      <p:cxnSp>
        <p:nvCxnSpPr>
          <p:cNvPr id="36" name=""/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191250" y="2085975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A7FF"/>
            </a:solidFill>
            <a:prstDash val="solid"/>
            <a:head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CC46EB-661C-4D81-93F8-CB95A367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81375"/>
            <a:ext cx="24765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40B104-CD53-45F5-B68D-AAF43354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5528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predict_churn</a:t>
            </a:r>
          </a:p>
        </p:txBody>
      </p:sp>
      <p:cxnSp>
        <p:nvCxnSpPr>
          <p:cNvPr id="39" name=""/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6191250" y="3086100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A7FF"/>
            </a:solidFill>
            <a:prstDash val="solid"/>
            <a:head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FD3347-9827-4796-A841-9B10991F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81500"/>
            <a:ext cx="24765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41C8C6-EBD6-4ECB-A607-9B7B3589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5529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run_sql</a:t>
            </a:r>
          </a:p>
        </p:txBody>
      </p:sp>
      <p:cxnSp>
        <p:nvCxnSpPr>
          <p:cNvPr id="42" name=""/>
          <p:cNvCxnSpPr>
            <a:stCxn xmlns:a="http://schemas.openxmlformats.org/drawingml/2006/main" id="13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6191250" y="4086225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A7FF"/>
            </a:solidFill>
            <a:prstDash val="solid"/>
            <a:head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D734D5-69E5-45DF-94F9-7AD606CD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85750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C00A9E-3AEF-4F3D-9467-A5497F8A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4765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Список учнів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B3FE62-4721-4A18-B829-892CC441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95625"/>
            <a:ext cx="219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ймовірність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топ-фактори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застереження</a:t>
            </a:r>
          </a:p>
        </p:txBody>
      </p:sp>
      <p:cxnSp>
        <p:nvCxnSpPr>
          <p:cNvPr id="46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524250" y="1733550"/>
            <a:ext cx="14287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7429500" y="3048000"/>
            <a:ext cx="1143000" cy="16859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E6E21A-84F2-4F06-9EC3-F6F002AF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667375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Послідовність зміниться, якщо зміниться питання</a:t>
            </a:r>
          </a:p>
        </p:txBody>
      </p:sp>
    </p:spTree>
    <p:extLst>
      <p:ext uri="{BB962C8B-B14F-4D97-AF65-F5344CB8AC3E}">
        <p14:creationId xmlns:p14="http://schemas.microsoft.com/office/powerpoint/2010/main" val="51056443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E5687A-C2DA-46AB-906B-B28966CF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238C06-599C-4796-BA1B-F441CDB7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241072-E95C-402A-8DD3-EC322188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1057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DBC3D9-ED4B-4E7C-8D6A-2BB66EC9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FB4180-6B04-4607-8A9B-06BF62CA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Гілка workshop-start залишає місця для спільного коду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C7A7F4-E2D5-4EEA-926F-6CA89BDE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419100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A03192-1A3A-414F-8BE4-84FA543C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81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РОБОЧИЙ СТАН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4FDFBC-2666-499F-9C2C-6BEB610D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431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3584B8-6A9F-40B3-AE9B-B7947378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90875"/>
            <a:ext cx="38100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повне рішення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усі тести мають проходити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1F3F49-6F2B-44A6-948D-B5D944E4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09750"/>
            <a:ext cx="419100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B92F36-8520-489A-923D-688B6ACB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81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НАВЧАЛЬНИЙ СТАН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236A0E-74E1-40C5-B178-3973A29E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431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workshop-start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29E8C3-BD8A-44DE-BE26-157565BA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90875"/>
            <a:ext cx="38100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каркас із TODO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пишемо db.py, schema.py, sql.py, report.py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48DA74-97B5-49A0-B3EC-94ECBED6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95625"/>
            <a:ext cx="133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DC3246-3730-4E38-A373-FD8783A0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git checkout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79CF56-234F-41F8-8D5B-C2269C82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3875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База й model.pkl не зникають під час перемикання гілки</a:t>
            </a:r>
          </a:p>
        </p:txBody>
      </p:sp>
    </p:spTree>
    <p:extLst>
      <p:ext uri="{BB962C8B-B14F-4D97-AF65-F5344CB8AC3E}">
        <p14:creationId xmlns:p14="http://schemas.microsoft.com/office/powerpoint/2010/main" val="54397541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1BEA7A-FDF7-4CE6-996F-8F0CAABE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6EF8DC-1D38-476F-9A71-407FF4B2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A669BD-9966-4BB6-A35B-4994BCB9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45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60F20-F83D-4FF3-A105-A4DC5C3A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6C02F2-8544-4078-92A6-A6451C9B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Тести перетворюють очікування на автоматичний чеклист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399ac5901846fa">
            <a:extLst>
              <a:ext uri="{96DAC541-7B7A-43D3-8B79-37D633B846F1}">
                <asvg:svgBlip xmlns:asvg="http://schemas.microsoft.com/office/drawing/2016/SVG/main" r:embed="R7692782e732a4d7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04875" y="1809750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E6C037-4499-4DB2-AF1E-A7BFD930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145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43FBD4-6587-4E14-8707-969047CD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240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8C3C5C-5E9B-4DBB-8278-CF726423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6573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test_sql_guard.py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34E5A6-8F6B-4E9F-9E25-296F065A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19250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не пропускає DELETE, але дозволяє чесний SELECT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DDDAA4-AE04-4BCA-80D3-0125D671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AD21A1-6EEA-44B6-9A29-42188C4C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670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ECFA3E-43BD-48DC-A86A-B6FED412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8003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test_tools_smoke.py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E5EA86-5EEE-4CF7-9C75-1E31AC38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62250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перевіряє форму відповіді кожного інструмента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C60075-9F62-4FEB-87C4-09EE4FC5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005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BFF8E5-017E-4B3F-8770-211DAE63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100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8D3B9E-017A-45C9-92A8-890D30E0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9433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prove_readonly.py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392F8F-9FE0-4039-B121-2167D5F7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05250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доводить обмеження прямо на рівні бази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FDFAC9-2666-484C-8632-DD1ACAA7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38750"/>
            <a:ext cx="41910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B47BAA-FF03-4C6F-A55B-E18C567F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292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make test</a:t>
            </a:r>
          </a:p>
        </p:txBody>
      </p:sp>
    </p:spTree>
    <p:extLst>
      <p:ext uri="{BB962C8B-B14F-4D97-AF65-F5344CB8AC3E}">
        <p14:creationId xmlns:p14="http://schemas.microsoft.com/office/powerpoint/2010/main" val="34217378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02A187-2318-42AB-8E34-68813990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B2406-C1AC-4787-B24C-0F5AA6BF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5E86C7-4127-4AF7-A393-CACEBBF2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810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8EF7D5-4B7D-4674-8BEA-970F0B68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39CD8A-7656-4A37-853F-48E1CF1C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ML-інструмент дає сигнал ризику, а рішення лишає людині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a0d04277d84454">
            <a:extLst>
              <a:ext uri="{96DAC541-7B7A-43D3-8B79-37D633B846F1}">
                <asvg:svgBlip xmlns:asvg="http://schemas.microsoft.com/office/drawing/2016/SVG/main" r:embed="R8b7baccafd07437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1714500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AC40A7-BE05-4AA8-9C7F-DC03BBBF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14500"/>
            <a:ext cx="228600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D243EE-ED26-43A8-B9A9-F666F12E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228600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3C90DB-37A1-4237-A539-FE5F8C02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14500"/>
            <a:ext cx="209550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3841D7-0B78-4A5C-8CC4-898A35EC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04787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14 ознак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545F38-D030-4475-8D81-D0558A30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6479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уроки, оцінки, платежі, тікети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81E208-328E-4E4B-8C6A-62FCDF3E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47875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Gradient Boosting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476D7B-E3E1-447C-AD67-9DB8F5DA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575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ROC AUC 0.776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02E8F7-6C68-496F-AB0D-4302B15C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0478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Людина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612D0C-AC4D-48F8-971E-E8E25942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64795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вирішує, кому і як допомогти</a:t>
            </a:r>
          </a:p>
        </p:txBody>
      </p:sp>
      <p:cxnSp>
        <p:nvCxnSpPr>
          <p:cNvPr id="3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334000" y="2571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477250" y="2571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0B0850-9C82-4888-8886-A349A225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429125"/>
            <a:ext cx="885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Прогноз: відтік у наступні 30 днів + три фактори для пояснення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FF86E0-A5F8-4C71-83FC-BE8C542C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81625"/>
            <a:ext cx="38100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ЦЕ ПІДКАЗКА, НЕ ВИРОК</a:t>
            </a:r>
          </a:p>
        </p:txBody>
      </p:sp>
    </p:spTree>
    <p:extLst>
      <p:ext uri="{BB962C8B-B14F-4D97-AF65-F5344CB8AC3E}">
        <p14:creationId xmlns:p14="http://schemas.microsoft.com/office/powerpoint/2010/main" val="73621715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12A16C-FD7B-4D1A-83FB-93510BDE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F2BE71-9066-4457-A061-0F5E5FC6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D2D9DE-DAB8-467E-82FD-CF2205DD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163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706EB7-D861-4B26-8DA7-C4BD06E4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0DDA6F-34BF-4D5A-8E97-19AE3EEC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HTML-звіт легко відкрити, надіслати й перевірити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E6B4C5-26E2-4DF4-A1A6-84235B22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3143250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5F5FA"/>
          </a:solidFill>
          <a:ln xmlns:a="http://schemas.openxmlformats.org/drawingml/2006/main" w="11430">
            <a:solidFill>
              <a:srgbClr val="C8C9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487839-0E2B-4323-939D-EC0CA55A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23837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440FA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440FAC"/>
                </a:solidFill>
                <a:latin typeface="Arial"/>
                <a:ea typeface="Arial"/>
                <a:cs typeface="Arial"/>
              </a:rPr>
              <a:t>&lt;html&gt;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062D44-3F05-492E-A917-2C5DDA1C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05125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текст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таблиці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графіки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190603-B794-48B5-A992-EF3040B2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86000"/>
            <a:ext cx="247650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697011-0C35-4A91-A38E-AFA1EBE6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193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save_report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B9C1E2-A6B3-4356-983D-4433B6EC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385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перевіряє HTML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і безпечну назву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AED417-69A2-40A0-ACB3-A669667A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05000"/>
            <a:ext cx="2857500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2F1490-6A63-4D82-B49E-8A0E7E22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383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reports/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1FEF07-DCFA-4ED3-8B0E-42EB5996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095625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уроки-по-місяцях.html</a:t>
            </a:r>
          </a:p>
        </p:txBody>
      </p: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286250" y="31432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429500" y="3143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045DCE-2C6F-46B9-8359-7A66AD96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91125"/>
            <a:ext cx="819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Інструмент зберігає результат, але не вирішує, що малювати</a:t>
            </a:r>
          </a:p>
        </p:txBody>
      </p:sp>
    </p:spTree>
    <p:extLst>
      <p:ext uri="{BB962C8B-B14F-4D97-AF65-F5344CB8AC3E}">
        <p14:creationId xmlns:p14="http://schemas.microsoft.com/office/powerpoint/2010/main" val="76198582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84CA0A-0BC6-4BDB-BFB5-0B73B60A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891782-F77A-4C41-BB36-473E4CA7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0BC426-6814-4515-9EEB-91AC7900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5154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DEB7F6-10DC-4436-8778-F816CAE1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A1A254-3987-4817-B29F-27015C11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Локально stdio, у хмарі HTTP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08005F-31CD-4948-BBF8-D69D7EA6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4476750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C662A8-5237-421A-91EC-103980F1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335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ЛОКАЛЬНО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3E647D-61A0-4DB7-B57E-89585D74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95525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stdio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884999-390A-4049-A474-E8FE15A5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40957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Claude Desktop сам запускає Python-процес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обмін через stdin / stdout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32AA0F-C790-4327-A82E-84ED0964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62125"/>
            <a:ext cx="4476750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1218C5-0E01-4425-BAE8-3E63534E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335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У ХМАРІ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51AB26-AB33-4FB9-8A38-9ED4B6FB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95525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HTTP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D3E875-27DB-42FD-9555-6D102392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43250"/>
            <a:ext cx="40957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контейнер працює постійно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клієнти приходять за URL /mcp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B5A461-8309-4A2E-A59B-69D051D4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334000"/>
            <a:ext cx="847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MCP_TRANSPORT перемикає режим. Код інструментів не змінюється</a:t>
            </a:r>
          </a:p>
        </p:txBody>
      </p:sp>
    </p:spTree>
    <p:extLst>
      <p:ext uri="{BB962C8B-B14F-4D97-AF65-F5344CB8AC3E}">
        <p14:creationId xmlns:p14="http://schemas.microsoft.com/office/powerpoint/2010/main" val="13595522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D5F1C2-B379-467B-86A2-CA0D631A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6905CD-A4F6-4B62-AA77-115D9A5D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45D749-1E72-4A32-B67E-E14605B8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867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CEF3A-7D7B-48CC-9665-926A500B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27B14A-85C2-4DDD-ADC5-DE24327A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Railway збирає контейнер із GitHub і дає MCP-адресу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2DA3C8-E056-41D3-95CB-21439B20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2381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0ff48a132942d0">
            <a:extLst>
              <a:ext uri="{96DAC541-7B7A-43D3-8B79-37D633B846F1}">
                <asvg:svgBlip xmlns:asvg="http://schemas.microsoft.com/office/drawing/2016/SVG/main" r:embed="Rd6690e88f9bb44c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62075" y="2076450"/>
            <a:ext cx="895350" cy="8953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D45A49-B442-451E-A9B6-AA239E8C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GitHub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482348-F8B4-4775-BFF9-2A85F108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код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BBA3AE-BA29-47A8-9E5E-2A5DE762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09750"/>
            <a:ext cx="2381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943e9fa5c44df4">
            <a:extLst>
              <a:ext uri="{96DAC541-7B7A-43D3-8B79-37D633B846F1}">
                <asvg:svgBlip xmlns:asvg="http://schemas.microsoft.com/office/drawing/2016/SVG/main" r:embed="Ra249e7cad46946b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19575" y="2076450"/>
            <a:ext cx="895350" cy="8953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091EBF-3112-426A-A6E4-99205F30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432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Railway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748C4F-AE36-481C-A7C3-90032501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38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build + run</a:t>
            </a:r>
          </a:p>
        </p:txBody>
      </p:sp>
      <p:cxnSp>
        <p:nvCxnSpPr>
          <p:cNvPr id="42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000375" y="3000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3404D6-146E-48DD-9DAA-195FE598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09750"/>
            <a:ext cx="2381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76f155b9b242f3">
            <a:extLst>
              <a:ext uri="{96DAC541-7B7A-43D3-8B79-37D633B846F1}">
                <asvg:svgBlip xmlns:asvg="http://schemas.microsoft.com/office/drawing/2016/SVG/main" r:embed="R827c647ed1a8487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77075" y="2076450"/>
            <a:ext cx="895350" cy="8953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15927D-25F2-424D-99C1-D8663F4D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Контейнер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21A2A8-0EEF-4CEA-83E1-E2F76253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38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Python MCP</a:t>
            </a:r>
          </a:p>
        </p:txBody>
      </p:sp>
      <p:cxnSp>
        <p:nvCxnSpPr>
          <p:cNvPr id="47" name=""/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857875" y="3000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7DB6B1-9E64-41E8-A26F-6F7C9627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809750"/>
            <a:ext cx="2381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fa8291179b4148">
            <a:extLst>
              <a:ext uri="{96DAC541-7B7A-43D3-8B79-37D633B846F1}">
                <asvg:svgBlip xmlns:asvg="http://schemas.microsoft.com/office/drawing/2016/SVG/main" r:embed="R8f8b6aca8fe5440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34575" y="2076450"/>
            <a:ext cx="895350" cy="8953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1D1D7C-0AC0-43F9-998B-B3B93664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432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/mcp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1FBF3A-71AA-4DB8-A1A7-B75C6C3A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38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публічний URL</a:t>
            </a:r>
          </a:p>
        </p:txBody>
      </p:sp>
      <p:cxnSp>
        <p:nvCxnSpPr>
          <p:cNvPr id="52" name=""/>
          <p:cNvCxnSpPr>
            <a:stCxn xmlns:a="http://schemas.openxmlformats.org/drawingml/2006/main" id="1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715375" y="3000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A4B764-02B1-4CD4-A8F1-69D94E8B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0125"/>
            <a:ext cx="323850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31348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0c1d9d75274e7a">
            <a:extLst>
              <a:ext uri="{96DAC541-7B7A-43D3-8B79-37D633B846F1}">
                <asvg:svgBlip xmlns:asvg="http://schemas.microsoft.com/office/drawing/2016/SVG/main" r:embed="R312022f9804c485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14875" y="495300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7B5616-4510-489D-A725-200B8CD3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048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База живе окремо в мережі</a:t>
            </a:r>
          </a:p>
        </p:txBody>
      </p:sp>
      <p:cxnSp>
        <p:nvCxnSpPr>
          <p:cNvPr id="56" name=""/>
          <p:cNvCxnSpPr>
            <a:stCxn xmlns:a="http://schemas.openxmlformats.org/drawingml/2006/main" id="15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 flipH="1">
            <a:off x="6096000" y="4191000"/>
            <a:ext cx="1428750" cy="619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9EA7FF"/>
            </a:solidFill>
            <a:prstDash val="solid"/>
            <a:head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80362793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FA1CD6-8A55-44ED-98BC-25D2AFB6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B6478D-6D4D-4505-8C3C-9061C8F5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A8B12B-304F-4424-8CFA-762B1C46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2203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F07F7C-176B-4348-B551-94A277A4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57DCF8-2DFD-4EEC-BFD4-3E9B59C7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LIVE DEMO · 6 ХВ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324EB7-5512-40FF-8FA0-42AD589E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Деплой на Railway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4F04A5-7E4F-445E-8EA4-51A3FD5C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2047875" cy="2857500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65F5AA-8F34-4E8B-9C28-4A2BF5E9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286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F57899-BD9A-4214-872F-B203E858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2955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AAEBB3-202B-4BCF-B1FE-F910C743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76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Deploy from GitHub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BB50E0-14F0-4FA2-89EF-F2B8CCB6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repo + main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C9ACD6-639F-4F20-88A6-6FD318C8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95500"/>
            <a:ext cx="2047875" cy="2857500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ED3521-5609-48DC-A4F1-35910456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86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77C2FD-BED7-495B-B486-613F8C90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955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503F3C-04AE-49A1-80AD-87D03177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857500"/>
            <a:ext cx="176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Variables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28CAF2-0307-4D9D-A30C-C6137892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14750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DATABASE_URL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MCP_TRANSPORT=http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0D4E92-A405-4DB0-B253-993885B3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95500"/>
            <a:ext cx="2047875" cy="2857500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FDD648-C5AF-4E7D-8300-E2DCA7F8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286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8B624A-8CA7-4385-AB78-AAEEB010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2955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1EC2D9-8DBA-4F2A-A8E0-1FDC86D3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57500"/>
            <a:ext cx="176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Generate Domain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C2F88C-CDE2-4A14-B91E-440BBE19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14750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додати /mcp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08DD02-4F79-401D-83D5-BB5EC0E6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2047875" cy="2857500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95E6C1-A627-41E4-AC8E-56EF0210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86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B7A347-CB9F-4D7E-A7EC-D3CDCFF9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955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CD15F6-EA4C-4CB0-9B81-14809BEC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57500"/>
            <a:ext cx="176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Logs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6C81EA-4838-49BF-A9B9-2BA8402C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714750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база відповідає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сервер стартував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BF2205-7464-43B8-8990-6960B250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095500"/>
            <a:ext cx="2047875" cy="2857500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E3F831-529A-429E-9E1D-B8C8A572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286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1B03AB-8539-418F-A6E5-0CB3E55E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2955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AFAAF0-E7DF-4422-8866-EA4320FB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0"/>
            <a:ext cx="176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Claude Connector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850FE5-9DAA-4ECE-BCF2-4BA3588A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14750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назва + URL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A4ACEB-DE7F-443A-ADEC-59A78F66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47687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Не показуйте ADMIN_DATABASE_URL і не вмикайте SEED_ON_START без потреби</a:t>
            </a:r>
          </a:p>
        </p:txBody>
      </p:sp>
    </p:spTree>
    <p:extLst>
      <p:ext uri="{BB962C8B-B14F-4D97-AF65-F5344CB8AC3E}">
        <p14:creationId xmlns:p14="http://schemas.microsoft.com/office/powerpoint/2010/main" val="119241812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17CF9E-C1A0-4F00-974A-EB822AA5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86D500-B868-4C71-B286-0F52FBFB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A013C5-6CAF-4152-9FC8-81AF7727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AC61C6-1316-4868-8D93-92762011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631a76e38c4dbf"/>
          <a:stretch xmlns:a="http://schemas.openxmlformats.org/drawingml/2006/main"/>
        </p:blipFill>
        <p:spPr>
          <a:xfrm xmlns:a="http://schemas.openxmlformats.org/drawingml/2006/main">
            <a:off x="685800" y="425131"/>
            <a:ext cx="2381250" cy="52133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36242-9EB3-40CC-B167-77BCAD01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Що робити далі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55F537-DBE4-4B84-A583-BF6DE817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52625"/>
            <a:ext cx="3333750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757AE0-8CAC-4214-B21D-7C12C89D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240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КРОК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185EE8-ADEB-4769-9CDE-EA3B897B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8602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Сьогодні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F14649-FD9D-47A1-BF5B-AD8B9723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71825"/>
            <a:ext cx="295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підключити свою тестову базу під read-only роллю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1AEEA7-5712-4CDE-AFFA-76DEF980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3333750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F2E162-FEBE-4397-9DBC-E0157B3B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240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КРОК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330FE7-9D42-4E4E-9B79-A1BE1DFD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8602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Цього тижня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7E02ED-D7DF-4635-85D7-DB848DC3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171825"/>
            <a:ext cx="295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додати один інструмент під реальне бізнес-питання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F498F7-54D8-4FD1-89B1-329D9070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52625"/>
            <a:ext cx="3333750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1C8F66-0B1E-4A67-BB4D-8E3E30E9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1240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КРОК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AA29AE-BF57-4C8C-B8C2-F4796451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8602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Перед продом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13835E-9E4E-4416-8355-B161F179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171825"/>
            <a:ext cx="295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автентифікація, обмеження рядків, моніторинг, CI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6A9D2A-1091-4520-843E-0AD359E2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000625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Почніть з одного безпечного питання, яке болить команді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394506-39E3-4116-8678-2C13D9D3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6959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Питання?</a:t>
            </a:r>
          </a:p>
        </p:txBody>
      </p:sp>
    </p:spTree>
    <p:extLst>
      <p:ext uri="{BB962C8B-B14F-4D97-AF65-F5344CB8AC3E}">
        <p14:creationId xmlns:p14="http://schemas.microsoft.com/office/powerpoint/2010/main" val="11759277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2026-09-17T06:33:58.5740000Z</dcterms:created>
  <dcterms:modified xsi:type="dcterms:W3CDTF">2026-09-17T06:33:58.5740000Z</dcterms:modified>
</coreProperties>
</file>